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7FC8-3BAB-401F-820D-FAE59B2A2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09747-49DB-5965-8EE4-085FDE688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98D2-C02D-559F-95B4-8D48A29F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6DC8-EF27-45A2-94B4-AE03030833F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30D2A-FBD9-195C-6320-7B5D7FF1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B33BA-BA09-41DC-EA68-9166C764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B309-B710-499E-963A-FB43C4F13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07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A738-5747-644A-5B25-D8FD7D4C7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F5294-3071-720E-9259-B7C88FDB4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31755-E9CA-7A6B-A4EE-67EC6C671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6DC8-EF27-45A2-94B4-AE03030833F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E4376-1EBA-4909-10F1-9C5D3BB6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79141-921A-0BC1-803F-624990F86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B309-B710-499E-963A-FB43C4F13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02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AB24-4637-A925-3CAD-49223B2BF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FB1EA-46FE-427F-C6E6-8B8CB81F0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4075-D7A3-120A-2FAB-0BF18B770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6DC8-EF27-45A2-94B4-AE03030833F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A7607-C8C6-A2C2-5029-C8CDEA364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9BA14-29EE-AB35-6F5B-5F6C7D88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B309-B710-499E-963A-FB43C4F13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31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9C89-D0BC-90EC-8EE6-6F432D71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A83F2-974E-876D-03E6-1226E9852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ACA64-CE60-707B-17B6-91ACC9F67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B707D-C91A-9248-2474-623763F0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6DC8-EF27-45A2-94B4-AE03030833F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71D39-31DD-C380-EA0C-38BEEECB7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76004-E625-FE53-3329-C1CC667D8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B309-B710-499E-963A-FB43C4F13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85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593C-FB0C-4BF2-B7F0-E4B8CF86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8A8FE-C42B-556A-1538-B68D07350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9FD4A-0150-A0AF-61AE-4566209D0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75069-4587-BCDE-6CFF-3128ACD59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6BAEE-A306-0172-83B5-47FDAFEA7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116C25-E53D-A676-7C49-27DAF5AB2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6DC8-EF27-45A2-94B4-AE03030833F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9D68B-7CEA-1723-2AD8-7FE5B585C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E606F-BB61-787D-B9BE-9B2BAFD6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B309-B710-499E-963A-FB43C4F13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885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4C86-4192-DC0B-3AD4-3DD8262E9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F41AF4-E4DE-B4F7-AA6E-966EEF23D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6DC8-EF27-45A2-94B4-AE03030833F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73158-8622-AC4C-671B-C4499C72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4175A-147B-2B1D-0793-49466F7E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B309-B710-499E-963A-FB43C4F13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79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18A2F5-C597-465D-44B3-FC7E4411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6DC8-EF27-45A2-94B4-AE03030833F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F05F6-0938-F604-1F1B-0BA8B709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778B7-ADE7-129E-8767-5BE0D24D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B309-B710-499E-963A-FB43C4F13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27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3585-7AE4-03AD-E64F-D839A85FA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A1E0F-E13A-692D-EA46-8EC9B5549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D2C1A-45A9-B1D5-B368-56CB2B85B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D193D-7B69-D67A-9663-E3C7E482C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6DC8-EF27-45A2-94B4-AE03030833F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95BA8-76C4-67A6-BC32-190216F56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C9DA3-4CB0-486A-9D94-48D13E5E5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B309-B710-499E-963A-FB43C4F13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39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C14B-B129-0192-5FA0-652520823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928C8-E694-4768-517E-454B14600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E8A62-B886-3C3A-E913-4394B467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24D04-1A75-FAFE-0BD6-4C6C6D1A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6DC8-EF27-45A2-94B4-AE03030833F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62E61-E782-0FD0-1DD1-18567804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B83C9-99B3-C360-FC3C-147318D2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B309-B710-499E-963A-FB43C4F13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00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ABBDC-34CA-2910-F0A8-3165732B2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B039D-25EF-A4CF-141E-520923F2C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D3DF8-8520-9EEA-6049-8803A2B0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6DC8-EF27-45A2-94B4-AE03030833F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2194F-A706-2605-E712-18E34F67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179AD-27DB-B93A-7CCE-76730133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B309-B710-499E-963A-FB43C4F13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135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76595-5131-3DD5-1CDE-F4DF2A8873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43848F-EF7F-CCC6-612E-7DAEC2BD2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7B650-4688-FCDB-4F76-DFA26C89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6DC8-EF27-45A2-94B4-AE03030833F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BE10C-AB3E-4416-584F-34C0DA0F6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A998E-3BBC-8139-FBB0-E44549ED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B309-B710-499E-963A-FB43C4F13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627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1266DA-88AE-FA44-F387-96D3B0A85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F4370-3A83-9452-FDA2-D3160BE98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21062-BA0D-3DC1-9C14-3B75FB50F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86DC8-EF27-45A2-94B4-AE03030833F2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E18FE-F4F3-2B31-05CB-0C80C2C59A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66185-C917-390E-852F-19245BA88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1B309-B710-499E-963A-FB43C4F13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793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F3968F-E563-6A61-AD23-58478D790F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E80817-DD5F-91A3-C117-597ACB4F208B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1944E0-FC2F-B702-4B6B-85C98D5F7B77}"/>
              </a:ext>
            </a:extLst>
          </p:cNvPr>
          <p:cNvSpPr/>
          <p:nvPr/>
        </p:nvSpPr>
        <p:spPr>
          <a:xfrm>
            <a:off x="254000" y="114300"/>
            <a:ext cx="1778000" cy="381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FFFF"/>
                </a:solidFill>
              </a:rPr>
              <a:t>ALPHA-X | SIH_1186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D9F16-B4B8-B73B-4FA2-B1630AE67892}"/>
              </a:ext>
            </a:extLst>
          </p:cNvPr>
          <p:cNvSpPr txBox="1"/>
          <p:nvPr/>
        </p:nvSpPr>
        <p:spPr>
          <a:xfrm>
            <a:off x="2133600" y="101600"/>
            <a:ext cx="609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</a:rPr>
              <a:t>SMART INDIA HACKATHON 2026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7DF882-E2A8-ECD6-77FD-104A0484CA0F}"/>
              </a:ext>
            </a:extLst>
          </p:cNvPr>
          <p:cNvSpPr/>
          <p:nvPr/>
        </p:nvSpPr>
        <p:spPr>
          <a:xfrm>
            <a:off x="8318500" y="114300"/>
            <a:ext cx="2667000" cy="381000"/>
          </a:xfrm>
          <a:prstGeom prst="roundRect">
            <a:avLst/>
          </a:prstGeom>
          <a:solidFill>
            <a:srgbClr val="FFF6EF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284C7"/>
                </a:solidFill>
              </a:rPr>
              <a:t>PS ID: SIH26223 | HARDWARE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739017-2B95-AC65-7FDB-6D7F3E06F8CD}"/>
              </a:ext>
            </a:extLst>
          </p:cNvPr>
          <p:cNvSpPr/>
          <p:nvPr/>
        </p:nvSpPr>
        <p:spPr>
          <a:xfrm>
            <a:off x="11112500" y="88900"/>
            <a:ext cx="825500" cy="431800"/>
          </a:xfrm>
          <a:prstGeom prst="roundRect">
            <a:avLst/>
          </a:prstGeom>
          <a:solidFill>
            <a:srgbClr val="F9F5F1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b="1">
                <a:solidFill>
                  <a:srgbClr val="475569"/>
                </a:solidFill>
              </a:rPr>
              <a:t>[SIH LOGO]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6421BE-91B3-CA83-2EF4-79D28D38E006}"/>
              </a:ext>
            </a:extLst>
          </p:cNvPr>
          <p:cNvSpPr/>
          <p:nvPr/>
        </p:nvSpPr>
        <p:spPr>
          <a:xfrm>
            <a:off x="254000" y="762000"/>
            <a:ext cx="6096000" cy="5270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E7C776-29F5-8F5A-38CF-A989CD7B649A}"/>
              </a:ext>
            </a:extLst>
          </p:cNvPr>
          <p:cNvSpPr/>
          <p:nvPr/>
        </p:nvSpPr>
        <p:spPr>
          <a:xfrm>
            <a:off x="457200" y="952500"/>
            <a:ext cx="3302000" cy="304800"/>
          </a:xfrm>
          <a:prstGeom prst="roundRect">
            <a:avLst/>
          </a:prstGeom>
          <a:solidFill>
            <a:srgbClr val="FFF6EF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0284C7"/>
                </a:solidFill>
              </a:rPr>
              <a:t>AICTE STUDENT INNOVATION (DISASTER MGMT)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329B7B-74F9-7C12-6FD1-67448A7A2E57}"/>
              </a:ext>
            </a:extLst>
          </p:cNvPr>
          <p:cNvSpPr txBox="1"/>
          <p:nvPr/>
        </p:nvSpPr>
        <p:spPr>
          <a:xfrm>
            <a:off x="406400" y="1320800"/>
            <a:ext cx="571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4400" b="1">
                <a:solidFill>
                  <a:srgbClr val="EA580C"/>
                </a:solidFill>
              </a:rPr>
              <a:t>ARIES 2.0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FAE59-5D09-A66A-BC8D-85787E7DE310}"/>
              </a:ext>
            </a:extLst>
          </p:cNvPr>
          <p:cNvSpPr txBox="1"/>
          <p:nvPr/>
        </p:nvSpPr>
        <p:spPr>
          <a:xfrm>
            <a:off x="431800" y="1968500"/>
            <a:ext cx="5715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 b="1">
                <a:solidFill>
                  <a:srgbClr val="0F172A"/>
                </a:solidFill>
              </a:rPr>
              <a:t>Tri-Phibian All-Domain Autonomous Search-and-Rescue Robot</a:t>
            </a:r>
            <a:endParaRPr lang="en-IN" sz="1350" b="1">
              <a:solidFill>
                <a:srgbClr val="0F172A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10B4B1-4ACF-D39B-5E12-34CBD0ECAC5B}"/>
              </a:ext>
            </a:extLst>
          </p:cNvPr>
          <p:cNvSpPr/>
          <p:nvPr/>
        </p:nvSpPr>
        <p:spPr>
          <a:xfrm>
            <a:off x="457200" y="2603500"/>
            <a:ext cx="2717800" cy="939800"/>
          </a:xfrm>
          <a:prstGeom prst="roundRect">
            <a:avLst/>
          </a:prstGeom>
          <a:solidFill>
            <a:srgbClr val="FCFAF8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F172A"/>
                </a:solidFill>
              </a:rPr>
              <a:t>🚜 Tank Treads (Rubble)</a:t>
            </a:r>
          </a:p>
          <a:p>
            <a:pPr algn="ctr"/>
            <a:r>
              <a:rPr lang="en-US" sz="850">
                <a:solidFill>
                  <a:srgbClr val="475569"/>
                </a:solidFill>
              </a:rPr>
              <a:t>Continuous tracks climb 45° collapsed debris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5E6BDD6-D896-1035-71D3-D8E3A128A1A0}"/>
              </a:ext>
            </a:extLst>
          </p:cNvPr>
          <p:cNvSpPr/>
          <p:nvPr/>
        </p:nvSpPr>
        <p:spPr>
          <a:xfrm>
            <a:off x="3302000" y="2603500"/>
            <a:ext cx="2717800" cy="939800"/>
          </a:xfrm>
          <a:prstGeom prst="roundRect">
            <a:avLst/>
          </a:prstGeom>
          <a:solidFill>
            <a:srgbClr val="FCFAF8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F172A"/>
                </a:solidFill>
              </a:rPr>
              <a:t>🚁 Octocopter Drone</a:t>
            </a:r>
          </a:p>
          <a:p>
            <a:pPr algn="ctr"/>
            <a:r>
              <a:rPr lang="en-US" sz="850">
                <a:solidFill>
                  <a:srgbClr val="475569"/>
                </a:solidFill>
              </a:rPr>
              <a:t>8 integrated rotors hop over deep trenches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78B1976-9192-4D0D-D8D7-28A6692231FA}"/>
              </a:ext>
            </a:extLst>
          </p:cNvPr>
          <p:cNvSpPr/>
          <p:nvPr/>
        </p:nvSpPr>
        <p:spPr>
          <a:xfrm>
            <a:off x="457200" y="3644900"/>
            <a:ext cx="2717800" cy="939800"/>
          </a:xfrm>
          <a:prstGeom prst="roundRect">
            <a:avLst/>
          </a:prstGeom>
          <a:solidFill>
            <a:srgbClr val="FCFAF8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F172A"/>
                </a:solidFill>
              </a:rPr>
              <a:t>🚤 Amphibious Hull</a:t>
            </a:r>
          </a:p>
          <a:p>
            <a:pPr algn="ctr"/>
            <a:r>
              <a:rPr lang="en-US" sz="850">
                <a:solidFill>
                  <a:srgbClr val="475569"/>
                </a:solidFill>
              </a:rPr>
              <a:t>IP68 pontoon floats &amp; steers in floodwaters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24783A7-6C1E-2C68-9DA2-8BE4E3CBC050}"/>
              </a:ext>
            </a:extLst>
          </p:cNvPr>
          <p:cNvSpPr/>
          <p:nvPr/>
        </p:nvSpPr>
        <p:spPr>
          <a:xfrm>
            <a:off x="3302000" y="3644900"/>
            <a:ext cx="2717800" cy="939800"/>
          </a:xfrm>
          <a:prstGeom prst="roundRect">
            <a:avLst/>
          </a:prstGeom>
          <a:solidFill>
            <a:srgbClr val="FCFAF8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0F172A"/>
                </a:solidFill>
              </a:rPr>
              <a:t>🦾 Bionic SpO2 Arm</a:t>
            </a:r>
          </a:p>
          <a:p>
            <a:pPr algn="ctr"/>
            <a:r>
              <a:rPr lang="en-IN" sz="850">
                <a:solidFill>
                  <a:srgbClr val="475569"/>
                </a:solidFill>
              </a:rPr>
              <a:t>Scans survivor pulse &amp; blood oxygen in voids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5CBF7D-4623-A7BB-2CFF-F7E9BA837531}"/>
              </a:ext>
            </a:extLst>
          </p:cNvPr>
          <p:cNvSpPr/>
          <p:nvPr/>
        </p:nvSpPr>
        <p:spPr>
          <a:xfrm>
            <a:off x="457200" y="4826000"/>
            <a:ext cx="5689600" cy="1016000"/>
          </a:xfrm>
          <a:prstGeom prst="roundRect">
            <a:avLst/>
          </a:prstGeom>
          <a:solidFill>
            <a:srgbClr val="EDF7FF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F172A"/>
                </a:solidFill>
              </a:rPr>
              <a:t>Team Leader: Harshit Sharma  |  Team: ALPHA-X (ID: SIH_1186)</a:t>
            </a:r>
          </a:p>
          <a:p>
            <a:pPr algn="ctr"/>
            <a:r>
              <a:rPr lang="en-IN" sz="900">
                <a:solidFill>
                  <a:srgbClr val="475569"/>
                </a:solidFill>
              </a:rPr>
              <a:t>Institute: Poornima University, Jaipur  |  Category: Hardware &amp; Edge AI</a:t>
            </a:r>
          </a:p>
          <a:p>
            <a:pPr algn="ctr"/>
            <a:r>
              <a:rPr lang="en-IN" sz="950" b="1">
                <a:solidFill>
                  <a:srgbClr val="EA580C"/>
                </a:solidFill>
              </a:rPr>
              <a:t>Motto: 'We don't just build robots, we build hope.'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960EB3-8422-0850-3D5F-D5D12C99E2B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0" y="762000"/>
            <a:ext cx="5397500" cy="5270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31C6A8C-38FE-1A0A-0AE6-13588E793121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0A16A7-E68E-80D6-4288-A888483CB75B}"/>
              </a:ext>
            </a:extLst>
          </p:cNvPr>
          <p:cNvSpPr txBox="1"/>
          <p:nvPr/>
        </p:nvSpPr>
        <p:spPr>
          <a:xfrm>
            <a:off x="254000" y="6248400"/>
            <a:ext cx="11684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50" b="1">
                <a:solidFill>
                  <a:srgbClr val="EA580C"/>
                </a:solidFill>
              </a:rPr>
              <a:t>Poornima University Internal Hackathon RANK 5 Finalist   |   Theme: Disaster Management   |   GitHub: github.com/harshitsharma120109-web/ARIES-Search-Rescue-Rover</a:t>
            </a:r>
          </a:p>
        </p:txBody>
      </p:sp>
    </p:spTree>
    <p:extLst>
      <p:ext uri="{BB962C8B-B14F-4D97-AF65-F5344CB8AC3E}">
        <p14:creationId xmlns:p14="http://schemas.microsoft.com/office/powerpoint/2010/main" val="3442869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5E2E99-360A-4423-68CC-F345F39615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7FE30A-5878-2773-3A7A-CDBDFEEDB65D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8D1F9E-35AC-D712-1490-E42C727BF8AD}"/>
              </a:ext>
            </a:extLst>
          </p:cNvPr>
          <p:cNvSpPr/>
          <p:nvPr/>
        </p:nvSpPr>
        <p:spPr>
          <a:xfrm>
            <a:off x="254000" y="114300"/>
            <a:ext cx="1778000" cy="381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FFFF"/>
                </a:solidFill>
              </a:rPr>
              <a:t>ALPHA-X | SIH_1186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4A8CD-BCC7-B220-5ACB-7562A81F9FD4}"/>
              </a:ext>
            </a:extLst>
          </p:cNvPr>
          <p:cNvSpPr txBox="1"/>
          <p:nvPr/>
        </p:nvSpPr>
        <p:spPr>
          <a:xfrm>
            <a:off x="2133600" y="101600"/>
            <a:ext cx="609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</a:rPr>
              <a:t>PROPOSED SOLUTION &amp; TRI-PHIBIAN ECOSYSTEM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9CDC13-E8D1-B2A3-F0A2-6E4EF72773B4}"/>
              </a:ext>
            </a:extLst>
          </p:cNvPr>
          <p:cNvSpPr/>
          <p:nvPr/>
        </p:nvSpPr>
        <p:spPr>
          <a:xfrm>
            <a:off x="8318500" y="114300"/>
            <a:ext cx="2667000" cy="381000"/>
          </a:xfrm>
          <a:prstGeom prst="roundRect">
            <a:avLst/>
          </a:prstGeom>
          <a:solidFill>
            <a:srgbClr val="FFF6EF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284C7"/>
                </a:solidFill>
              </a:rPr>
              <a:t>SIH26223 | SOLUTION OVERVIEW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B61914-1BD7-5889-E3D3-B29C2BE318AA}"/>
              </a:ext>
            </a:extLst>
          </p:cNvPr>
          <p:cNvSpPr/>
          <p:nvPr/>
        </p:nvSpPr>
        <p:spPr>
          <a:xfrm>
            <a:off x="11112500" y="88900"/>
            <a:ext cx="825500" cy="431800"/>
          </a:xfrm>
          <a:prstGeom prst="roundRect">
            <a:avLst/>
          </a:prstGeom>
          <a:solidFill>
            <a:srgbClr val="F9F5F1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b="1">
                <a:solidFill>
                  <a:srgbClr val="475569"/>
                </a:solidFill>
              </a:rPr>
              <a:t>[SIH LOGO]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514DC7-0232-F213-C862-33552E916587}"/>
              </a:ext>
            </a:extLst>
          </p:cNvPr>
          <p:cNvSpPr/>
          <p:nvPr/>
        </p:nvSpPr>
        <p:spPr>
          <a:xfrm>
            <a:off x="254000" y="736600"/>
            <a:ext cx="28194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 b="1">
                <a:solidFill>
                  <a:srgbClr val="EA580C"/>
                </a:solidFill>
              </a:rPr>
              <a:t>10x-20x  Cost Disruption</a:t>
            </a:r>
          </a:p>
          <a:p>
            <a:pPr algn="ctr"/>
            <a:r>
              <a:rPr lang="en-US" sz="850">
                <a:solidFill>
                  <a:srgbClr val="475569"/>
                </a:solidFill>
              </a:rPr>
              <a:t>₹50,000 vs ₹25L imported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4663CC-B489-2618-B29F-E0B760681C1C}"/>
              </a:ext>
            </a:extLst>
          </p:cNvPr>
          <p:cNvSpPr/>
          <p:nvPr/>
        </p:nvSpPr>
        <p:spPr>
          <a:xfrm>
            <a:off x="3200400" y="736600"/>
            <a:ext cx="28194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50" b="1">
                <a:solidFill>
                  <a:srgbClr val="0284C7"/>
                </a:solidFill>
              </a:rPr>
              <a:t>5 km  Deep Rubble LoRa</a:t>
            </a:r>
          </a:p>
          <a:p>
            <a:pPr algn="ctr"/>
            <a:r>
              <a:rPr lang="it-IT" sz="850">
                <a:solidFill>
                  <a:srgbClr val="475569"/>
                </a:solidFill>
              </a:rPr>
              <a:t>Sub-GHz concrete mesh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FE2466-0E6F-0ED1-E326-327E8FCBB354}"/>
              </a:ext>
            </a:extLst>
          </p:cNvPr>
          <p:cNvSpPr/>
          <p:nvPr/>
        </p:nvSpPr>
        <p:spPr>
          <a:xfrm>
            <a:off x="6146800" y="736600"/>
            <a:ext cx="28194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 b="1">
                <a:solidFill>
                  <a:srgbClr val="E11C1C"/>
                </a:solidFill>
              </a:rPr>
              <a:t>1000°C  Fire Armor Shield</a:t>
            </a:r>
          </a:p>
          <a:p>
            <a:pPr algn="ctr"/>
            <a:r>
              <a:rPr lang="en-US" sz="850">
                <a:solidFill>
                  <a:srgbClr val="475569"/>
                </a:solidFill>
              </a:rPr>
              <a:t>Silica Aerogel insulation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C20BCE5-AA68-2AA7-EA7E-016A3448FB3A}"/>
              </a:ext>
            </a:extLst>
          </p:cNvPr>
          <p:cNvSpPr/>
          <p:nvPr/>
        </p:nvSpPr>
        <p:spPr>
          <a:xfrm>
            <a:off x="9093200" y="736600"/>
            <a:ext cx="28194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 b="1">
                <a:solidFill>
                  <a:srgbClr val="16A34A"/>
                </a:solidFill>
              </a:rPr>
              <a:t>Zero  Human Ingress Risk</a:t>
            </a:r>
          </a:p>
          <a:p>
            <a:pPr algn="ctr"/>
            <a:r>
              <a:rPr lang="en-US" sz="850">
                <a:solidFill>
                  <a:srgbClr val="475569"/>
                </a:solidFill>
              </a:rPr>
              <a:t>First look in Golden Hour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89545B-6BFD-12D6-8E0A-797DC62C19F7}"/>
              </a:ext>
            </a:extLst>
          </p:cNvPr>
          <p:cNvSpPr/>
          <p:nvPr/>
        </p:nvSpPr>
        <p:spPr>
          <a:xfrm>
            <a:off x="254000" y="1752600"/>
            <a:ext cx="6096000" cy="4254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61CB9-22B7-78DF-5205-C0A39D502ED6}"/>
              </a:ext>
            </a:extLst>
          </p:cNvPr>
          <p:cNvSpPr txBox="1"/>
          <p:nvPr/>
        </p:nvSpPr>
        <p:spPr>
          <a:xfrm>
            <a:off x="381000" y="1828800"/>
            <a:ext cx="584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</a:rPr>
              <a:t>OPERATIONAL RECONNAISSANCE PIPELINE (HOW IT WORKS):</a:t>
            </a:r>
            <a:endParaRPr lang="en-IN" sz="1000" b="1">
              <a:solidFill>
                <a:srgbClr val="0F172A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66ACC8A-D45F-39B1-C8A8-1428E07B7EA6}"/>
              </a:ext>
            </a:extLst>
          </p:cNvPr>
          <p:cNvSpPr/>
          <p:nvPr/>
        </p:nvSpPr>
        <p:spPr>
          <a:xfrm>
            <a:off x="406400" y="2222500"/>
            <a:ext cx="5791200" cy="762000"/>
          </a:xfrm>
          <a:prstGeom prst="roundRect">
            <a:avLst/>
          </a:prstGeom>
          <a:solidFill>
            <a:srgbClr val="FCFAF8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E4BD56-2451-D1D9-C011-FF1C72D2BAB9}"/>
              </a:ext>
            </a:extLst>
          </p:cNvPr>
          <p:cNvSpPr/>
          <p:nvPr/>
        </p:nvSpPr>
        <p:spPr>
          <a:xfrm>
            <a:off x="533400" y="2349500"/>
            <a:ext cx="508000" cy="2794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114009-88D7-51F7-83F4-7B17ADBCDD04}"/>
              </a:ext>
            </a:extLst>
          </p:cNvPr>
          <p:cNvSpPr txBox="1"/>
          <p:nvPr/>
        </p:nvSpPr>
        <p:spPr>
          <a:xfrm>
            <a:off x="1143000" y="2273300"/>
            <a:ext cx="4953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0F172A"/>
                </a:solidFill>
              </a:rPr>
              <a:t>🚜 Rubble &amp; Flood Entry</a:t>
            </a:r>
          </a:p>
          <a:p>
            <a:r>
              <a:rPr lang="en-US" sz="850">
                <a:solidFill>
                  <a:srgbClr val="475569"/>
                </a:solidFill>
              </a:rPr>
              <a:t>Tank tracks traverse unstable ruins; pontoon hull floats over flooded waters.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A3FD55-1364-D9D4-5491-746BEB133F23}"/>
              </a:ext>
            </a:extLst>
          </p:cNvPr>
          <p:cNvSpPr/>
          <p:nvPr/>
        </p:nvSpPr>
        <p:spPr>
          <a:xfrm>
            <a:off x="406400" y="3086100"/>
            <a:ext cx="5791200" cy="762000"/>
          </a:xfrm>
          <a:prstGeom prst="roundRect">
            <a:avLst/>
          </a:prstGeom>
          <a:solidFill>
            <a:srgbClr val="FCFAF8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4F450D-8487-8B50-DB30-ABD42CB8CF33}"/>
              </a:ext>
            </a:extLst>
          </p:cNvPr>
          <p:cNvSpPr/>
          <p:nvPr/>
        </p:nvSpPr>
        <p:spPr>
          <a:xfrm>
            <a:off x="533400" y="3213100"/>
            <a:ext cx="508000" cy="2794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56F5FD-1B4E-2AB7-1EB4-373041E1B940}"/>
              </a:ext>
            </a:extLst>
          </p:cNvPr>
          <p:cNvSpPr txBox="1"/>
          <p:nvPr/>
        </p:nvSpPr>
        <p:spPr>
          <a:xfrm>
            <a:off x="1143000" y="3136900"/>
            <a:ext cx="4953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0F172A"/>
                </a:solidFill>
              </a:rPr>
              <a:t>🚁 Auto-Trench Air-Hop</a:t>
            </a:r>
          </a:p>
          <a:p>
            <a:r>
              <a:rPr lang="en-US" sz="850">
                <a:solidFill>
                  <a:srgbClr val="475569"/>
                </a:solidFill>
              </a:rPr>
              <a:t>Integrated 8-rotor octocopter lifts chassis across deep chasms and cliffs.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A4EE44-D6E9-10B5-07E3-383573AAAE92}"/>
              </a:ext>
            </a:extLst>
          </p:cNvPr>
          <p:cNvSpPr/>
          <p:nvPr/>
        </p:nvSpPr>
        <p:spPr>
          <a:xfrm>
            <a:off x="406400" y="3949700"/>
            <a:ext cx="5791200" cy="762000"/>
          </a:xfrm>
          <a:prstGeom prst="roundRect">
            <a:avLst/>
          </a:prstGeom>
          <a:solidFill>
            <a:srgbClr val="FCFAF8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F4078F-5227-9289-725A-7B677C3C46F6}"/>
              </a:ext>
            </a:extLst>
          </p:cNvPr>
          <p:cNvSpPr/>
          <p:nvPr/>
        </p:nvSpPr>
        <p:spPr>
          <a:xfrm>
            <a:off x="533400" y="4076700"/>
            <a:ext cx="508000" cy="2794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56BD1F-8AA0-C9EB-FBE1-6155CE8004B1}"/>
              </a:ext>
            </a:extLst>
          </p:cNvPr>
          <p:cNvSpPr txBox="1"/>
          <p:nvPr/>
        </p:nvSpPr>
        <p:spPr>
          <a:xfrm>
            <a:off x="1143000" y="4000500"/>
            <a:ext cx="4953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0F172A"/>
                </a:solidFill>
              </a:rPr>
              <a:t>🦾 Bionic Crevice Vitals</a:t>
            </a:r>
          </a:p>
          <a:p>
            <a:r>
              <a:rPr lang="en-US" sz="850">
                <a:solidFill>
                  <a:srgbClr val="475569"/>
                </a:solidFill>
              </a:rPr>
              <a:t>Robotic arm penetrates 10cm holes to scan survivor pulse &amp; SpO2 at tip.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B2E8273-F4FB-73DC-0310-F7B4C4829F1F}"/>
              </a:ext>
            </a:extLst>
          </p:cNvPr>
          <p:cNvSpPr/>
          <p:nvPr/>
        </p:nvSpPr>
        <p:spPr>
          <a:xfrm>
            <a:off x="406400" y="4813300"/>
            <a:ext cx="5791200" cy="762000"/>
          </a:xfrm>
          <a:prstGeom prst="roundRect">
            <a:avLst/>
          </a:prstGeom>
          <a:solidFill>
            <a:srgbClr val="FCFAF8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8D117CF-325F-7EE5-C65A-9CE69E6EE061}"/>
              </a:ext>
            </a:extLst>
          </p:cNvPr>
          <p:cNvSpPr/>
          <p:nvPr/>
        </p:nvSpPr>
        <p:spPr>
          <a:xfrm>
            <a:off x="533400" y="4940300"/>
            <a:ext cx="508000" cy="2794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6C141D-F95B-87CB-6C17-E3EE589AA410}"/>
              </a:ext>
            </a:extLst>
          </p:cNvPr>
          <p:cNvSpPr txBox="1"/>
          <p:nvPr/>
        </p:nvSpPr>
        <p:spPr>
          <a:xfrm>
            <a:off x="1143000" y="4864100"/>
            <a:ext cx="4953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0F172A"/>
                </a:solidFill>
              </a:rPr>
              <a:t>🚨 Incident Command SOS</a:t>
            </a:r>
          </a:p>
          <a:p>
            <a:r>
              <a:rPr lang="en-US" sz="850">
                <a:solidFill>
                  <a:srgbClr val="475569"/>
                </a:solidFill>
              </a:rPr>
              <a:t>Human-in-the-Loop AI verifies survivor -&gt; Instant SOS beacon to NDRF.</a:t>
            </a:r>
            <a:endParaRPr lang="en-IN" sz="850">
              <a:solidFill>
                <a:srgbClr val="475569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E31BE90-4D45-E755-73C3-86E00D05799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0" y="1752600"/>
            <a:ext cx="5397500" cy="4254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FCC5004-5E14-FC83-D3AF-DE0EDFB199FD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512341-7768-B35F-B598-E0C5788AAB73}"/>
              </a:ext>
            </a:extLst>
          </p:cNvPr>
          <p:cNvSpPr txBox="1"/>
          <p:nvPr/>
        </p:nvSpPr>
        <p:spPr>
          <a:xfrm>
            <a:off x="254000" y="6248400"/>
            <a:ext cx="11684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0F172A"/>
                </a:solidFill>
              </a:rPr>
              <a:t>Core Mission Value: Eliminating rescuer fatalities during initial Golden-Hour reconnaissance across all 3 domains (Land, Water &amp; Air).</a:t>
            </a:r>
            <a:endParaRPr lang="en-IN" sz="1050" b="1">
              <a:solidFill>
                <a:srgbClr val="0F17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174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7E2EC3-9BC9-2AA5-9804-0E7DAFAF96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BE8962-27C0-7C38-6309-1916472703D1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E981D4-3B17-8046-BD18-B1F5745B72E3}"/>
              </a:ext>
            </a:extLst>
          </p:cNvPr>
          <p:cNvSpPr/>
          <p:nvPr/>
        </p:nvSpPr>
        <p:spPr>
          <a:xfrm>
            <a:off x="254000" y="114300"/>
            <a:ext cx="1778000" cy="381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FFFF"/>
                </a:solidFill>
              </a:rPr>
              <a:t>ALPHA-X | SIH_1186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EBC73-8DF1-B8BE-426D-F16D8F567A61}"/>
              </a:ext>
            </a:extLst>
          </p:cNvPr>
          <p:cNvSpPr txBox="1"/>
          <p:nvPr/>
        </p:nvSpPr>
        <p:spPr>
          <a:xfrm>
            <a:off x="2133600" y="101600"/>
            <a:ext cx="609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</a:rPr>
              <a:t>TECHNICAL APPROACH &amp; DUAL-MCU ARCHITECTURE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22A7F5-1D4D-9D73-1806-CC1F4563BA10}"/>
              </a:ext>
            </a:extLst>
          </p:cNvPr>
          <p:cNvSpPr/>
          <p:nvPr/>
        </p:nvSpPr>
        <p:spPr>
          <a:xfrm>
            <a:off x="8318500" y="114300"/>
            <a:ext cx="2667000" cy="381000"/>
          </a:xfrm>
          <a:prstGeom prst="roundRect">
            <a:avLst/>
          </a:prstGeom>
          <a:solidFill>
            <a:srgbClr val="FFF6EF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284C7"/>
                </a:solidFill>
              </a:rPr>
              <a:t>SIH26223 | HARDWARE &amp; AI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49FED0-2EB3-021B-7006-E01A6D32B257}"/>
              </a:ext>
            </a:extLst>
          </p:cNvPr>
          <p:cNvSpPr/>
          <p:nvPr/>
        </p:nvSpPr>
        <p:spPr>
          <a:xfrm>
            <a:off x="11112500" y="88900"/>
            <a:ext cx="825500" cy="431800"/>
          </a:xfrm>
          <a:prstGeom prst="roundRect">
            <a:avLst/>
          </a:prstGeom>
          <a:solidFill>
            <a:srgbClr val="F9F5F1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b="1">
                <a:solidFill>
                  <a:srgbClr val="475569"/>
                </a:solidFill>
              </a:rPr>
              <a:t>[SIH LOGO]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EE3397-9E21-A360-0FA3-88941518DA24}"/>
              </a:ext>
            </a:extLst>
          </p:cNvPr>
          <p:cNvSpPr/>
          <p:nvPr/>
        </p:nvSpPr>
        <p:spPr>
          <a:xfrm>
            <a:off x="254000" y="736600"/>
            <a:ext cx="3759200" cy="368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A4B216-B802-78FD-C472-15220468B125}"/>
              </a:ext>
            </a:extLst>
          </p:cNvPr>
          <p:cNvSpPr txBox="1"/>
          <p:nvPr/>
        </p:nvSpPr>
        <p:spPr>
          <a:xfrm>
            <a:off x="381000" y="863600"/>
            <a:ext cx="3505200" cy="11772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50" b="1">
                <a:solidFill>
                  <a:srgbClr val="0F172A"/>
                </a:solidFill>
              </a:rPr>
              <a:t>🚜 Tri-Phibian Mobility</a:t>
            </a:r>
          </a:p>
          <a:p>
            <a:endParaRPr lang="en-IN" sz="950">
              <a:solidFill>
                <a:srgbClr val="1E3347"/>
              </a:solidFill>
            </a:endParaRPr>
          </a:p>
          <a:p>
            <a:r>
              <a:rPr lang="en-IN" sz="950">
                <a:solidFill>
                  <a:srgbClr val="1E3347"/>
                </a:solidFill>
              </a:rPr>
              <a:t>• Land: Kevlar caterpillar tank tracks with high-torque DC planetary gearmotors.</a:t>
            </a:r>
          </a:p>
          <a:p>
            <a:r>
              <a:rPr lang="en-IN" sz="950">
                <a:solidFill>
                  <a:srgbClr val="1E3347"/>
                </a:solidFill>
              </a:rPr>
              <a:t>• Water: IP68 sealed carbon boat hull + twin submersible waterjets.</a:t>
            </a:r>
          </a:p>
          <a:p>
            <a:r>
              <a:rPr lang="en-IN" sz="950">
                <a:solidFill>
                  <a:srgbClr val="1E3347"/>
                </a:solidFill>
              </a:rPr>
              <a:t>• Air: 8x heavy-lift carbon-fiber outrigger rotors (lifts full 15kg chassis).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8D2D10-73D6-A3C4-C76B-B4C404F9DEEF}"/>
              </a:ext>
            </a:extLst>
          </p:cNvPr>
          <p:cNvSpPr/>
          <p:nvPr/>
        </p:nvSpPr>
        <p:spPr>
          <a:xfrm>
            <a:off x="4216400" y="736600"/>
            <a:ext cx="3759200" cy="368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58D7DA-0853-50CC-670C-FF88532D806C}"/>
              </a:ext>
            </a:extLst>
          </p:cNvPr>
          <p:cNvSpPr txBox="1"/>
          <p:nvPr/>
        </p:nvSpPr>
        <p:spPr>
          <a:xfrm>
            <a:off x="4343400" y="863600"/>
            <a:ext cx="3505200" cy="11772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50" b="1">
                <a:solidFill>
                  <a:srgbClr val="0F172A"/>
                </a:solidFill>
              </a:rPr>
              <a:t>🦾 Perception &amp; Bionic Arm</a:t>
            </a:r>
          </a:p>
          <a:p>
            <a:endParaRPr lang="en-IN" sz="950">
              <a:solidFill>
                <a:srgbClr val="1E3347"/>
              </a:solidFill>
            </a:endParaRPr>
          </a:p>
          <a:p>
            <a:r>
              <a:rPr lang="en-IN" sz="950">
                <a:solidFill>
                  <a:srgbClr val="1E3347"/>
                </a:solidFill>
              </a:rPr>
              <a:t>• Bionic Arm: 4-DOF carbon manipulator (1m crevice void reach).</a:t>
            </a:r>
          </a:p>
          <a:p>
            <a:r>
              <a:rPr lang="en-IN" sz="950">
                <a:solidFill>
                  <a:srgbClr val="1E3347"/>
                </a:solidFill>
              </a:rPr>
              <a:t>• Biosensor Tip: MAX30102 pulse oximeter (BPM &amp; SpO2) + BMP280 depth.</a:t>
            </a:r>
          </a:p>
          <a:p>
            <a:r>
              <a:rPr lang="en-IN" sz="950">
                <a:solidFill>
                  <a:srgbClr val="1E3347"/>
                </a:solidFill>
              </a:rPr>
              <a:t>• Vision Core: FLIR radiometric LWIR thermal core + 3D LiDAR SLAM.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E9480F4-EBE1-16F0-63DC-C8F5CC07DC6C}"/>
              </a:ext>
            </a:extLst>
          </p:cNvPr>
          <p:cNvSpPr/>
          <p:nvPr/>
        </p:nvSpPr>
        <p:spPr>
          <a:xfrm>
            <a:off x="8178800" y="736600"/>
            <a:ext cx="3759200" cy="368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BCA74A-8E5E-41C9-9662-A209ECE4AD1D}"/>
              </a:ext>
            </a:extLst>
          </p:cNvPr>
          <p:cNvSpPr txBox="1"/>
          <p:nvPr/>
        </p:nvSpPr>
        <p:spPr>
          <a:xfrm>
            <a:off x="8305800" y="863600"/>
            <a:ext cx="35052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50" b="1">
                <a:solidFill>
                  <a:srgbClr val="0F172A"/>
                </a:solidFill>
              </a:rPr>
              <a:t>⚡ Dual-MCU &amp; Fire Shield</a:t>
            </a:r>
          </a:p>
          <a:p>
            <a:endParaRPr lang="en-IN" sz="950">
              <a:solidFill>
                <a:srgbClr val="1E3347"/>
              </a:solidFill>
            </a:endParaRPr>
          </a:p>
          <a:p>
            <a:r>
              <a:rPr lang="en-IN" sz="950">
                <a:solidFill>
                  <a:srgbClr val="1E3347"/>
                </a:solidFill>
              </a:rPr>
              <a:t>• Dual-MCU: Arduino #1 (Drive) + Arduino #2 (Sensors) - Zero EMF freeze!</a:t>
            </a:r>
          </a:p>
          <a:p>
            <a:r>
              <a:rPr lang="en-IN" sz="950">
                <a:solidFill>
                  <a:srgbClr val="1E3347"/>
                </a:solidFill>
              </a:rPr>
              <a:t>• Comms: 5 km Sub-GHz LoRa Mesh (868MHz) + Wi-Fi 6 + SIM800L GSM.</a:t>
            </a:r>
          </a:p>
          <a:p>
            <a:r>
              <a:rPr lang="en-IN" sz="950">
                <a:solidFill>
                  <a:srgbClr val="1E3347"/>
                </a:solidFill>
              </a:rPr>
              <a:t>• Fire Armor: 10mm Silica Aerogel (blocks 1000°C) + Nitrogen cold purge.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49DE84-F629-7AB9-7AF4-7F49EA42D33F}"/>
              </a:ext>
            </a:extLst>
          </p:cNvPr>
          <p:cNvSpPr/>
          <p:nvPr/>
        </p:nvSpPr>
        <p:spPr>
          <a:xfrm>
            <a:off x="254000" y="4572000"/>
            <a:ext cx="11684000" cy="1460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3C2498-657F-5740-D4C4-4935FEEAF23C}"/>
              </a:ext>
            </a:extLst>
          </p:cNvPr>
          <p:cNvSpPr txBox="1"/>
          <p:nvPr/>
        </p:nvSpPr>
        <p:spPr>
          <a:xfrm>
            <a:off x="381000" y="46228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</a:rPr>
              <a:t>SYSTEM ARCHITECTURE &amp; END-TO-END DATAFLOW PIPELINE:</a:t>
            </a:r>
            <a:endParaRPr lang="en-IN" sz="1000" b="1">
              <a:solidFill>
                <a:srgbClr val="0F172A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B8783F-36DC-9A3A-F37C-582496E258C6}"/>
              </a:ext>
            </a:extLst>
          </p:cNvPr>
          <p:cNvSpPr/>
          <p:nvPr/>
        </p:nvSpPr>
        <p:spPr>
          <a:xfrm>
            <a:off x="406400" y="4953000"/>
            <a:ext cx="2413000" cy="863600"/>
          </a:xfrm>
          <a:prstGeom prst="roundRect">
            <a:avLst/>
          </a:prstGeom>
          <a:solidFill>
            <a:srgbClr val="FCFAF8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0F172A"/>
                </a:solidFill>
              </a:rPr>
              <a:t>1. SENSING &amp; ARM</a:t>
            </a:r>
          </a:p>
          <a:p>
            <a:pPr algn="ctr"/>
            <a:r>
              <a:rPr lang="en-IN" sz="850">
                <a:solidFill>
                  <a:srgbClr val="475569"/>
                </a:solidFill>
              </a:rPr>
              <a:t>MQ-135, FLIR, SpO2, Sonar</a:t>
            </a:r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1C61C232-FC4C-1BEE-3840-9AD11C1CEE9F}"/>
              </a:ext>
            </a:extLst>
          </p:cNvPr>
          <p:cNvSpPr/>
          <p:nvPr/>
        </p:nvSpPr>
        <p:spPr>
          <a:xfrm>
            <a:off x="2895600" y="5270500"/>
            <a:ext cx="254000" cy="177800"/>
          </a:xfrm>
          <a:prstGeom prst="can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F06D99-5182-6060-A448-E364F14316DD}"/>
              </a:ext>
            </a:extLst>
          </p:cNvPr>
          <p:cNvSpPr/>
          <p:nvPr/>
        </p:nvSpPr>
        <p:spPr>
          <a:xfrm>
            <a:off x="3251200" y="4953000"/>
            <a:ext cx="2413000" cy="863600"/>
          </a:xfrm>
          <a:prstGeom prst="roundRect">
            <a:avLst/>
          </a:prstGeom>
          <a:solidFill>
            <a:srgbClr val="FCFAF8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F172A"/>
                </a:solidFill>
              </a:rPr>
              <a:t>2. DUAL-MCU CORE</a:t>
            </a:r>
          </a:p>
          <a:p>
            <a:pPr algn="ctr"/>
            <a:r>
              <a:rPr lang="en-US" sz="850">
                <a:solidFill>
                  <a:srgbClr val="475569"/>
                </a:solidFill>
              </a:rPr>
              <a:t>Arduino #1 &amp; #2 Isolated Bus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209FF28D-13EC-2DE5-4757-9564A775DB12}"/>
              </a:ext>
            </a:extLst>
          </p:cNvPr>
          <p:cNvSpPr/>
          <p:nvPr/>
        </p:nvSpPr>
        <p:spPr>
          <a:xfrm>
            <a:off x="5740400" y="5270500"/>
            <a:ext cx="254000" cy="177800"/>
          </a:xfrm>
          <a:prstGeom prst="can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60651D-99C6-9267-133D-924EC5C3B0D2}"/>
              </a:ext>
            </a:extLst>
          </p:cNvPr>
          <p:cNvSpPr/>
          <p:nvPr/>
        </p:nvSpPr>
        <p:spPr>
          <a:xfrm>
            <a:off x="6096000" y="4953000"/>
            <a:ext cx="2413000" cy="863600"/>
          </a:xfrm>
          <a:prstGeom prst="roundRect">
            <a:avLst/>
          </a:prstGeom>
          <a:solidFill>
            <a:srgbClr val="FCFAF8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F172A"/>
                </a:solidFill>
              </a:rPr>
              <a:t>3. RESILIENT COMMS</a:t>
            </a:r>
          </a:p>
          <a:p>
            <a:pPr algn="ctr"/>
            <a:r>
              <a:rPr lang="en-US" sz="850">
                <a:solidFill>
                  <a:srgbClr val="475569"/>
                </a:solidFill>
              </a:rPr>
              <a:t>5 km LoRa Mesh + GSM SMS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77268520-9DA0-4DAF-506D-76EEC6FC21A0}"/>
              </a:ext>
            </a:extLst>
          </p:cNvPr>
          <p:cNvSpPr/>
          <p:nvPr/>
        </p:nvSpPr>
        <p:spPr>
          <a:xfrm>
            <a:off x="8585200" y="5270500"/>
            <a:ext cx="254000" cy="177800"/>
          </a:xfrm>
          <a:prstGeom prst="can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9BBA9FD-ABD4-9923-5A79-AA01EB39750A}"/>
              </a:ext>
            </a:extLst>
          </p:cNvPr>
          <p:cNvSpPr/>
          <p:nvPr/>
        </p:nvSpPr>
        <p:spPr>
          <a:xfrm>
            <a:off x="8940800" y="4953000"/>
            <a:ext cx="2413000" cy="863600"/>
          </a:xfrm>
          <a:prstGeom prst="roundRect">
            <a:avLst/>
          </a:prstGeom>
          <a:solidFill>
            <a:srgbClr val="FCFAF8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F172A"/>
                </a:solidFill>
              </a:rPr>
              <a:t>4. WEB MISSION HUB</a:t>
            </a:r>
          </a:p>
          <a:p>
            <a:pPr algn="ctr"/>
            <a:r>
              <a:rPr lang="en-US" sz="850">
                <a:solidFill>
                  <a:srgbClr val="475569"/>
                </a:solidFill>
              </a:rPr>
              <a:t>Browser Web Serial Console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2CCEC5-ACB4-E12C-FE5C-B2332B81707B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7E66F3-D2D4-955A-2535-725D5A02ED66}"/>
              </a:ext>
            </a:extLst>
          </p:cNvPr>
          <p:cNvSpPr txBox="1"/>
          <p:nvPr/>
        </p:nvSpPr>
        <p:spPr>
          <a:xfrm>
            <a:off x="254000" y="6248400"/>
            <a:ext cx="1168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0F172A"/>
                </a:solidFill>
              </a:rPr>
              <a:t>Zero-Lockup Guarantee: Dedicated Dual-MCU domain isolation prevents high-current motor EMF noise from disrupting mission-critical gas &amp; vital sensors.</a:t>
            </a:r>
          </a:p>
        </p:txBody>
      </p:sp>
    </p:spTree>
    <p:extLst>
      <p:ext uri="{BB962C8B-B14F-4D97-AF65-F5344CB8AC3E}">
        <p14:creationId xmlns:p14="http://schemas.microsoft.com/office/powerpoint/2010/main" val="4125323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A6B04B-C652-9667-5B5B-A1F3E01C3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701983-40B3-174E-A1B1-8CEC23FE37AB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B1C397-47CF-72C3-23E1-61F278B4B173}"/>
              </a:ext>
            </a:extLst>
          </p:cNvPr>
          <p:cNvSpPr/>
          <p:nvPr/>
        </p:nvSpPr>
        <p:spPr>
          <a:xfrm>
            <a:off x="254000" y="114300"/>
            <a:ext cx="1778000" cy="381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FFFF"/>
                </a:solidFill>
              </a:rPr>
              <a:t>ALPHA-X | SIH_1186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4D42E-E70C-9E93-4505-479A3FC39CB6}"/>
              </a:ext>
            </a:extLst>
          </p:cNvPr>
          <p:cNvSpPr txBox="1"/>
          <p:nvPr/>
        </p:nvSpPr>
        <p:spPr>
          <a:xfrm>
            <a:off x="2133600" y="101600"/>
            <a:ext cx="609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</a:rPr>
              <a:t>RISK MITIGATION MATRIX &amp; FEASIBILITY ANALYSIS</a:t>
            </a:r>
            <a:endParaRPr lang="en-IN" sz="1400" b="1">
              <a:solidFill>
                <a:srgbClr val="0F172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97CE90-9FC7-F6E5-43D9-DE6567F4B410}"/>
              </a:ext>
            </a:extLst>
          </p:cNvPr>
          <p:cNvSpPr/>
          <p:nvPr/>
        </p:nvSpPr>
        <p:spPr>
          <a:xfrm>
            <a:off x="8318500" y="114300"/>
            <a:ext cx="2667000" cy="381000"/>
          </a:xfrm>
          <a:prstGeom prst="roundRect">
            <a:avLst/>
          </a:prstGeom>
          <a:solidFill>
            <a:srgbClr val="FFF6EF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284C7"/>
                </a:solidFill>
              </a:rPr>
              <a:t>SIH26223 | FEASIBILITY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0CF735-0285-8623-B62D-FC8075964134}"/>
              </a:ext>
            </a:extLst>
          </p:cNvPr>
          <p:cNvSpPr/>
          <p:nvPr/>
        </p:nvSpPr>
        <p:spPr>
          <a:xfrm>
            <a:off x="11112500" y="88900"/>
            <a:ext cx="825500" cy="431800"/>
          </a:xfrm>
          <a:prstGeom prst="roundRect">
            <a:avLst/>
          </a:prstGeom>
          <a:solidFill>
            <a:srgbClr val="F9F5F1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b="1">
                <a:solidFill>
                  <a:srgbClr val="475569"/>
                </a:solidFill>
              </a:rPr>
              <a:t>[SIH LOGO]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450B68-4C4A-36F1-A06B-1C94064B0215}"/>
              </a:ext>
            </a:extLst>
          </p:cNvPr>
          <p:cNvSpPr/>
          <p:nvPr/>
        </p:nvSpPr>
        <p:spPr>
          <a:xfrm>
            <a:off x="254000" y="736600"/>
            <a:ext cx="116840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1C2DA4-5738-3D48-B50B-398CF9BF97FA}"/>
              </a:ext>
            </a:extLst>
          </p:cNvPr>
          <p:cNvSpPr/>
          <p:nvPr/>
        </p:nvSpPr>
        <p:spPr>
          <a:xfrm>
            <a:off x="381000" y="863600"/>
            <a:ext cx="4572000" cy="635000"/>
          </a:xfrm>
          <a:prstGeom prst="roundRect">
            <a:avLst/>
          </a:prstGeom>
          <a:solidFill>
            <a:srgbClr val="F2F2FE"/>
          </a:solidFill>
          <a:ln w="12700">
            <a:solidFill>
              <a:srgbClr val="A5A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E11C1C"/>
                </a:solidFill>
              </a:rPr>
              <a:t>⚠️ CHALLENGE: Deep Rubble Signal Loss</a:t>
            </a:r>
          </a:p>
          <a:p>
            <a:pPr algn="ctr"/>
            <a:r>
              <a:rPr lang="en-US" sz="800">
                <a:solidFill>
                  <a:srgbClr val="475569"/>
                </a:solidFill>
              </a:rPr>
              <a:t>2.4GHz Wi-Fi drops through 2m concrete.</a:t>
            </a:r>
            <a:endParaRPr lang="en-IN" sz="800">
              <a:solidFill>
                <a:srgbClr val="475569"/>
              </a:solidFill>
            </a:endParaRPr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F30044E6-5C3D-7B3C-E980-3D99465264E1}"/>
              </a:ext>
            </a:extLst>
          </p:cNvPr>
          <p:cNvSpPr/>
          <p:nvPr/>
        </p:nvSpPr>
        <p:spPr>
          <a:xfrm>
            <a:off x="5105400" y="1054100"/>
            <a:ext cx="254000" cy="203200"/>
          </a:xfrm>
          <a:prstGeom prst="can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01DC3B-F6BD-7E65-F0E6-8282B2E1D18F}"/>
              </a:ext>
            </a:extLst>
          </p:cNvPr>
          <p:cNvSpPr/>
          <p:nvPr/>
        </p:nvSpPr>
        <p:spPr>
          <a:xfrm>
            <a:off x="5486400" y="863600"/>
            <a:ext cx="6286500" cy="635000"/>
          </a:xfrm>
          <a:prstGeom prst="roundRect">
            <a:avLst/>
          </a:prstGeom>
          <a:solidFill>
            <a:srgbClr val="F4FDF0"/>
          </a:solidFill>
          <a:ln w="12700">
            <a:solidFill>
              <a:srgbClr val="ACE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50" b="1">
                <a:solidFill>
                  <a:srgbClr val="16A34A"/>
                </a:solidFill>
              </a:rPr>
              <a:t>🛡️ ARIES ENGINEERING MITIGATION:</a:t>
            </a:r>
          </a:p>
          <a:p>
            <a:pPr algn="ctr"/>
            <a:r>
              <a:rPr lang="en-IN" sz="850">
                <a:solidFill>
                  <a:srgbClr val="1E3347"/>
                </a:solidFill>
              </a:rPr>
              <a:t>5 km Sub-GHz LoRa Mesh (868MHz) + SIM800L GSM SMS fallback.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4491D8-4749-261F-0E7F-B77EE13A1DFB}"/>
              </a:ext>
            </a:extLst>
          </p:cNvPr>
          <p:cNvSpPr/>
          <p:nvPr/>
        </p:nvSpPr>
        <p:spPr>
          <a:xfrm>
            <a:off x="254000" y="1727200"/>
            <a:ext cx="116840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5F98C8-5222-367B-8080-1CA4419F528D}"/>
              </a:ext>
            </a:extLst>
          </p:cNvPr>
          <p:cNvSpPr/>
          <p:nvPr/>
        </p:nvSpPr>
        <p:spPr>
          <a:xfrm>
            <a:off x="381000" y="1854200"/>
            <a:ext cx="4572000" cy="635000"/>
          </a:xfrm>
          <a:prstGeom prst="roundRect">
            <a:avLst/>
          </a:prstGeom>
          <a:solidFill>
            <a:srgbClr val="F2F2FE"/>
          </a:solidFill>
          <a:ln w="12700">
            <a:solidFill>
              <a:srgbClr val="A5A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E11C1C"/>
                </a:solidFill>
              </a:rPr>
              <a:t>⚠️ CHALLENGE: Cliffs &amp; Trench Trap</a:t>
            </a:r>
          </a:p>
          <a:p>
            <a:pPr algn="ctr"/>
            <a:r>
              <a:rPr lang="en-US" sz="800">
                <a:solidFill>
                  <a:srgbClr val="475569"/>
                </a:solidFill>
              </a:rPr>
              <a:t>Rover gets trapped in sudden drop-offs.</a:t>
            </a:r>
            <a:endParaRPr lang="en-IN" sz="800">
              <a:solidFill>
                <a:srgbClr val="475569"/>
              </a:solidFill>
            </a:endParaRP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47B6FDFE-613A-53E5-857B-EE8561764BB8}"/>
              </a:ext>
            </a:extLst>
          </p:cNvPr>
          <p:cNvSpPr/>
          <p:nvPr/>
        </p:nvSpPr>
        <p:spPr>
          <a:xfrm>
            <a:off x="5105400" y="2044700"/>
            <a:ext cx="254000" cy="203200"/>
          </a:xfrm>
          <a:prstGeom prst="can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684C32-CF95-0BB8-413F-4BC16A151A5D}"/>
              </a:ext>
            </a:extLst>
          </p:cNvPr>
          <p:cNvSpPr/>
          <p:nvPr/>
        </p:nvSpPr>
        <p:spPr>
          <a:xfrm>
            <a:off x="5486400" y="1854200"/>
            <a:ext cx="6286500" cy="635000"/>
          </a:xfrm>
          <a:prstGeom prst="roundRect">
            <a:avLst/>
          </a:prstGeom>
          <a:solidFill>
            <a:srgbClr val="F4FDF0"/>
          </a:solidFill>
          <a:ln w="12700">
            <a:solidFill>
              <a:srgbClr val="ACE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16A34A"/>
                </a:solidFill>
              </a:rPr>
              <a:t>🛡️ ARIES ENGINEERING MITIGATION: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Integrated 8-Rotor Octocopter automatically lifts chassis across.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BDB1E0D-87B8-91D1-482B-40B0939F5E23}"/>
              </a:ext>
            </a:extLst>
          </p:cNvPr>
          <p:cNvSpPr/>
          <p:nvPr/>
        </p:nvSpPr>
        <p:spPr>
          <a:xfrm>
            <a:off x="254000" y="2717800"/>
            <a:ext cx="116840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0454B1-AA35-7AC0-822F-7AC9C35A31B1}"/>
              </a:ext>
            </a:extLst>
          </p:cNvPr>
          <p:cNvSpPr/>
          <p:nvPr/>
        </p:nvSpPr>
        <p:spPr>
          <a:xfrm>
            <a:off x="381000" y="2844800"/>
            <a:ext cx="4572000" cy="635000"/>
          </a:xfrm>
          <a:prstGeom prst="roundRect">
            <a:avLst/>
          </a:prstGeom>
          <a:solidFill>
            <a:srgbClr val="F2F2FE"/>
          </a:solidFill>
          <a:ln w="12700">
            <a:solidFill>
              <a:srgbClr val="A5A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E11C1C"/>
                </a:solidFill>
              </a:rPr>
              <a:t>⚠️ CHALLENGE: 500°C Industrial Fire</a:t>
            </a:r>
          </a:p>
          <a:p>
            <a:pPr algn="ctr"/>
            <a:r>
              <a:rPr lang="en-US" sz="800">
                <a:solidFill>
                  <a:srgbClr val="475569"/>
                </a:solidFill>
              </a:rPr>
              <a:t>Extreme heat fries sensitive microcontrollers.</a:t>
            </a:r>
            <a:endParaRPr lang="en-IN" sz="800">
              <a:solidFill>
                <a:srgbClr val="475569"/>
              </a:solidFill>
            </a:endParaRPr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6596D74F-47D2-EB2D-52D5-926B1A7888D5}"/>
              </a:ext>
            </a:extLst>
          </p:cNvPr>
          <p:cNvSpPr/>
          <p:nvPr/>
        </p:nvSpPr>
        <p:spPr>
          <a:xfrm>
            <a:off x="5105400" y="3035300"/>
            <a:ext cx="254000" cy="203200"/>
          </a:xfrm>
          <a:prstGeom prst="can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E11B976-C033-C370-F902-9451E1B30F61}"/>
              </a:ext>
            </a:extLst>
          </p:cNvPr>
          <p:cNvSpPr/>
          <p:nvPr/>
        </p:nvSpPr>
        <p:spPr>
          <a:xfrm>
            <a:off x="5486400" y="2844800"/>
            <a:ext cx="6286500" cy="635000"/>
          </a:xfrm>
          <a:prstGeom prst="roundRect">
            <a:avLst/>
          </a:prstGeom>
          <a:solidFill>
            <a:srgbClr val="F4FDF0"/>
          </a:solidFill>
          <a:ln w="12700">
            <a:solidFill>
              <a:srgbClr val="ACE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50" b="1">
                <a:solidFill>
                  <a:srgbClr val="16A34A"/>
                </a:solidFill>
              </a:rPr>
              <a:t>🛡️ ARIES ENGINEERING MITIGATION:</a:t>
            </a:r>
          </a:p>
          <a:p>
            <a:pPr algn="ctr"/>
            <a:r>
              <a:rPr lang="en-IN" sz="850">
                <a:solidFill>
                  <a:srgbClr val="1E3347"/>
                </a:solidFill>
              </a:rPr>
              <a:t>Silica Aerogel Heat Shield (1000°C block) + Nitrogen cold purge.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8731CFC-097F-6102-6E99-CBF4089B2D09}"/>
              </a:ext>
            </a:extLst>
          </p:cNvPr>
          <p:cNvSpPr/>
          <p:nvPr/>
        </p:nvSpPr>
        <p:spPr>
          <a:xfrm>
            <a:off x="254000" y="3708400"/>
            <a:ext cx="116840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A8210B4-6E6D-5658-1C95-667D3E8ACE06}"/>
              </a:ext>
            </a:extLst>
          </p:cNvPr>
          <p:cNvSpPr/>
          <p:nvPr/>
        </p:nvSpPr>
        <p:spPr>
          <a:xfrm>
            <a:off x="381000" y="3835400"/>
            <a:ext cx="4572000" cy="635000"/>
          </a:xfrm>
          <a:prstGeom prst="roundRect">
            <a:avLst/>
          </a:prstGeom>
          <a:solidFill>
            <a:srgbClr val="F2F2FE"/>
          </a:solidFill>
          <a:ln w="12700">
            <a:solidFill>
              <a:srgbClr val="A5A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50" b="1">
                <a:solidFill>
                  <a:srgbClr val="E11C1C"/>
                </a:solidFill>
              </a:rPr>
              <a:t>⚠️ CHALLENGE: Environmental False Alarms</a:t>
            </a:r>
          </a:p>
          <a:p>
            <a:pPr algn="ctr"/>
            <a:r>
              <a:rPr lang="en-IN" sz="800">
                <a:solidFill>
                  <a:srgbClr val="475569"/>
                </a:solidFill>
              </a:rPr>
              <a:t>Hot steam pipes/embers falsely flag survivor.</a:t>
            </a:r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A701BEEE-07FD-F44F-46DB-DBC973D21213}"/>
              </a:ext>
            </a:extLst>
          </p:cNvPr>
          <p:cNvSpPr/>
          <p:nvPr/>
        </p:nvSpPr>
        <p:spPr>
          <a:xfrm>
            <a:off x="5105400" y="4025900"/>
            <a:ext cx="254000" cy="203200"/>
          </a:xfrm>
          <a:prstGeom prst="can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F4689F3-99EB-23A3-F744-E9099858B5FB}"/>
              </a:ext>
            </a:extLst>
          </p:cNvPr>
          <p:cNvSpPr/>
          <p:nvPr/>
        </p:nvSpPr>
        <p:spPr>
          <a:xfrm>
            <a:off x="5486400" y="3835400"/>
            <a:ext cx="6286500" cy="635000"/>
          </a:xfrm>
          <a:prstGeom prst="roundRect">
            <a:avLst/>
          </a:prstGeom>
          <a:solidFill>
            <a:srgbClr val="F4FDF0"/>
          </a:solidFill>
          <a:ln w="12700">
            <a:solidFill>
              <a:srgbClr val="ACEF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16A34A"/>
                </a:solidFill>
              </a:rPr>
              <a:t>🛡️ ARIES ENGINEERING MITIGATION: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MAX30102 Heartbeat/SpO2 check + Mandatory Human-in-Loop HUD.</a:t>
            </a:r>
            <a:endParaRPr lang="en-IN" sz="850">
              <a:solidFill>
                <a:srgbClr val="1E3347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F3A9CB8-77A0-BA4A-B8B5-2E4BAC1F00D7}"/>
              </a:ext>
            </a:extLst>
          </p:cNvPr>
          <p:cNvSpPr/>
          <p:nvPr/>
        </p:nvSpPr>
        <p:spPr>
          <a:xfrm>
            <a:off x="254000" y="4826000"/>
            <a:ext cx="5715000" cy="120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EA580C"/>
                </a:solidFill>
              </a:rPr>
              <a:t>💰 ECONOMIC VIABILITY &amp; 10x COST ADVANTAGE:</a:t>
            </a:r>
          </a:p>
          <a:p>
            <a:pPr algn="ctr"/>
            <a:r>
              <a:rPr lang="en-IN" sz="850">
                <a:solidFill>
                  <a:srgbClr val="1E3347"/>
                </a:solidFill>
              </a:rPr>
              <a:t>• Commercial target under ₹50,000 INR vs ₹25-40 Lakhs imported military robots.</a:t>
            </a:r>
          </a:p>
          <a:p>
            <a:pPr algn="ctr"/>
            <a:r>
              <a:rPr lang="en-IN"/>
              <a:t>• Built on modular COTS hardware, eliminating expensive overseas maintenance.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2E3EC70-377A-2F7F-DBA6-15C782A898F5}"/>
              </a:ext>
            </a:extLst>
          </p:cNvPr>
          <p:cNvSpPr/>
          <p:nvPr/>
        </p:nvSpPr>
        <p:spPr>
          <a:xfrm>
            <a:off x="6223000" y="4826000"/>
            <a:ext cx="5715000" cy="120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0284C7"/>
                </a:solidFill>
              </a:rPr>
              <a:t>🔬 WORKING PROOF OF CONCEPT (PoC) VALIDATION:</a:t>
            </a:r>
          </a:p>
          <a:p>
            <a:pPr algn="ctr"/>
            <a:r>
              <a:rPr lang="en-US" sz="850">
                <a:solidFill>
                  <a:srgbClr val="1E3347"/>
                </a:solidFill>
              </a:rPr>
              <a:t>• Scaled prototype validated on dual-microcontrollers with L293D shield.</a:t>
            </a:r>
          </a:p>
          <a:p>
            <a:pPr algn="ctr"/>
            <a:r>
              <a:rPr lang="en-US"/>
              <a:t>• Tested with live gas telemetry, sonar auto-stop, OLED display &amp; Web Serial Hub.</a:t>
            </a:r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6D2BCC-E63D-7D2D-F983-0547B8E0FAD0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7326DD-0CF6-1E2A-3EFD-FD1E8F360636}"/>
              </a:ext>
            </a:extLst>
          </p:cNvPr>
          <p:cNvSpPr txBox="1"/>
          <p:nvPr/>
        </p:nvSpPr>
        <p:spPr>
          <a:xfrm>
            <a:off x="254000" y="6248400"/>
            <a:ext cx="1168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</a:rPr>
              <a:t>Zero False-Alarm Architecture: Two-tier validation combines physiological SpO2 pulse verification with Incident Commander HUD confirmation.</a:t>
            </a:r>
            <a:endParaRPr lang="en-IN" sz="1000" b="1">
              <a:solidFill>
                <a:srgbClr val="0F17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433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47E9B1-73DE-9F37-0F03-C7A6CDE8B3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2B3831-C50E-C608-76CD-292D14EBA9C0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4B3D62-AA25-9CBE-4ECF-871606559B2C}"/>
              </a:ext>
            </a:extLst>
          </p:cNvPr>
          <p:cNvSpPr/>
          <p:nvPr/>
        </p:nvSpPr>
        <p:spPr>
          <a:xfrm>
            <a:off x="254000" y="114300"/>
            <a:ext cx="1778000" cy="381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FFFF"/>
                </a:solidFill>
              </a:rPr>
              <a:t>ALPHA-X | SIH_1186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4A3A0-B241-D931-F1DF-FBEC9A492756}"/>
              </a:ext>
            </a:extLst>
          </p:cNvPr>
          <p:cNvSpPr txBox="1"/>
          <p:nvPr/>
        </p:nvSpPr>
        <p:spPr>
          <a:xfrm>
            <a:off x="2133600" y="101600"/>
            <a:ext cx="609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0F172A"/>
                </a:solidFill>
              </a:rPr>
              <a:t>MULTI-DIMENSIONAL IMPACT &amp; TARGET BENEFICIARIES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AC168D-E3FC-76C2-1F8C-B9B3476ACEA8}"/>
              </a:ext>
            </a:extLst>
          </p:cNvPr>
          <p:cNvSpPr/>
          <p:nvPr/>
        </p:nvSpPr>
        <p:spPr>
          <a:xfrm>
            <a:off x="8318500" y="114300"/>
            <a:ext cx="2667000" cy="381000"/>
          </a:xfrm>
          <a:prstGeom prst="roundRect">
            <a:avLst/>
          </a:prstGeom>
          <a:solidFill>
            <a:srgbClr val="FFF6EF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284C7"/>
                </a:solidFill>
              </a:rPr>
              <a:t>SIH26223 | NATIONAL IMPACT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F5AD52-01A7-E860-A763-B833D0F8001D}"/>
              </a:ext>
            </a:extLst>
          </p:cNvPr>
          <p:cNvSpPr/>
          <p:nvPr/>
        </p:nvSpPr>
        <p:spPr>
          <a:xfrm>
            <a:off x="11112500" y="88900"/>
            <a:ext cx="825500" cy="431800"/>
          </a:xfrm>
          <a:prstGeom prst="roundRect">
            <a:avLst/>
          </a:prstGeom>
          <a:solidFill>
            <a:srgbClr val="F9F5F1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b="1">
                <a:solidFill>
                  <a:srgbClr val="475569"/>
                </a:solidFill>
              </a:rPr>
              <a:t>[SIH LOGO]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380BB8-23FE-4062-A75A-555C9B62B951}"/>
              </a:ext>
            </a:extLst>
          </p:cNvPr>
          <p:cNvSpPr/>
          <p:nvPr/>
        </p:nvSpPr>
        <p:spPr>
          <a:xfrm>
            <a:off x="254000" y="736600"/>
            <a:ext cx="6096000" cy="1193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32C19-5420-9BC2-12EE-DA12EE32143A}"/>
              </a:ext>
            </a:extLst>
          </p:cNvPr>
          <p:cNvSpPr txBox="1"/>
          <p:nvPr/>
        </p:nvSpPr>
        <p:spPr>
          <a:xfrm>
            <a:off x="355600" y="787400"/>
            <a:ext cx="5892800" cy="6617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F172A"/>
                </a:solidFill>
              </a:rPr>
              <a:t>❤️ Social &amp; Life-Saving</a:t>
            </a:r>
          </a:p>
          <a:p>
            <a:r>
              <a:rPr lang="en-IN" sz="850">
                <a:solidFill>
                  <a:srgbClr val="1E3347"/>
                </a:solidFill>
              </a:rPr>
              <a:t>• Zero First-Responder Loss: Eliminates sniffer dog &amp; rescuer hazards.</a:t>
            </a:r>
          </a:p>
          <a:p>
            <a:r>
              <a:rPr lang="en-IN" sz="850">
                <a:solidFill>
                  <a:srgbClr val="1E3347"/>
                </a:solidFill>
              </a:rPr>
              <a:t>• Golden Hour Acceleration: Spots trapped survivors in minutes via thermal vision.</a:t>
            </a:r>
          </a:p>
          <a:p>
            <a:r>
              <a:rPr lang="en-IN" sz="850">
                <a:solidFill>
                  <a:srgbClr val="1E3347"/>
                </a:solidFill>
              </a:rPr>
              <a:t>• Pre-Staged Medical Triage: Medics receive SpO2 &amp; pulse before physical entry.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B3CEC5-D011-507E-BAE7-133BC2128C1E}"/>
              </a:ext>
            </a:extLst>
          </p:cNvPr>
          <p:cNvSpPr/>
          <p:nvPr/>
        </p:nvSpPr>
        <p:spPr>
          <a:xfrm>
            <a:off x="254000" y="2032000"/>
            <a:ext cx="6096000" cy="1193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634BE6-FFC9-7CF3-E4DF-1FE1344FAA52}"/>
              </a:ext>
            </a:extLst>
          </p:cNvPr>
          <p:cNvSpPr txBox="1"/>
          <p:nvPr/>
        </p:nvSpPr>
        <p:spPr>
          <a:xfrm>
            <a:off x="355600" y="2082800"/>
            <a:ext cx="5892800" cy="6617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F172A"/>
                </a:solidFill>
              </a:rPr>
              <a:t>💰 Economic Democratization</a:t>
            </a:r>
          </a:p>
          <a:p>
            <a:r>
              <a:rPr lang="en-IN" sz="850">
                <a:solidFill>
                  <a:srgbClr val="1E3347"/>
                </a:solidFill>
              </a:rPr>
              <a:t>• 10x-20x Cost Reduction: Under ₹50,000 INR vs ₹25-40 Lakhs imported robots.</a:t>
            </a:r>
          </a:p>
          <a:p>
            <a:r>
              <a:rPr lang="en-IN" sz="850">
                <a:solidFill>
                  <a:srgbClr val="1E3347"/>
                </a:solidFill>
              </a:rPr>
              <a:t>• COTS Modular Maintenance: Standard parts, zero foreign service lock-in.</a:t>
            </a:r>
          </a:p>
          <a:p>
            <a:r>
              <a:rPr lang="en-IN" sz="850">
                <a:solidFill>
                  <a:srgbClr val="1E3347"/>
                </a:solidFill>
              </a:rPr>
              <a:t>• Scalable Pan-India Outreach: Affordable for every municipal fire station.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06A1AA-6B6F-0AE1-7E72-809AEDA99950}"/>
              </a:ext>
            </a:extLst>
          </p:cNvPr>
          <p:cNvSpPr/>
          <p:nvPr/>
        </p:nvSpPr>
        <p:spPr>
          <a:xfrm>
            <a:off x="254000" y="3327400"/>
            <a:ext cx="6096000" cy="1193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DBC87A-D194-0427-2096-7D05C2936C44}"/>
              </a:ext>
            </a:extLst>
          </p:cNvPr>
          <p:cNvSpPr txBox="1"/>
          <p:nvPr/>
        </p:nvSpPr>
        <p:spPr>
          <a:xfrm>
            <a:off x="355600" y="3378200"/>
            <a:ext cx="5892800" cy="6617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F172A"/>
                </a:solidFill>
              </a:rPr>
              <a:t>🌱 Environmental Containment</a:t>
            </a:r>
          </a:p>
          <a:p>
            <a:r>
              <a:rPr lang="en-IN" sz="850">
                <a:solidFill>
                  <a:srgbClr val="1E3347"/>
                </a:solidFill>
              </a:rPr>
              <a:t>• Real-Time Hazard Containment: MQ-135 tracks gas diffusion before civilian impact.</a:t>
            </a:r>
          </a:p>
          <a:p>
            <a:r>
              <a:rPr lang="en-IN" sz="850">
                <a:solidFill>
                  <a:srgbClr val="1E3347"/>
                </a:solidFill>
              </a:rPr>
              <a:t>• Zero-Emission Electric Locomotion: Safe in combustible &amp; low-oxygen shafts.</a:t>
            </a:r>
          </a:p>
          <a:p>
            <a:r>
              <a:rPr lang="en-IN" sz="850">
                <a:solidFill>
                  <a:srgbClr val="1E3347"/>
                </a:solidFill>
              </a:rPr>
              <a:t>• Deep Underground Recon: Safe for subterranean tunnels and coal mines.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352EDC-B1C7-7406-88A7-BF3E8F1AD66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0" y="736600"/>
            <a:ext cx="5397500" cy="3810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28FA10-B075-4179-3EFD-F8C9B831494A}"/>
              </a:ext>
            </a:extLst>
          </p:cNvPr>
          <p:cNvSpPr/>
          <p:nvPr/>
        </p:nvSpPr>
        <p:spPr>
          <a:xfrm>
            <a:off x="254000" y="4699000"/>
            <a:ext cx="28194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F172A"/>
                </a:solidFill>
              </a:rPr>
              <a:t>🏛️ NDRF &amp; State SDRF</a:t>
            </a:r>
          </a:p>
          <a:p>
            <a:pPr algn="ctr"/>
            <a:r>
              <a:rPr lang="en-US" sz="850">
                <a:solidFill>
                  <a:srgbClr val="475569"/>
                </a:solidFill>
              </a:rPr>
              <a:t>Earthquake &amp; building collapses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D68EEB9-0C64-3710-0FB4-7501658FC8FB}"/>
              </a:ext>
            </a:extLst>
          </p:cNvPr>
          <p:cNvSpPr/>
          <p:nvPr/>
        </p:nvSpPr>
        <p:spPr>
          <a:xfrm>
            <a:off x="3200400" y="4699000"/>
            <a:ext cx="28194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F172A"/>
                </a:solidFill>
              </a:rPr>
              <a:t>🚒 Fire &amp; Emergency</a:t>
            </a:r>
          </a:p>
          <a:p>
            <a:pPr algn="ctr"/>
            <a:r>
              <a:rPr lang="en-US" sz="850">
                <a:solidFill>
                  <a:srgbClr val="475569"/>
                </a:solidFill>
              </a:rPr>
              <a:t>Basement fires &amp; chemical leaks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1797127-976B-8C43-4F67-E405DED86630}"/>
              </a:ext>
            </a:extLst>
          </p:cNvPr>
          <p:cNvSpPr/>
          <p:nvPr/>
        </p:nvSpPr>
        <p:spPr>
          <a:xfrm>
            <a:off x="6146800" y="4699000"/>
            <a:ext cx="28194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rgbClr val="0F172A"/>
                </a:solidFill>
              </a:rPr>
              <a:t>⛏️ Mining Authorities</a:t>
            </a:r>
          </a:p>
          <a:p>
            <a:pPr algn="ctr"/>
            <a:r>
              <a:rPr lang="en-US" sz="850">
                <a:solidFill>
                  <a:srgbClr val="475569"/>
                </a:solidFill>
              </a:rPr>
              <a:t>Deep coal mine &amp; tunnel collapse</a:t>
            </a:r>
            <a:endParaRPr lang="en-IN" sz="850">
              <a:solidFill>
                <a:srgbClr val="475569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7EEF5-6E16-D26C-3A53-0ADF5CA90DE9}"/>
              </a:ext>
            </a:extLst>
          </p:cNvPr>
          <p:cNvSpPr/>
          <p:nvPr/>
        </p:nvSpPr>
        <p:spPr>
          <a:xfrm>
            <a:off x="9093200" y="4699000"/>
            <a:ext cx="28194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0F172A"/>
                </a:solidFill>
              </a:rPr>
              <a:t>🏭 Industrial Plants</a:t>
            </a:r>
          </a:p>
          <a:p>
            <a:pPr algn="ctr"/>
            <a:r>
              <a:rPr lang="en-IN" sz="850">
                <a:solidFill>
                  <a:srgbClr val="475569"/>
                </a:solidFill>
              </a:rPr>
              <a:t>Hazardous industrial plant scouts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BEBC1C-5A2B-C2B1-850C-7B07159E52C1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08EC2D-234E-01AC-DDD1-BAD5CCED9FB1}"/>
              </a:ext>
            </a:extLst>
          </p:cNvPr>
          <p:cNvSpPr txBox="1"/>
          <p:nvPr/>
        </p:nvSpPr>
        <p:spPr>
          <a:xfrm>
            <a:off x="254000" y="6248400"/>
            <a:ext cx="1168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</a:rPr>
              <a:t>Humanitarian Impact: Aligned with National Disaster Management Plan (NDMP) benchmarks to save lives during critical Golden Hour extractions.</a:t>
            </a:r>
            <a:endParaRPr lang="en-IN" sz="1000" b="1">
              <a:solidFill>
                <a:srgbClr val="0F17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568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35A85E-732B-10D1-BE72-4AA19B7F55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87E7ED-48FC-A680-B3BF-7AA45CECCAA2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CEA0D3-8176-8904-FF71-73298910CBB4}"/>
              </a:ext>
            </a:extLst>
          </p:cNvPr>
          <p:cNvSpPr/>
          <p:nvPr/>
        </p:nvSpPr>
        <p:spPr>
          <a:xfrm>
            <a:off x="254000" y="114300"/>
            <a:ext cx="1778000" cy="3810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FFFF"/>
                </a:solidFill>
              </a:rPr>
              <a:t>ALPHA-X | SIH_1186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7D8F4-D3DA-CB2A-71B7-6E4B0A59242F}"/>
              </a:ext>
            </a:extLst>
          </p:cNvPr>
          <p:cNvSpPr txBox="1"/>
          <p:nvPr/>
        </p:nvSpPr>
        <p:spPr>
          <a:xfrm>
            <a:off x="2133600" y="101600"/>
            <a:ext cx="609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</a:rPr>
              <a:t>BILL OF MATERIALS, NATIONAL STANDARDS &amp; REPO</a:t>
            </a:r>
            <a:endParaRPr lang="en-IN" sz="1400" b="1">
              <a:solidFill>
                <a:srgbClr val="0F172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B079D2-6BBF-B62F-585C-28F708741D9E}"/>
              </a:ext>
            </a:extLst>
          </p:cNvPr>
          <p:cNvSpPr/>
          <p:nvPr/>
        </p:nvSpPr>
        <p:spPr>
          <a:xfrm>
            <a:off x="8318500" y="114300"/>
            <a:ext cx="2667000" cy="381000"/>
          </a:xfrm>
          <a:prstGeom prst="roundRect">
            <a:avLst/>
          </a:prstGeom>
          <a:solidFill>
            <a:srgbClr val="FFF6EF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284C7"/>
                </a:solidFill>
              </a:rPr>
              <a:t>SIH26223 | STANDARDS &amp; REPO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37E797-8F80-8732-087D-0C999A76D411}"/>
              </a:ext>
            </a:extLst>
          </p:cNvPr>
          <p:cNvSpPr/>
          <p:nvPr/>
        </p:nvSpPr>
        <p:spPr>
          <a:xfrm>
            <a:off x="11112500" y="88900"/>
            <a:ext cx="825500" cy="431800"/>
          </a:xfrm>
          <a:prstGeom prst="roundRect">
            <a:avLst/>
          </a:prstGeom>
          <a:solidFill>
            <a:srgbClr val="F9F5F1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b="1">
                <a:solidFill>
                  <a:srgbClr val="475569"/>
                </a:solidFill>
              </a:rPr>
              <a:t>[SIH LOGO]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33F757-0F30-0E46-5FC0-07CBE5696783}"/>
              </a:ext>
            </a:extLst>
          </p:cNvPr>
          <p:cNvSpPr/>
          <p:nvPr/>
        </p:nvSpPr>
        <p:spPr>
          <a:xfrm>
            <a:off x="254000" y="736600"/>
            <a:ext cx="5715000" cy="2095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91FB7-9A1C-09B2-FB3E-18D1DD923B09}"/>
              </a:ext>
            </a:extLst>
          </p:cNvPr>
          <p:cNvSpPr txBox="1"/>
          <p:nvPr/>
        </p:nvSpPr>
        <p:spPr>
          <a:xfrm>
            <a:off x="381000" y="812800"/>
            <a:ext cx="5461000" cy="7925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F172A"/>
                </a:solidFill>
              </a:rPr>
              <a:t>💰 Bill of Materials &amp; Cost Disruption</a:t>
            </a:r>
          </a:p>
          <a:p>
            <a:r>
              <a:rPr lang="en-IN" sz="850">
                <a:solidFill>
                  <a:srgbClr val="1E3347"/>
                </a:solidFill>
              </a:rPr>
              <a:t>• Basic Working Prototype (Table Model): Under ₹8,000 INR.</a:t>
            </a:r>
          </a:p>
          <a:p>
            <a:r>
              <a:rPr lang="en-IN" sz="850">
                <a:solidFill>
                  <a:srgbClr val="1E3347"/>
                </a:solidFill>
              </a:rPr>
              <a:t>• ARIES 2.0 Enterprise Tri-Phibian Model: Under ₹50,000 INR.</a:t>
            </a:r>
          </a:p>
          <a:p>
            <a:r>
              <a:rPr lang="en-IN" sz="850">
                <a:solidFill>
                  <a:srgbClr val="1E3347"/>
                </a:solidFill>
              </a:rPr>
              <a:t>• Imported Military Competitors: ₹25,00,000 to ₹40,00,000 INR.</a:t>
            </a:r>
          </a:p>
          <a:p>
            <a:r>
              <a:rPr lang="en-IN" sz="850">
                <a:solidFill>
                  <a:srgbClr val="1E3347"/>
                </a:solidFill>
              </a:rPr>
              <a:t>• Result: 10x to 40x Unprecedented Cost Democratization!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917352-8540-84EB-AF42-6D95725D4033}"/>
              </a:ext>
            </a:extLst>
          </p:cNvPr>
          <p:cNvSpPr/>
          <p:nvPr/>
        </p:nvSpPr>
        <p:spPr>
          <a:xfrm>
            <a:off x="6223000" y="736600"/>
            <a:ext cx="5715000" cy="2095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7C3D94-38BA-B1A8-959A-ABF86DFF21A9}"/>
              </a:ext>
            </a:extLst>
          </p:cNvPr>
          <p:cNvSpPr txBox="1"/>
          <p:nvPr/>
        </p:nvSpPr>
        <p:spPr>
          <a:xfrm>
            <a:off x="6350000" y="812800"/>
            <a:ext cx="5461000" cy="7925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F172A"/>
                </a:solidFill>
              </a:rPr>
              <a:t>🏛️ National Guidelines (Govt. of India)</a:t>
            </a:r>
          </a:p>
          <a:p>
            <a:r>
              <a:rPr lang="en-IN" sz="850">
                <a:solidFill>
                  <a:srgbClr val="1E3347"/>
                </a:solidFill>
              </a:rPr>
              <a:t>• NDMA Guidelines on Urban Search &amp; Rescue (USAR) Equipment Standards.</a:t>
            </a:r>
          </a:p>
          <a:p>
            <a:r>
              <a:rPr lang="en-IN" sz="850">
                <a:solidFill>
                  <a:srgbClr val="1E3347"/>
                </a:solidFill>
              </a:rPr>
              <a:t>• NDRF Standard Operating Procedures (SOP) for Confined Space Hazards.</a:t>
            </a:r>
          </a:p>
          <a:p>
            <a:r>
              <a:rPr lang="en-IN" sz="850">
                <a:solidFill>
                  <a:srgbClr val="1E3347"/>
                </a:solidFill>
              </a:rPr>
              <a:t>• Aligned with National Disaster Management Plan (NDMP 2019).</a:t>
            </a:r>
          </a:p>
          <a:p>
            <a:r>
              <a:rPr lang="en-IN" sz="850">
                <a:solidFill>
                  <a:srgbClr val="1E3347"/>
                </a:solidFill>
              </a:rPr>
              <a:t>• Hazardous gas threshold compliance (MQ/PID Standards).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2C154E-66D4-CED2-5FD4-F1A949277EC8}"/>
              </a:ext>
            </a:extLst>
          </p:cNvPr>
          <p:cNvSpPr/>
          <p:nvPr/>
        </p:nvSpPr>
        <p:spPr>
          <a:xfrm>
            <a:off x="254000" y="2959100"/>
            <a:ext cx="5715000" cy="2095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9F60F2-0C24-3275-036A-5D9B26EB47A0}"/>
              </a:ext>
            </a:extLst>
          </p:cNvPr>
          <p:cNvSpPr txBox="1"/>
          <p:nvPr/>
        </p:nvSpPr>
        <p:spPr>
          <a:xfrm>
            <a:off x="381000" y="3035300"/>
            <a:ext cx="5461000" cy="7925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F172A"/>
                </a:solidFill>
              </a:rPr>
              <a:t>📚 Academic USAR Robotics Literature</a:t>
            </a:r>
          </a:p>
          <a:p>
            <a:r>
              <a:rPr lang="en-IN" sz="850">
                <a:solidFill>
                  <a:srgbClr val="1E3347"/>
                </a:solidFill>
              </a:rPr>
              <a:t>• Murphy, R. R. (2014) Disaster Robotics, MIT Press / IEEE Transactions.</a:t>
            </a:r>
          </a:p>
          <a:p>
            <a:r>
              <a:rPr lang="en-IN" sz="850">
                <a:solidFill>
                  <a:srgbClr val="1E3347"/>
                </a:solidFill>
              </a:rPr>
              <a:t>• Kumar &amp; Sharma (2022) IoT USAR Ground Vehicles, IEEE Xplore / ICRA.</a:t>
            </a:r>
          </a:p>
          <a:p>
            <a:r>
              <a:rPr lang="en-IN" sz="850">
                <a:solidFill>
                  <a:srgbClr val="1E3347"/>
                </a:solidFill>
              </a:rPr>
              <a:t>• IEEE IoT Journal: Sub-GHz Wireless Mesh for Deep-Rubble Disaster Telemetry.</a:t>
            </a:r>
          </a:p>
          <a:p>
            <a:r>
              <a:rPr lang="en-IN" sz="850">
                <a:solidFill>
                  <a:srgbClr val="1E3347"/>
                </a:solidFill>
              </a:rPr>
              <a:t>• Journal of Field Robotics: Multi-Spectral Thermal Fusion in Fire Zones.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A77DE5-D985-9F02-9ABC-4EFF0EA31D5D}"/>
              </a:ext>
            </a:extLst>
          </p:cNvPr>
          <p:cNvSpPr/>
          <p:nvPr/>
        </p:nvSpPr>
        <p:spPr>
          <a:xfrm>
            <a:off x="6223000" y="2959100"/>
            <a:ext cx="5715000" cy="2095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E47804-5B4B-75A1-9F9C-9CEE1B80119F}"/>
              </a:ext>
            </a:extLst>
          </p:cNvPr>
          <p:cNvSpPr txBox="1"/>
          <p:nvPr/>
        </p:nvSpPr>
        <p:spPr>
          <a:xfrm>
            <a:off x="6350000" y="3035300"/>
            <a:ext cx="5461000" cy="7925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0F172A"/>
                </a:solidFill>
              </a:rPr>
              <a:t>💻 Open-Source Repositories &amp; Live Hubs</a:t>
            </a:r>
          </a:p>
          <a:p>
            <a:r>
              <a:rPr lang="en-IN" sz="850">
                <a:solidFill>
                  <a:srgbClr val="1E3347"/>
                </a:solidFill>
              </a:rPr>
              <a:t>• GitHub Repo: github.com/harshitsharma120109-web/ARIES-Search-Rescue-Rover</a:t>
            </a:r>
          </a:p>
          <a:p>
            <a:r>
              <a:rPr lang="en-IN" sz="850">
                <a:solidFill>
                  <a:srgbClr val="1E3347"/>
                </a:solidFill>
              </a:rPr>
              <a:t>• Live Web Mission Hub: melodic-halva-b0fa56.netlify.app</a:t>
            </a:r>
          </a:p>
          <a:p>
            <a:r>
              <a:rPr lang="en-IN" sz="850">
                <a:solidFill>
                  <a:srgbClr val="1E3347"/>
                </a:solidFill>
              </a:rPr>
              <a:t>• Full Dual-MCU Firmware, Schematics &amp; Web Serial telemetry open-sourced.</a:t>
            </a:r>
          </a:p>
          <a:p>
            <a:r>
              <a:rPr lang="en-IN" sz="850">
                <a:solidFill>
                  <a:srgbClr val="1E3347"/>
                </a:solidFill>
              </a:rPr>
              <a:t>• Validated on functional scaled embedded prototype.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DA0E03-2EB7-2B48-B9DB-90CD3990DBA2}"/>
              </a:ext>
            </a:extLst>
          </p:cNvPr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solidFill>
            <a:srgbClr val="EDF7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6D5A67-A226-4719-D40C-18DA4DEA1CED}"/>
              </a:ext>
            </a:extLst>
          </p:cNvPr>
          <p:cNvSpPr txBox="1"/>
          <p:nvPr/>
        </p:nvSpPr>
        <p:spPr>
          <a:xfrm>
            <a:off x="254000" y="5435600"/>
            <a:ext cx="11684000" cy="7309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EA580C"/>
                </a:solidFill>
              </a:rPr>
              <a:t>OFFICIAL PROJECT REPOSITORY &amp; LIVE WEB MISSION HUB:</a:t>
            </a:r>
          </a:p>
          <a:p>
            <a:r>
              <a:rPr lang="en-US" sz="950">
                <a:solidFill>
                  <a:srgbClr val="0F172A"/>
                </a:solidFill>
              </a:rPr>
              <a:t>• GitHub: https://github.com/harshitsharma120109-web/ARIES-Search-Rescue-Rover</a:t>
            </a:r>
          </a:p>
          <a:p>
            <a:r>
              <a:rPr lang="en-US" sz="950">
                <a:solidFill>
                  <a:srgbClr val="0284C7"/>
                </a:solidFill>
              </a:rPr>
              <a:t>• Live Console: https://melodic-halva-b0fa56.netlify.app/  |  https://joyful-cactus-9b247c.netlify.app/</a:t>
            </a:r>
          </a:p>
          <a:p>
            <a:r>
              <a:rPr lang="en-US" sz="1200" b="1">
                <a:solidFill>
                  <a:srgbClr val="EA580C"/>
                </a:solidFill>
              </a:rPr>
              <a:t>'WE DON'T JUST BUILD ROBOTS, WE BUILD HOPE.' — Team ALPHA-X (SIH_1186)</a:t>
            </a:r>
            <a:endParaRPr lang="en-IN" sz="1200" b="1">
              <a:solidFill>
                <a:srgbClr val="EA58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640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1279</Words>
  <Application>Microsoft Office PowerPoint</Application>
  <PresentationFormat>Custom</PresentationFormat>
  <Paragraphs>154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nandiastram.1201hs@gmail.com</dc:creator>
  <cp:lastModifiedBy>nandiastram.1201hs@gmail.com</cp:lastModifiedBy>
  <cp:revision>1</cp:revision>
  <dcterms:created xsi:type="dcterms:W3CDTF">2026-09-23T15:08:25Z</dcterms:created>
  <dcterms:modified xsi:type="dcterms:W3CDTF">2026-09-23T15:08:26Z</dcterms:modified>
</cp:coreProperties>
</file>