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723C-B0E5-8C40-E231-C2EC71FC6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07EFC-F67A-D6F2-587B-81C91A82F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0FF65-DFF8-2C6D-8AEE-5830BE07A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A5CC5-83D6-4DAD-994D-CD740F15362B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E782D-C952-D1FC-2D7C-0208D1D64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B0977-F091-DDCA-1F6D-2F5798A66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C0E1-239E-457A-9A95-988051D2A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662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A5170-D7C2-C559-3CF5-869FDF8EF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A1573-931D-3F79-0547-9EE0E3CC4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F2C49-1340-E24E-6553-BEA7DBA9A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A5CC5-83D6-4DAD-994D-CD740F15362B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D5BE6-E0DB-3A48-7B7E-663881170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65582-CBBA-9DE4-E1DE-0AB29E1A1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C0E1-239E-457A-9A95-988051D2A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617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162BD-82DF-D0F9-DF93-85ACD36FA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665D1-2ADB-113D-B833-F94F24369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1E886-0EC2-EA8F-D810-FECC22A08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A5CC5-83D6-4DAD-994D-CD740F15362B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1699F-1F71-69D1-75CE-D5939D2E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243D7-7E07-0873-CE77-523FDEC79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C0E1-239E-457A-9A95-988051D2A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294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482E8-5BF6-19F0-E77C-34401A5C4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B9F64-F5AF-4AD7-3BC3-E1406389A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CCD024-A770-91F8-5C66-710B35C8B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DA5E6-F410-EACF-5AB1-C760C23EC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A5CC5-83D6-4DAD-994D-CD740F15362B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79BFA-8AF5-D0A0-350A-64D6F4EFD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92F18-16BC-A933-C706-6EBE37266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C0E1-239E-457A-9A95-988051D2A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640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2E9D3-D403-D265-D5BE-CEA1F377E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2B79C-AD8E-7509-E637-BB0C366D3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50808-4336-FBFF-2033-2C1C6E7A9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80F4F8-3AB0-CC1D-4A83-418974E51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148BE0-B5ED-D85F-1BFE-DEDA2FB251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C825FC-880E-7AFC-AFAB-F8D3A146C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A5CC5-83D6-4DAD-994D-CD740F15362B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2B906B-013C-E228-90B1-ABA40DA5B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BEC975-66DD-4C8C-A8B6-43C5F74A9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C0E1-239E-457A-9A95-988051D2A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956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168C5-E0CD-EB5C-9F41-9D384A1C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CFEDED-7F67-FBA7-AB54-B0BF5A15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A5CC5-83D6-4DAD-994D-CD740F15362B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483981-45AE-6F32-6E41-4F6F3A018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22187-EF7D-6422-135C-59781D7EA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C0E1-239E-457A-9A95-988051D2A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377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4F2429-3893-3BFE-5BF8-A91D3BA9B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A5CC5-83D6-4DAD-994D-CD740F15362B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29446-1DAF-137C-416A-568400C41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D687A-1671-FB8C-B48A-4382406A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C0E1-239E-457A-9A95-988051D2A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468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75E6-DB93-E240-1CB9-6A1F53CDC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FA941-10E2-7AFA-8D04-CF5DDCAB2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A168B-3448-2433-8561-E080897E3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2816B-E4F3-4710-519A-2C09226CC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A5CC5-83D6-4DAD-994D-CD740F15362B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D4F21-4D79-8FED-A99D-DAF98C3B3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11757-A9FB-41B1-FBD3-446C92DB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C0E1-239E-457A-9A95-988051D2A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419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7A7C9-0424-D72E-2DC3-E672583C6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60E59B-2859-007C-6B74-7DC454C09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A42AF-1B76-1D92-0265-1DC22851F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18FF9-34D7-C419-5BB4-8331BD7AE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A5CC5-83D6-4DAD-994D-CD740F15362B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E5778-030D-104E-04FF-5E0ABAA25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49E42-2FE2-3388-8543-D7FB00FAA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C0E1-239E-457A-9A95-988051D2A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594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40658-2A0F-39BD-44E7-83554619F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9D26F-8172-3A21-FE80-646862B8D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2786C-1800-CCB1-2A3C-AD1E1C045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A5CC5-83D6-4DAD-994D-CD740F15362B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C8D76-1BC9-02DA-34EF-2293C3703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A628E-D598-E7B4-6DEC-B476C477F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C0E1-239E-457A-9A95-988051D2A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027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3D0B6C-B2DB-977E-0D75-D90909A626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E8B18A-6D37-2FEE-BDB1-ED043B928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5452A-10BA-719E-A5DD-8BDF33CD1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A5CC5-83D6-4DAD-994D-CD740F15362B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A515E-9C48-3461-BC2F-2F52F4A5A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C35FA-CFE4-893D-4441-A09DB1825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C0E1-239E-457A-9A95-988051D2A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56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39FF73-D80B-B5A9-7AF8-3A62744C6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C0D06-83C2-595A-6B54-F59C4037F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7221D-B03E-B1F1-05F3-A93921DC41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A5CC5-83D6-4DAD-994D-CD740F15362B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E9B1D-6E70-0463-5506-413F38A55F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3D2A9-9A7A-BA41-6CC0-EBA2E65CF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1C0E1-239E-457A-9A95-988051D2A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168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B202E0-B6A2-09F7-C0CF-6725E5422D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827FDE9-AF0B-92D6-8C0B-8A9D8D340F95}"/>
              </a:ext>
            </a:extLst>
          </p:cNvPr>
          <p:cNvSpPr/>
          <p:nvPr/>
        </p:nvSpPr>
        <p:spPr>
          <a:xfrm>
            <a:off x="508000" y="457200"/>
            <a:ext cx="2921000" cy="406400"/>
          </a:xfrm>
          <a:prstGeom prst="roundRect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SMART INDIA HACKATHON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EA74D9-CC53-078B-89A4-17ED4EDCAFAA}"/>
              </a:ext>
            </a:extLst>
          </p:cNvPr>
          <p:cNvSpPr txBox="1"/>
          <p:nvPr/>
        </p:nvSpPr>
        <p:spPr>
          <a:xfrm>
            <a:off x="508000" y="1016000"/>
            <a:ext cx="5842000" cy="9541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5600" b="1">
                <a:solidFill>
                  <a:srgbClr val="FF5722"/>
                </a:solidFill>
              </a:rPr>
              <a:t>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0D8F9E-E230-8151-505B-9012E793D734}"/>
              </a:ext>
            </a:extLst>
          </p:cNvPr>
          <p:cNvSpPr txBox="1"/>
          <p:nvPr/>
        </p:nvSpPr>
        <p:spPr>
          <a:xfrm>
            <a:off x="508000" y="2032000"/>
            <a:ext cx="584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</a:rPr>
              <a:t>Autonomous &amp; Remotely-Operated Intelligent Emergency Search-and-Rescue Rover</a:t>
            </a:r>
            <a:endParaRPr lang="en-IN" sz="1500" b="1">
              <a:solidFill>
                <a:srgbClr val="FFFFFF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79AA52-6C69-935E-980B-1645A34DAB43}"/>
              </a:ext>
            </a:extLst>
          </p:cNvPr>
          <p:cNvSpPr/>
          <p:nvPr/>
        </p:nvSpPr>
        <p:spPr>
          <a:xfrm>
            <a:off x="508000" y="2921000"/>
            <a:ext cx="5715000" cy="8382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B300"/>
                </a:solidFill>
              </a:rPr>
              <a:t>🛡️ Zero-Human-Risk First Look</a:t>
            </a:r>
          </a:p>
          <a:p>
            <a:pPr algn="ctr"/>
            <a:r>
              <a:rPr lang="en-US" sz="1000">
                <a:solidFill>
                  <a:srgbClr val="94A3B8"/>
                </a:solidFill>
              </a:rPr>
              <a:t>Scouts collapsed rubble before human responders enter.</a:t>
            </a:r>
            <a:endParaRPr lang="en-IN" sz="1000">
              <a:solidFill>
                <a:srgbClr val="94A3B8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CAE876-A716-3B30-CD64-90E16FC25EF5}"/>
              </a:ext>
            </a:extLst>
          </p:cNvPr>
          <p:cNvSpPr/>
          <p:nvPr/>
        </p:nvSpPr>
        <p:spPr>
          <a:xfrm>
            <a:off x="508000" y="3886200"/>
            <a:ext cx="5715000" cy="8382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B300"/>
                </a:solidFill>
              </a:rPr>
              <a:t>🔥 Dual-Spectrum Vision</a:t>
            </a:r>
          </a:p>
          <a:p>
            <a:pPr algn="ctr"/>
            <a:r>
              <a:rPr lang="en-US" sz="1000">
                <a:solidFill>
                  <a:srgbClr val="94A3B8"/>
                </a:solidFill>
              </a:rPr>
              <a:t>HD Optical + FLIR Thermal Core sees through smoke &amp; dust.</a:t>
            </a:r>
            <a:endParaRPr lang="en-IN" sz="1000">
              <a:solidFill>
                <a:srgbClr val="94A3B8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F025D13-F2F2-D52F-EAC8-F9FC955D8598}"/>
              </a:ext>
            </a:extLst>
          </p:cNvPr>
          <p:cNvSpPr/>
          <p:nvPr/>
        </p:nvSpPr>
        <p:spPr>
          <a:xfrm>
            <a:off x="508000" y="4851400"/>
            <a:ext cx="5715000" cy="8382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B300"/>
                </a:solidFill>
              </a:rPr>
              <a:t>📡 5 km Sub-GHz LoRa Mesh</a:t>
            </a:r>
          </a:p>
          <a:p>
            <a:pPr algn="ctr"/>
            <a:r>
              <a:rPr lang="en-IN" sz="1000">
                <a:solidFill>
                  <a:srgbClr val="94A3B8"/>
                </a:solidFill>
              </a:rPr>
              <a:t>868/915 MHz penetrates concrete where Wi-Fi drops completely.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869A44-6552-3B0D-22E5-9BEB339E2FC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500" y="762000"/>
            <a:ext cx="5143500" cy="5207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93F8B4A-4306-7DFC-9DEF-1939EBDF960D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1D08AE-BECE-D080-AF72-AA215CD50625}"/>
              </a:ext>
            </a:extLst>
          </p:cNvPr>
          <p:cNvSpPr txBox="1"/>
          <p:nvPr/>
        </p:nvSpPr>
        <p:spPr>
          <a:xfrm>
            <a:off x="508000" y="62865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FFB300"/>
                </a:solidFill>
              </a:rPr>
              <a:t>Team: ALPHA-X   |   PS ID: SIH26223   |   GitHub: github.com/harshitsharma120109-web/ARIES-Search-Rescue-Rover</a:t>
            </a:r>
          </a:p>
        </p:txBody>
      </p:sp>
    </p:spTree>
    <p:extLst>
      <p:ext uri="{BB962C8B-B14F-4D97-AF65-F5344CB8AC3E}">
        <p14:creationId xmlns:p14="http://schemas.microsoft.com/office/powerpoint/2010/main" val="772420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32AA00-931B-3FB8-2E57-430DC13895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7300AD-0EAA-C2E1-BA7F-78D57E0307C4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B86998-A89F-D769-0548-4D693637D356}"/>
              </a:ext>
            </a:extLst>
          </p:cNvPr>
          <p:cNvSpPr/>
          <p:nvPr/>
        </p:nvSpPr>
        <p:spPr>
          <a:xfrm>
            <a:off x="304800" y="127000"/>
            <a:ext cx="1397000" cy="406400"/>
          </a:xfrm>
          <a:prstGeom prst="roundRect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</a:rPr>
              <a:t>ALPHA-X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C48695-4105-B955-F1DD-8956B61EF483}"/>
              </a:ext>
            </a:extLst>
          </p:cNvPr>
          <p:cNvSpPr txBox="1"/>
          <p:nvPr/>
        </p:nvSpPr>
        <p:spPr>
          <a:xfrm>
            <a:off x="1841500" y="127000"/>
            <a:ext cx="6858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FFB300"/>
                </a:solidFill>
              </a:rPr>
              <a:t>PROPOSED SOLUTION &amp; INNOVATION ECOSYSTEM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1D6B4D-34FC-5017-4645-940794E98832}"/>
              </a:ext>
            </a:extLst>
          </p:cNvPr>
          <p:cNvSpPr/>
          <p:nvPr/>
        </p:nvSpPr>
        <p:spPr>
          <a:xfrm>
            <a:off x="9017000" y="127000"/>
            <a:ext cx="2870200" cy="406400"/>
          </a:xfrm>
          <a:prstGeom prst="roundRect">
            <a:avLst/>
          </a:prstGeom>
          <a:solidFill>
            <a:srgbClr val="192335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SIH 2026 | PS: SIH26223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56CC03-78F6-8E5E-E7DC-93FA776250F3}"/>
              </a:ext>
            </a:extLst>
          </p:cNvPr>
          <p:cNvSpPr/>
          <p:nvPr/>
        </p:nvSpPr>
        <p:spPr>
          <a:xfrm>
            <a:off x="381000" y="838200"/>
            <a:ext cx="5969000" cy="12065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B300"/>
                </a:solidFill>
              </a:rPr>
              <a:t>👁️ Dual-Spectrum Vision Core</a:t>
            </a:r>
          </a:p>
          <a:p>
            <a:pPr algn="ctr"/>
            <a:r>
              <a:rPr lang="en-US" sz="1000">
                <a:solidFill>
                  <a:srgbClr val="94A3B8"/>
                </a:solidFill>
              </a:rPr>
              <a:t>• HD Optical + FLIR Thermal Core sees through smoke &amp; dust.</a:t>
            </a:r>
          </a:p>
          <a:p>
            <a:pPr algn="ctr"/>
            <a:r>
              <a:rPr lang="en-US"/>
              <a:t>• Detects trapped human body heat (37°C) in zero-visibility.</a:t>
            </a:r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CA992C-BE58-421E-F542-8B3221BED149}"/>
              </a:ext>
            </a:extLst>
          </p:cNvPr>
          <p:cNvSpPr/>
          <p:nvPr/>
        </p:nvSpPr>
        <p:spPr>
          <a:xfrm>
            <a:off x="381000" y="2171700"/>
            <a:ext cx="5969000" cy="12065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B300"/>
                </a:solidFill>
              </a:rPr>
              <a:t>📡 5 km Sub-GHz LoRa Mesh (868/915 MHz)</a:t>
            </a:r>
          </a:p>
          <a:p>
            <a:pPr algn="ctr"/>
            <a:r>
              <a:rPr lang="en-IN" sz="1000">
                <a:solidFill>
                  <a:srgbClr val="94A3B8"/>
                </a:solidFill>
              </a:rPr>
              <a:t>• Subterranean signal penetrates deep concrete rubble.</a:t>
            </a:r>
          </a:p>
          <a:p>
            <a:pPr algn="ctr"/>
            <a:r>
              <a:rPr lang="en-IN"/>
              <a:t>• Maintains unbroken telemetry where Wi-Fi and 4G fail completely.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9B5555-22A2-7EFC-C294-28ECA8EA4654}"/>
              </a:ext>
            </a:extLst>
          </p:cNvPr>
          <p:cNvSpPr/>
          <p:nvPr/>
        </p:nvSpPr>
        <p:spPr>
          <a:xfrm>
            <a:off x="381000" y="3505200"/>
            <a:ext cx="5969000" cy="12065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B300"/>
                </a:solidFill>
              </a:rPr>
              <a:t>🚨 Operator-Verified Emergency SOS</a:t>
            </a:r>
          </a:p>
          <a:p>
            <a:pPr algn="ctr"/>
            <a:r>
              <a:rPr lang="en-US" sz="1000">
                <a:solidFill>
                  <a:srgbClr val="94A3B8"/>
                </a:solidFill>
              </a:rPr>
              <a:t>• Edge AI detects potential survivors &amp; alerts operator.</a:t>
            </a:r>
          </a:p>
          <a:p>
            <a:pPr algn="ctr"/>
            <a:r>
              <a:rPr lang="en-US"/>
              <a:t>• One-click verified SOS dispatch eliminates false emergency alarms.</a:t>
            </a:r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1DC5581-6EE5-A220-F79A-89A48B091B9B}"/>
              </a:ext>
            </a:extLst>
          </p:cNvPr>
          <p:cNvSpPr/>
          <p:nvPr/>
        </p:nvSpPr>
        <p:spPr>
          <a:xfrm>
            <a:off x="381000" y="5016500"/>
            <a:ext cx="11430000" cy="762000"/>
          </a:xfrm>
          <a:prstGeom prst="roundRect">
            <a:avLst/>
          </a:prstGeom>
          <a:solidFill>
            <a:srgbClr val="0F1520"/>
          </a:solidFill>
          <a:ln w="12700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00E5FF"/>
                </a:solidFill>
              </a:rPr>
              <a:t>RECONNAISSANCE PIPELINE:</a:t>
            </a:r>
          </a:p>
          <a:p>
            <a:pPr algn="ctr"/>
            <a:r>
              <a:rPr lang="en-IN" sz="1200" b="1">
                <a:solidFill>
                  <a:srgbClr val="FFFFFF"/>
                </a:solidFill>
              </a:rPr>
              <a:t>1. Rubble Entry  ➔  2. Thermal Heat Spotting  ➔  3. AI Threat Flag  ➔  4. Operator Verify  ➔  5. NDRF Emergency SOS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8B3E0E-88C3-6510-E36B-F0C684E9D6A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838200"/>
            <a:ext cx="5207000" cy="40005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D3B9629-9297-87AC-D971-C19EC0E94B02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508FC1-A76C-B79A-7CD0-5A1195BFEF53}"/>
              </a:ext>
            </a:extLst>
          </p:cNvPr>
          <p:cNvSpPr txBox="1"/>
          <p:nvPr/>
        </p:nvSpPr>
        <p:spPr>
          <a:xfrm>
            <a:off x="381000" y="6286500"/>
            <a:ext cx="1143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B300"/>
                </a:solidFill>
              </a:rPr>
              <a:t>Key Value: Replaces human responders during hazardous initial entry, preventing secondary casualties in the Golden Hour.</a:t>
            </a:r>
            <a:endParaRPr lang="en-IN" sz="1100" b="1">
              <a:solidFill>
                <a:srgbClr val="FFB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163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809A52-A115-9D73-9345-D2696C0846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1A6580-FC1F-843C-919E-F69D093BFCDF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398D6A3-F352-D5AD-F7DB-BDE57E31E0DA}"/>
              </a:ext>
            </a:extLst>
          </p:cNvPr>
          <p:cNvSpPr/>
          <p:nvPr/>
        </p:nvSpPr>
        <p:spPr>
          <a:xfrm>
            <a:off x="304800" y="127000"/>
            <a:ext cx="1397000" cy="406400"/>
          </a:xfrm>
          <a:prstGeom prst="roundRect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</a:rPr>
              <a:t>ALPHA-X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EBAC96-BD00-53C8-EAFE-B8F4FB61512A}"/>
              </a:ext>
            </a:extLst>
          </p:cNvPr>
          <p:cNvSpPr txBox="1"/>
          <p:nvPr/>
        </p:nvSpPr>
        <p:spPr>
          <a:xfrm>
            <a:off x="1841500" y="127000"/>
            <a:ext cx="6858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FFB300"/>
                </a:solidFill>
              </a:rPr>
              <a:t>TECHNICAL APPROACH &amp; DUAL-MCU ARCHITECTURE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17E1474-E34D-1FEB-9FC9-97C577B19E8A}"/>
              </a:ext>
            </a:extLst>
          </p:cNvPr>
          <p:cNvSpPr/>
          <p:nvPr/>
        </p:nvSpPr>
        <p:spPr>
          <a:xfrm>
            <a:off x="9017000" y="127000"/>
            <a:ext cx="2870200" cy="406400"/>
          </a:xfrm>
          <a:prstGeom prst="roundRect">
            <a:avLst/>
          </a:prstGeom>
          <a:solidFill>
            <a:srgbClr val="192335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SIH 2026 | PS: SIH26223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9FD8E5-C2B2-86F1-5932-7D7911B527FF}"/>
              </a:ext>
            </a:extLst>
          </p:cNvPr>
          <p:cNvSpPr/>
          <p:nvPr/>
        </p:nvSpPr>
        <p:spPr>
          <a:xfrm>
            <a:off x="381000" y="838200"/>
            <a:ext cx="5969000" cy="14605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B300"/>
                </a:solidFill>
              </a:rPr>
              <a:t>🧠 Decoupled Dual-MCU Domain Isolation</a:t>
            </a:r>
          </a:p>
          <a:p>
            <a:pPr algn="ctr"/>
            <a:r>
              <a:rPr lang="en-IN" sz="950">
                <a:solidFill>
                  <a:srgbClr val="94A3B8"/>
                </a:solidFill>
              </a:rPr>
              <a:t>• Arduino UNO #1: Dedicated 4-wheel drive &amp; L293D Shield.</a:t>
            </a:r>
          </a:p>
          <a:p>
            <a:pPr algn="ctr"/>
            <a:r>
              <a:rPr lang="en-IN"/>
              <a:t>• Arduino UNO #2: Dedicated sensor hub (Zero back-EMF noise!)</a:t>
            </a:r>
          </a:p>
          <a:p>
            <a:pPr algn="ctr"/>
            <a:r>
              <a:rPr lang="en-IN"/>
              <a:t>• ESP32-CAM: Dedicated 30 FPS Wi-Fi video streaming core.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70E16B-50CF-EF4B-1D1E-5395C33EB052}"/>
              </a:ext>
            </a:extLst>
          </p:cNvPr>
          <p:cNvSpPr/>
          <p:nvPr/>
        </p:nvSpPr>
        <p:spPr>
          <a:xfrm>
            <a:off x="381000" y="2425700"/>
            <a:ext cx="5969000" cy="14605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B300"/>
                </a:solidFill>
              </a:rPr>
              <a:t>📡 Multi-Sensor Reconnaissance Stack</a:t>
            </a:r>
          </a:p>
          <a:p>
            <a:pPr algn="ctr"/>
            <a:r>
              <a:rPr lang="en-IN" sz="950">
                <a:solidFill>
                  <a:srgbClr val="94A3B8"/>
                </a:solidFill>
              </a:rPr>
              <a:t>• MQ-135: Toxic gas (CO / Smoke / Methane) PPM monitoring.</a:t>
            </a:r>
          </a:p>
          <a:p>
            <a:pPr algn="ctr"/>
            <a:r>
              <a:rPr lang="en-IN"/>
              <a:t>• DHT11: Ambient temperature and humidity tracking.</a:t>
            </a:r>
          </a:p>
          <a:p>
            <a:pPr algn="ctr"/>
            <a:r>
              <a:rPr lang="en-IN"/>
              <a:t>• HC-SR04: Ultrasonic obstacle radar (&lt;25 cm auto-brake).</a:t>
            </a:r>
          </a:p>
          <a:p>
            <a:pPr algn="ctr"/>
            <a:r>
              <a:rPr lang="en-IN"/>
              <a:t>• 0.96" OLED: Onboard field HUD for direct responder viewing.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0508671-BAD8-005F-31FD-EBF143AF7E84}"/>
              </a:ext>
            </a:extLst>
          </p:cNvPr>
          <p:cNvSpPr/>
          <p:nvPr/>
        </p:nvSpPr>
        <p:spPr>
          <a:xfrm>
            <a:off x="381000" y="4013200"/>
            <a:ext cx="5969000" cy="14605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B300"/>
                </a:solidFill>
              </a:rPr>
              <a:t>🌐 Tri-Channel Resilient Comms</a:t>
            </a:r>
          </a:p>
          <a:p>
            <a:pPr algn="ctr"/>
            <a:r>
              <a:rPr lang="en-IN" sz="950">
                <a:solidFill>
                  <a:srgbClr val="94A3B8"/>
                </a:solidFill>
              </a:rPr>
              <a:t>• Primary: Wi-Fi 802.11 for low-latency video &amp; controls.</a:t>
            </a:r>
          </a:p>
          <a:p>
            <a:pPr algn="ctr"/>
            <a:r>
              <a:rPr lang="en-IN"/>
              <a:t>• Sub-Surface: 5 km Sub-GHz LoRa Mesh through concrete.</a:t>
            </a:r>
          </a:p>
          <a:p>
            <a:pPr algn="ctr"/>
            <a:r>
              <a:rPr lang="en-IN"/>
              <a:t>• Fallback: SIM800L Cellular GSM SMS for instant disaster alerts.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60A399-9E70-BE51-21F6-AF2DF417561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838200"/>
            <a:ext cx="5207000" cy="4953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E02373E-5D61-BB40-05C3-CC7A0776CB2E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FE275C-212B-2E23-813A-80A23490ECCA}"/>
              </a:ext>
            </a:extLst>
          </p:cNvPr>
          <p:cNvSpPr txBox="1"/>
          <p:nvPr/>
        </p:nvSpPr>
        <p:spPr>
          <a:xfrm>
            <a:off x="381000" y="6286500"/>
            <a:ext cx="1143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B300"/>
                </a:solidFill>
              </a:rPr>
              <a:t>Hardware Domain Isolation: Separating high-current drive motors from sensitive sensors guarantees 100% telemetry uptime.</a:t>
            </a:r>
            <a:endParaRPr lang="en-IN" sz="1100" b="1">
              <a:solidFill>
                <a:srgbClr val="FFB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768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E27865-02F9-4D2F-3DB4-B0851F2038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9FA933-DEA7-0F14-47A7-0971F4AC7E58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F03A7B-648D-2C4E-99A6-9A8ED445EA11}"/>
              </a:ext>
            </a:extLst>
          </p:cNvPr>
          <p:cNvSpPr/>
          <p:nvPr/>
        </p:nvSpPr>
        <p:spPr>
          <a:xfrm>
            <a:off x="304800" y="127000"/>
            <a:ext cx="1397000" cy="406400"/>
          </a:xfrm>
          <a:prstGeom prst="roundRect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</a:rPr>
              <a:t>ALPHA-X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F70ED-F8AA-9639-0D35-127258C0F170}"/>
              </a:ext>
            </a:extLst>
          </p:cNvPr>
          <p:cNvSpPr txBox="1"/>
          <p:nvPr/>
        </p:nvSpPr>
        <p:spPr>
          <a:xfrm>
            <a:off x="1841500" y="127000"/>
            <a:ext cx="6858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FFB300"/>
                </a:solidFill>
              </a:rPr>
              <a:t>FEASIBILITY, VIABILITY &amp; WORKING PROTOTYPE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B013DA-19CD-1520-CCC9-12FB74F805D4}"/>
              </a:ext>
            </a:extLst>
          </p:cNvPr>
          <p:cNvSpPr/>
          <p:nvPr/>
        </p:nvSpPr>
        <p:spPr>
          <a:xfrm>
            <a:off x="9017000" y="127000"/>
            <a:ext cx="2870200" cy="406400"/>
          </a:xfrm>
          <a:prstGeom prst="roundRect">
            <a:avLst/>
          </a:prstGeom>
          <a:solidFill>
            <a:srgbClr val="192335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SIH 2026 | PS: SIH26223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DFB654-8678-DBBD-922A-C98214912984}"/>
              </a:ext>
            </a:extLst>
          </p:cNvPr>
          <p:cNvSpPr/>
          <p:nvPr/>
        </p:nvSpPr>
        <p:spPr>
          <a:xfrm>
            <a:off x="381000" y="8382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B300"/>
                </a:solidFill>
              </a:rPr>
              <a:t>💰 10x–20x Commercial Cost Advantage</a:t>
            </a:r>
          </a:p>
          <a:p>
            <a:pPr algn="ctr"/>
            <a:r>
              <a:rPr lang="en-IN" sz="900">
                <a:solidFill>
                  <a:srgbClr val="94A3B8"/>
                </a:solidFill>
              </a:rPr>
              <a:t>• ARIES Commercial Target: Under ₹50,000 INR (~).</a:t>
            </a:r>
          </a:p>
          <a:p>
            <a:pPr algn="ctr"/>
            <a:r>
              <a:rPr lang="en-IN"/>
              <a:t>• Imported Industrial Search Robots: ₹20–30 Lakhs (,000+).</a:t>
            </a:r>
          </a:p>
          <a:p>
            <a:pPr algn="ctr"/>
            <a:r>
              <a:rPr lang="en-IN"/>
              <a:t>• 100% accessible to district-level municipal rescue squads.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118601-1E52-5F04-32BD-8A3FC15A08BE}"/>
              </a:ext>
            </a:extLst>
          </p:cNvPr>
          <p:cNvSpPr/>
          <p:nvPr/>
        </p:nvSpPr>
        <p:spPr>
          <a:xfrm>
            <a:off x="381000" y="20574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FFB300"/>
                </a:solidFill>
              </a:rPr>
              <a:t>🔬 Physically Validated Proof of Concept</a:t>
            </a:r>
          </a:p>
          <a:p>
            <a:pPr algn="ctr"/>
            <a:r>
              <a:rPr lang="en-US" sz="900">
                <a:solidFill>
                  <a:srgbClr val="94A3B8"/>
                </a:solidFill>
              </a:rPr>
              <a:t>• Scaled working prototype tested with Dual-MCU architecture.</a:t>
            </a:r>
          </a:p>
          <a:p>
            <a:pPr algn="ctr"/>
            <a:r>
              <a:rPr lang="en-US"/>
              <a:t>• Live 30 FPS video streaming, gas telemetry, and auto-stop.&lt;25cm.</a:t>
            </a:r>
          </a:p>
          <a:p>
            <a:pPr algn="ctr"/>
            <a:r>
              <a:rPr lang="en-US"/>
              <a:t>• Real-time Web Command Console with WASD teleoperation.</a:t>
            </a:r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97806BB-0A69-A930-9AB2-CFE7942440B5}"/>
              </a:ext>
            </a:extLst>
          </p:cNvPr>
          <p:cNvSpPr/>
          <p:nvPr/>
        </p:nvSpPr>
        <p:spPr>
          <a:xfrm>
            <a:off x="381000" y="32766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B300"/>
                </a:solidFill>
              </a:rPr>
              <a:t>🛡️ Fail-Safe Redundancy &amp; Signal Fallback</a:t>
            </a:r>
          </a:p>
          <a:p>
            <a:pPr algn="ctr"/>
            <a:r>
              <a:rPr lang="en-IN" sz="900">
                <a:solidFill>
                  <a:srgbClr val="94A3B8"/>
                </a:solidFill>
              </a:rPr>
              <a:t>• Automatic switch to Sub-GHz LoRa Mesh &amp; GSM when Wi-Fi drops.</a:t>
            </a:r>
          </a:p>
          <a:p>
            <a:pPr algn="ctr"/>
            <a:r>
              <a:rPr lang="en-IN"/>
              <a:t>• Ensures unbreakable lifeline even under collapsed slabs.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66BE63-7A48-1D8B-F344-65CC2BC5043B}"/>
              </a:ext>
            </a:extLst>
          </p:cNvPr>
          <p:cNvSpPr/>
          <p:nvPr/>
        </p:nvSpPr>
        <p:spPr>
          <a:xfrm>
            <a:off x="381000" y="44958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FFB300"/>
                </a:solidFill>
              </a:rPr>
              <a:t>⚡ Modular Field-Swappable COTS Parts</a:t>
            </a:r>
          </a:p>
          <a:p>
            <a:pPr algn="ctr"/>
            <a:r>
              <a:rPr lang="en-US" sz="900">
                <a:solidFill>
                  <a:srgbClr val="94A3B8"/>
                </a:solidFill>
              </a:rPr>
              <a:t>• Built using standard off-the-shelf components.</a:t>
            </a:r>
          </a:p>
          <a:p>
            <a:pPr algn="ctr"/>
            <a:r>
              <a:rPr lang="en-US"/>
              <a:t>• Zero expensive overseas repair contracts — field repairable in 5 mins.</a:t>
            </a:r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E7F706-F969-89AD-9C2F-7A262133A2F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838200"/>
            <a:ext cx="5207000" cy="4953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A9C8BCC-2323-51D8-5ADF-E13D7892E807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4A348A-0081-C6A1-A634-72C99426AC9A}"/>
              </a:ext>
            </a:extLst>
          </p:cNvPr>
          <p:cNvSpPr txBox="1"/>
          <p:nvPr/>
        </p:nvSpPr>
        <p:spPr>
          <a:xfrm>
            <a:off x="381000" y="6286500"/>
            <a:ext cx="1143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B300"/>
                </a:solidFill>
              </a:rPr>
              <a:t>Feasibility Proven: Working PoC validates core navigation, hazardous gas scanning, and video streaming on physical hardware.</a:t>
            </a:r>
            <a:endParaRPr lang="en-IN" sz="1100" b="1">
              <a:solidFill>
                <a:srgbClr val="FFB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390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C99066-ADF8-E6D8-5805-09E2A5F0FE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3D2D6A-07C6-0FAA-88E5-BFEF28619D0F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22BF98F-C5F8-F612-E014-DCE4E0D162A7}"/>
              </a:ext>
            </a:extLst>
          </p:cNvPr>
          <p:cNvSpPr/>
          <p:nvPr/>
        </p:nvSpPr>
        <p:spPr>
          <a:xfrm>
            <a:off x="304800" y="127000"/>
            <a:ext cx="1397000" cy="406400"/>
          </a:xfrm>
          <a:prstGeom prst="roundRect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</a:rPr>
              <a:t>ALPHA-X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2DF1C-1EC7-D8DA-31F2-880784877225}"/>
              </a:ext>
            </a:extLst>
          </p:cNvPr>
          <p:cNvSpPr txBox="1"/>
          <p:nvPr/>
        </p:nvSpPr>
        <p:spPr>
          <a:xfrm>
            <a:off x="1841500" y="127000"/>
            <a:ext cx="6858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FFB300"/>
                </a:solidFill>
              </a:rPr>
              <a:t>IMPACT, SOCIAL BENEFITS &amp; TARGET BENEFICIARIES</a:t>
            </a:r>
            <a:endParaRPr lang="en-IN" sz="1500" b="1">
              <a:solidFill>
                <a:srgbClr val="FFB30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85BBFBA-89D5-163D-A340-C1FFE9792C2B}"/>
              </a:ext>
            </a:extLst>
          </p:cNvPr>
          <p:cNvSpPr/>
          <p:nvPr/>
        </p:nvSpPr>
        <p:spPr>
          <a:xfrm>
            <a:off x="9017000" y="127000"/>
            <a:ext cx="2870200" cy="406400"/>
          </a:xfrm>
          <a:prstGeom prst="roundRect">
            <a:avLst/>
          </a:prstGeom>
          <a:solidFill>
            <a:srgbClr val="192335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SIH 2026 | PS: SIH26223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0D6668-9426-4B38-C158-20DF73B7D5F9}"/>
              </a:ext>
            </a:extLst>
          </p:cNvPr>
          <p:cNvSpPr/>
          <p:nvPr/>
        </p:nvSpPr>
        <p:spPr>
          <a:xfrm>
            <a:off x="381000" y="8382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FFB300"/>
                </a:solidFill>
              </a:rPr>
              <a:t>🚒 NDRF &amp; State SDRF Response Teams</a:t>
            </a:r>
          </a:p>
          <a:p>
            <a:pPr algn="ctr"/>
            <a:r>
              <a:rPr lang="en-US" sz="900">
                <a:solidFill>
                  <a:srgbClr val="94A3B8"/>
                </a:solidFill>
              </a:rPr>
              <a:t>• Rapid survivor localization in collapsed buildings &amp; landslides.</a:t>
            </a:r>
          </a:p>
          <a:p>
            <a:pPr algn="ctr"/>
            <a:r>
              <a:rPr lang="en-US"/>
              <a:t>• Eliminates secondary responder casualties during the Golden Hour.</a:t>
            </a:r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C5D840-A86D-59F5-50D4-FCEC79F71B68}"/>
              </a:ext>
            </a:extLst>
          </p:cNvPr>
          <p:cNvSpPr/>
          <p:nvPr/>
        </p:nvSpPr>
        <p:spPr>
          <a:xfrm>
            <a:off x="381000" y="20574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FFB300"/>
                </a:solidFill>
              </a:rPr>
              <a:t>👨‍🚒 Municipal Fire &amp; Emergency Services</a:t>
            </a:r>
          </a:p>
          <a:p>
            <a:pPr algn="ctr"/>
            <a:r>
              <a:rPr lang="en-US" sz="900">
                <a:solidFill>
                  <a:srgbClr val="94A3B8"/>
                </a:solidFill>
              </a:rPr>
              <a:t>• Pre-entry thermal victim search in dense smoke-filled basements.</a:t>
            </a:r>
          </a:p>
          <a:p>
            <a:pPr algn="ctr"/>
            <a:r>
              <a:rPr lang="en-US"/>
              <a:t>• Real-time toxic gas and smoke profiling prevents firefighter injury.</a:t>
            </a:r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E09375-54E5-3F9D-6548-32408FF11241}"/>
              </a:ext>
            </a:extLst>
          </p:cNvPr>
          <p:cNvSpPr/>
          <p:nvPr/>
        </p:nvSpPr>
        <p:spPr>
          <a:xfrm>
            <a:off x="381000" y="32766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B300"/>
                </a:solidFill>
              </a:rPr>
              <a:t>⛏️ Underground Mining &amp; Tunnel Authorities</a:t>
            </a:r>
          </a:p>
          <a:p>
            <a:pPr algn="ctr"/>
            <a:r>
              <a:rPr lang="en-IN" sz="900">
                <a:solidFill>
                  <a:srgbClr val="94A3B8"/>
                </a:solidFill>
              </a:rPr>
              <a:t>• Subterranean toxic gas (CO/Methane) inspection before crew entry.</a:t>
            </a:r>
          </a:p>
          <a:p>
            <a:pPr algn="ctr"/>
            <a:r>
              <a:rPr lang="en-IN"/>
              <a:t>• Assesses structural instability after mine collapses &amp; cave-ins.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E20372-02F2-6025-536C-ECFAAB1A83A8}"/>
              </a:ext>
            </a:extLst>
          </p:cNvPr>
          <p:cNvSpPr/>
          <p:nvPr/>
        </p:nvSpPr>
        <p:spPr>
          <a:xfrm>
            <a:off x="381000" y="44958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FFB300"/>
                </a:solidFill>
              </a:rPr>
              <a:t>🏥 Pre-Staged Medical Emergency Response</a:t>
            </a:r>
          </a:p>
          <a:p>
            <a:pPr algn="ctr"/>
            <a:r>
              <a:rPr lang="en-US" sz="900">
                <a:solidFill>
                  <a:srgbClr val="94A3B8"/>
                </a:solidFill>
              </a:rPr>
              <a:t>• Real-time environmental profiling allows medics to prepare oxygen &amp; burn kits before victim extraction begins.</a:t>
            </a:r>
            <a:endParaRPr lang="en-IN" sz="900">
              <a:solidFill>
                <a:srgbClr val="94A3B8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6C502C-E353-5349-F6AC-D9FD6E92CD4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838200"/>
            <a:ext cx="5207000" cy="4953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5258FD7-E7C7-6B35-2919-C83864E3CBCC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0135DB-268E-D991-DA90-9B72BD75F3D6}"/>
              </a:ext>
            </a:extLst>
          </p:cNvPr>
          <p:cNvSpPr txBox="1"/>
          <p:nvPr/>
        </p:nvSpPr>
        <p:spPr>
          <a:xfrm>
            <a:off x="381000" y="6286500"/>
            <a:ext cx="1143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B300"/>
                </a:solidFill>
              </a:rPr>
              <a:t>Humanitarian Impact: Saving first-responder lives and accelerating survivor rescue during catastrophic national emergencies.</a:t>
            </a:r>
            <a:endParaRPr lang="en-IN" sz="1100" b="1">
              <a:solidFill>
                <a:srgbClr val="FFB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431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6A1580-A8C3-1573-B304-AC88BA0573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F87CEB-0BDE-EE5A-B0DD-676CC0847E09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00FDCE-8C16-C6F5-242C-8CF39541DF6F}"/>
              </a:ext>
            </a:extLst>
          </p:cNvPr>
          <p:cNvSpPr/>
          <p:nvPr/>
        </p:nvSpPr>
        <p:spPr>
          <a:xfrm>
            <a:off x="304800" y="127000"/>
            <a:ext cx="1397000" cy="406400"/>
          </a:xfrm>
          <a:prstGeom prst="roundRect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</a:rPr>
              <a:t>ALPHA-X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555DA5-DDB9-366F-CAD0-0F4D05D3E293}"/>
              </a:ext>
            </a:extLst>
          </p:cNvPr>
          <p:cNvSpPr txBox="1"/>
          <p:nvPr/>
        </p:nvSpPr>
        <p:spPr>
          <a:xfrm>
            <a:off x="1841500" y="127000"/>
            <a:ext cx="6858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FFB300"/>
                </a:solidFill>
              </a:rPr>
              <a:t>RESEARCH, CITATIONS &amp; NATIONAL STANDARDS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8E5E0F-78DC-28AD-033F-CC56BF8C7671}"/>
              </a:ext>
            </a:extLst>
          </p:cNvPr>
          <p:cNvSpPr/>
          <p:nvPr/>
        </p:nvSpPr>
        <p:spPr>
          <a:xfrm>
            <a:off x="9017000" y="127000"/>
            <a:ext cx="2870200" cy="406400"/>
          </a:xfrm>
          <a:prstGeom prst="roundRect">
            <a:avLst/>
          </a:prstGeom>
          <a:solidFill>
            <a:srgbClr val="192335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SIH 2026 | PS: SIH26223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975815-4206-528C-075E-952C5D2BF567}"/>
              </a:ext>
            </a:extLst>
          </p:cNvPr>
          <p:cNvSpPr/>
          <p:nvPr/>
        </p:nvSpPr>
        <p:spPr>
          <a:xfrm>
            <a:off x="381000" y="8382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B300"/>
                </a:solidFill>
              </a:rPr>
              <a:t>📚 Academic USAR Robotics Literature</a:t>
            </a:r>
          </a:p>
          <a:p>
            <a:pPr algn="ctr"/>
            <a:r>
              <a:rPr lang="en-IN" sz="900">
                <a:solidFill>
                  <a:srgbClr val="94A3B8"/>
                </a:solidFill>
              </a:rPr>
              <a:t>• Murphy, R. R. (2014) Disaster Robotics, MIT Press / IEEE Transactions.</a:t>
            </a:r>
          </a:p>
          <a:p>
            <a:pPr algn="ctr"/>
            <a:r>
              <a:rPr lang="en-IN"/>
              <a:t>• Kumar &amp; Sharma (2022) IoT USAR Ground Vehicles, IEEE Xplore / ICRA.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0634E3-6126-1C25-3ED6-9E80F8F76F2E}"/>
              </a:ext>
            </a:extLst>
          </p:cNvPr>
          <p:cNvSpPr/>
          <p:nvPr/>
        </p:nvSpPr>
        <p:spPr>
          <a:xfrm>
            <a:off x="381000" y="20574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B300"/>
                </a:solidFill>
              </a:rPr>
              <a:t>📡 Sub-GHz Radio Mesh &amp; Thermal AI Papers</a:t>
            </a:r>
          </a:p>
          <a:p>
            <a:pPr algn="ctr"/>
            <a:r>
              <a:rPr lang="en-IN" sz="900">
                <a:solidFill>
                  <a:srgbClr val="94A3B8"/>
                </a:solidFill>
              </a:rPr>
              <a:t>• IEEE IoT Journal: Sub-GHz Wireless Mesh for Deep-Rubble Disaster Telemetry.</a:t>
            </a:r>
          </a:p>
          <a:p>
            <a:pPr algn="ctr"/>
            <a:r>
              <a:rPr lang="en-IN"/>
              <a:t>• Journal of Field Robotics (Springer): Multi-Spectral Thermal Fusion in Fire Zones.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C13EDE-5A7C-ECAD-1A45-2391D6AC87D3}"/>
              </a:ext>
            </a:extLst>
          </p:cNvPr>
          <p:cNvSpPr/>
          <p:nvPr/>
        </p:nvSpPr>
        <p:spPr>
          <a:xfrm>
            <a:off x="381000" y="32766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B300"/>
                </a:solidFill>
              </a:rPr>
              <a:t>🏛️ National Disaster Guidelines (Govt. of India)</a:t>
            </a:r>
          </a:p>
          <a:p>
            <a:pPr algn="ctr"/>
            <a:r>
              <a:rPr lang="en-IN" sz="900">
                <a:solidFill>
                  <a:srgbClr val="94A3B8"/>
                </a:solidFill>
              </a:rPr>
              <a:t>• NDMA Guidelines on Urban Search &amp; Rescue (USAR) Equipment Benchmarks.</a:t>
            </a:r>
          </a:p>
          <a:p>
            <a:pPr algn="ctr"/>
            <a:r>
              <a:rPr lang="en-IN"/>
              <a:t>• NDRF Standard Operating Procedures (SOP) for Confined Space Entry.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9CC6438-73C4-6A4E-7BEC-39DEBFF9294B}"/>
              </a:ext>
            </a:extLst>
          </p:cNvPr>
          <p:cNvSpPr/>
          <p:nvPr/>
        </p:nvSpPr>
        <p:spPr>
          <a:xfrm>
            <a:off x="381000" y="44958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B300"/>
                </a:solidFill>
              </a:rPr>
              <a:t>💻 Open-Source GitHub Repository &amp; Live Mission Hub</a:t>
            </a:r>
          </a:p>
          <a:p>
            <a:pPr algn="ctr"/>
            <a:r>
              <a:rPr lang="en-IN" sz="900">
                <a:solidFill>
                  <a:srgbClr val="94A3B8"/>
                </a:solidFill>
              </a:rPr>
              <a:t>• GitHub: github.com/harshitsharma120109-web/ARIES-Search-Rescue-Rover</a:t>
            </a:r>
          </a:p>
          <a:p>
            <a:pPr algn="ctr"/>
            <a:r>
              <a:rPr lang="en-IN"/>
              <a:t>• Live Web Dashboard: joyful-cactus-9b247c.netlify.app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216083-B181-2797-4974-BE22B3C46FE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838200"/>
            <a:ext cx="5207000" cy="4953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1263530-54D4-5CDB-7C8A-3EFF1EAE05D3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2AD74-63E4-34F1-DB96-427BEBD73DFD}"/>
              </a:ext>
            </a:extLst>
          </p:cNvPr>
          <p:cNvSpPr txBox="1"/>
          <p:nvPr/>
        </p:nvSpPr>
        <p:spPr>
          <a:xfrm>
            <a:off x="381000" y="6286500"/>
            <a:ext cx="1143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FFB300"/>
                </a:solidFill>
              </a:rPr>
              <a:t>Official Repo: github.com/harshitsharma120109-web/ARIES-Search-Rescue-Rover   |   Live Console: joyful-cactus-9b247c.netlify.app</a:t>
            </a:r>
          </a:p>
        </p:txBody>
      </p:sp>
    </p:spTree>
    <p:extLst>
      <p:ext uri="{BB962C8B-B14F-4D97-AF65-F5344CB8AC3E}">
        <p14:creationId xmlns:p14="http://schemas.microsoft.com/office/powerpoint/2010/main" val="178897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852</Words>
  <Application>Microsoft Office PowerPoint</Application>
  <PresentationFormat>Custom</PresentationFormat>
  <Paragraphs>91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nandiastram.1201hs@gmail.com</dc:creator>
  <cp:lastModifiedBy>nandiastram.1201hs@gmail.com</cp:lastModifiedBy>
  <cp:revision>1</cp:revision>
  <dcterms:created xsi:type="dcterms:W3CDTF">2026-09-18T09:40:06Z</dcterms:created>
  <dcterms:modified xsi:type="dcterms:W3CDTF">2026-09-18T09:40:06Z</dcterms:modified>
</cp:coreProperties>
</file>