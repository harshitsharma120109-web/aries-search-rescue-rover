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9A24A-6632-5F65-F6D3-64DC3EEC9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4ABC70-AE0D-CE65-3BD2-F8AFCB536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0EB33-52FE-3280-659D-CE8DD325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4C542-496D-48A7-9346-7C289C80FACF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8FCC9-A560-D940-90E0-EF48223AD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749C5-77C7-C492-4B09-F675EDCC6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F1DB-21F3-4B6D-A25E-7FBE60E46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135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6F401-1CC4-4351-B657-491614810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7AB80-CC29-01D3-EB1B-5182F5213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C16F3-FDF7-F008-60F2-EB8F2855F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4C542-496D-48A7-9346-7C289C80FACF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89705-1233-BB42-B71E-BBA3507D9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1B6AA-DD1E-AEB0-CCD7-A947FB6CC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F1DB-21F3-4B6D-A25E-7FBE60E46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510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0596D-D00F-2FDF-B340-A81D0F1AD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0A0B8-F118-F56E-1542-B876931B0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19BA0-8AAA-B106-B3E6-3F98631E3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4C542-496D-48A7-9346-7C289C80FACF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B55AB-D77B-434C-045E-F57F0520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4CA23-5EEE-2AA3-BA35-1F28AB5A3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F1DB-21F3-4B6D-A25E-7FBE60E46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046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7B187-E786-0003-F7C2-75488F46A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46E65-73A5-A15B-16C8-783FDBAA9F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6E2EE8-0060-2EFA-B1DF-E77B04921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B2FD4-E2C1-4009-9312-D21CA5B07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4C542-496D-48A7-9346-7C289C80FACF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85D9B-9C58-9715-605A-F49CAEB48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ACA6C-CE3D-055B-8848-F68D5F50D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F1DB-21F3-4B6D-A25E-7FBE60E46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275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6E547-C471-126D-DB9D-1B669F010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E6C78-A179-2E8F-3620-290DD957E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0FB8B8-887F-FAFA-ACE8-6AD91C3D7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E30F67-0720-23B8-BFEE-AC75D8010E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68B0CC-35D3-9AC3-13EC-5E0370CF8D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077C13-C95B-0871-F50F-2D160C32E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4C542-496D-48A7-9346-7C289C80FACF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457C83-826D-48A5-4DAE-2DD07228A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624FB4-0C3D-CAA3-D11D-760BD9521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F1DB-21F3-4B6D-A25E-7FBE60E46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420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46E05-642F-03D0-816B-2213F1093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957E1A-7486-1B65-E8FF-51883EE90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4C542-496D-48A7-9346-7C289C80FACF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8D348-C4EE-3F0A-D7A7-BCEC9A798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3F8FC-A949-0DD9-4702-E91AB6523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F1DB-21F3-4B6D-A25E-7FBE60E46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244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FB291E-7AF8-2A44-012C-94D391112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4C542-496D-48A7-9346-7C289C80FACF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2B2BC5-2F4C-CDF0-B9F7-D526C8143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1AD28-CDD2-FCAD-8071-E95A30441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F1DB-21F3-4B6D-A25E-7FBE60E46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079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AEE5E-A3DC-117F-7D02-A81D5902E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0453E-DA90-CEA3-4AED-AD744B025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37E5E-9084-3B17-0B3E-23E7A302A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8484D1-045A-3574-D60B-487999F00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4C542-496D-48A7-9346-7C289C80FACF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86563-B260-C3A3-4FC9-6680F9744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7A6CB6-8892-FBA9-7884-8923A9B2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F1DB-21F3-4B6D-A25E-7FBE60E46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352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BF59E-3E14-E2D8-E9DE-026EA3112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F1DB6B-B54F-E836-653C-633FA7D59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75A703-F27B-5E0D-F377-B83026069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D72D1-2760-8862-9EAF-B58EF7E68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4C542-496D-48A7-9346-7C289C80FACF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93E30A-D0EA-85FA-8423-236203BA1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E3AF9D-84D5-6F8D-5DEF-DCFDC45AD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F1DB-21F3-4B6D-A25E-7FBE60E46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507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8527E-2AF6-F2D6-7AB9-BA3903CBA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413D63-7FC8-1E73-BE34-DD74D6297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1D155-F5D6-5958-7401-52F5B1A64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4C542-496D-48A7-9346-7C289C80FACF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EE8ED-42DE-7F0B-28FF-2A0DEC403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5E798-09E3-970C-6AD4-1D093D383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F1DB-21F3-4B6D-A25E-7FBE60E46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991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821910-5F33-7F50-955A-5EDB419BB9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A738CC-7BE8-77E4-7213-E4B3DDEFC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71DE7-5EE6-FB41-BB79-B0789FC7B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4C542-496D-48A7-9346-7C289C80FACF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02B19-9F17-0506-92F6-0B9D09496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A84C6-B0EA-19A8-6357-AB82849F7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F1DB-21F3-4B6D-A25E-7FBE60E46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393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F884C5-8A2A-76A9-553A-A8D944E60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B1E49-DAC4-A149-1343-74C36F2AF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24E69-9D62-54DF-B7C6-BD81B2C0F1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4C542-496D-48A7-9346-7C289C80FACF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1ED65-A6F8-0368-242C-32937F2356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A2EEE-6AD2-9E35-7CF6-909F311EAC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B1F1DB-21F3-4B6D-A25E-7FBE60E46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046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A1287F-7D04-937F-3008-93E7481E50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F82B1D-7415-45E8-B4D7-671A524FC61E}"/>
              </a:ext>
            </a:extLst>
          </p:cNvPr>
          <p:cNvSpPr/>
          <p:nvPr/>
        </p:nvSpPr>
        <p:spPr>
          <a:xfrm>
            <a:off x="508000" y="457200"/>
            <a:ext cx="2921000" cy="406400"/>
          </a:xfrm>
          <a:prstGeom prst="roundRect">
            <a:avLst/>
          </a:prstGeom>
          <a:solidFill>
            <a:srgbClr val="FF57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</a:rPr>
              <a:t>SMART INDIA HACKATHON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1895AE-0D45-F903-BA66-6D17FF1C95F7}"/>
              </a:ext>
            </a:extLst>
          </p:cNvPr>
          <p:cNvSpPr txBox="1"/>
          <p:nvPr/>
        </p:nvSpPr>
        <p:spPr>
          <a:xfrm>
            <a:off x="508000" y="1016000"/>
            <a:ext cx="5842000" cy="95410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5600" b="1">
                <a:solidFill>
                  <a:srgbClr val="FF5722"/>
                </a:solidFill>
              </a:rPr>
              <a:t>ARIES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AE775F-A442-4307-245E-2E04A1F8BA5C}"/>
              </a:ext>
            </a:extLst>
          </p:cNvPr>
          <p:cNvSpPr txBox="1"/>
          <p:nvPr/>
        </p:nvSpPr>
        <p:spPr>
          <a:xfrm>
            <a:off x="508000" y="2032000"/>
            <a:ext cx="584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</a:rPr>
              <a:t>Autonomous &amp; Remotely-Operated Intelligent Emergency Search-and-Rescue Rover</a:t>
            </a:r>
            <a:endParaRPr lang="en-IN" sz="1500" b="1">
              <a:solidFill>
                <a:srgbClr val="FFFFFF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3A4B4A-2C89-711F-7F67-52432BB783A2}"/>
              </a:ext>
            </a:extLst>
          </p:cNvPr>
          <p:cNvSpPr/>
          <p:nvPr/>
        </p:nvSpPr>
        <p:spPr>
          <a:xfrm>
            <a:off x="508000" y="2921000"/>
            <a:ext cx="5715000" cy="8382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B300"/>
                </a:solidFill>
              </a:rPr>
              <a:t>🛡️ Zero-Human-Risk First Look</a:t>
            </a:r>
          </a:p>
          <a:p>
            <a:pPr algn="ctr"/>
            <a:r>
              <a:rPr lang="en-US" sz="1000">
                <a:solidFill>
                  <a:srgbClr val="94A3B8"/>
                </a:solidFill>
              </a:rPr>
              <a:t>Scouts collapsed rubble before human responders enter.</a:t>
            </a:r>
            <a:endParaRPr lang="en-IN" sz="1000">
              <a:solidFill>
                <a:srgbClr val="94A3B8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F5C8DE-772F-72C9-5EDD-93615BF56768}"/>
              </a:ext>
            </a:extLst>
          </p:cNvPr>
          <p:cNvSpPr/>
          <p:nvPr/>
        </p:nvSpPr>
        <p:spPr>
          <a:xfrm>
            <a:off x="508000" y="3886200"/>
            <a:ext cx="5715000" cy="8382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B300"/>
                </a:solidFill>
              </a:rPr>
              <a:t>🔥 Dual-Spectrum Vision</a:t>
            </a:r>
          </a:p>
          <a:p>
            <a:pPr algn="ctr"/>
            <a:r>
              <a:rPr lang="en-US" sz="1000">
                <a:solidFill>
                  <a:srgbClr val="94A3B8"/>
                </a:solidFill>
              </a:rPr>
              <a:t>HD Optical + FLIR Thermal Core sees through smoke &amp; dust.</a:t>
            </a:r>
            <a:endParaRPr lang="en-IN" sz="1000">
              <a:solidFill>
                <a:srgbClr val="94A3B8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FDDF11B-F30B-8E28-22AD-A0B6A5EA5D1C}"/>
              </a:ext>
            </a:extLst>
          </p:cNvPr>
          <p:cNvSpPr/>
          <p:nvPr/>
        </p:nvSpPr>
        <p:spPr>
          <a:xfrm>
            <a:off x="508000" y="4851400"/>
            <a:ext cx="5715000" cy="8382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FFB300"/>
                </a:solidFill>
              </a:rPr>
              <a:t>📡 5 km Sub-GHz LoRa Mesh</a:t>
            </a:r>
          </a:p>
          <a:p>
            <a:pPr algn="ctr"/>
            <a:r>
              <a:rPr lang="en-IN" sz="1000">
                <a:solidFill>
                  <a:srgbClr val="94A3B8"/>
                </a:solidFill>
              </a:rPr>
              <a:t>868/915 MHz penetrates concrete where Wi-Fi drops completely.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EA721F-734B-9416-BB32-BAD3C58BD37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500" y="762000"/>
            <a:ext cx="5143500" cy="5207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B8BE88B-1C17-E173-F177-FF6C0C837780}"/>
              </a:ext>
            </a:extLst>
          </p:cNvPr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C5B903-8FF5-71FE-95C4-E7F1A933D766}"/>
              </a:ext>
            </a:extLst>
          </p:cNvPr>
          <p:cNvSpPr txBox="1"/>
          <p:nvPr/>
        </p:nvSpPr>
        <p:spPr>
          <a:xfrm>
            <a:off x="508000" y="62865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FFB300"/>
                </a:solidFill>
              </a:rPr>
              <a:t>Team: ALPHA-X   |   Theme: Disaster Management   |   PS ID: SIH26223   |   Category: Hardware &amp; Edge AI</a:t>
            </a:r>
            <a:endParaRPr lang="en-IN" sz="1200" b="1">
              <a:solidFill>
                <a:srgbClr val="FFB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244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A755B4-55E5-D98C-125E-1D1577B359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24FABC-3DA9-1EFD-0728-5607C8579B24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96719A-EA26-7759-15DD-546D7985A6E5}"/>
              </a:ext>
            </a:extLst>
          </p:cNvPr>
          <p:cNvSpPr/>
          <p:nvPr/>
        </p:nvSpPr>
        <p:spPr>
          <a:xfrm>
            <a:off x="304800" y="127000"/>
            <a:ext cx="1397000" cy="406400"/>
          </a:xfrm>
          <a:prstGeom prst="roundRect">
            <a:avLst/>
          </a:prstGeom>
          <a:solidFill>
            <a:srgbClr val="FF57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</a:rPr>
              <a:t>ALPHA-X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1F23A1-88DF-BDBD-1B10-3616C8DEA7A8}"/>
              </a:ext>
            </a:extLst>
          </p:cNvPr>
          <p:cNvSpPr txBox="1"/>
          <p:nvPr/>
        </p:nvSpPr>
        <p:spPr>
          <a:xfrm>
            <a:off x="1841500" y="127000"/>
            <a:ext cx="6858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FFB300"/>
                </a:solidFill>
              </a:rPr>
              <a:t>PROPOSED SOLUTION &amp; INNOVATION ECOSYSTEM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4AF43BE-FD4D-72A2-7AE2-25111E45769A}"/>
              </a:ext>
            </a:extLst>
          </p:cNvPr>
          <p:cNvSpPr/>
          <p:nvPr/>
        </p:nvSpPr>
        <p:spPr>
          <a:xfrm>
            <a:off x="9017000" y="127000"/>
            <a:ext cx="2870200" cy="406400"/>
          </a:xfrm>
          <a:prstGeom prst="roundRect">
            <a:avLst/>
          </a:prstGeom>
          <a:solidFill>
            <a:srgbClr val="192335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</a:rPr>
              <a:t>SIH 2026 | PS: SIH26223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0F40899-1000-44B7-4A46-01C0FD06370C}"/>
              </a:ext>
            </a:extLst>
          </p:cNvPr>
          <p:cNvSpPr/>
          <p:nvPr/>
        </p:nvSpPr>
        <p:spPr>
          <a:xfrm>
            <a:off x="381000" y="838200"/>
            <a:ext cx="5969000" cy="12065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B300"/>
                </a:solidFill>
              </a:rPr>
              <a:t>👁️ Dual-Spectrum Vision Core</a:t>
            </a:r>
          </a:p>
          <a:p>
            <a:pPr algn="ctr"/>
            <a:r>
              <a:rPr lang="en-US" sz="1000">
                <a:solidFill>
                  <a:srgbClr val="94A3B8"/>
                </a:solidFill>
              </a:rPr>
              <a:t>• HD Optical + FLIR Thermal Core sees through smoke &amp; dust.</a:t>
            </a:r>
          </a:p>
          <a:p>
            <a:pPr algn="ctr"/>
            <a:r>
              <a:rPr lang="en-US"/>
              <a:t>• Detects trapped human body heat (37°C) in zero-visibility.</a:t>
            </a:r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30BB334-5019-4E18-230B-5EF459415610}"/>
              </a:ext>
            </a:extLst>
          </p:cNvPr>
          <p:cNvSpPr/>
          <p:nvPr/>
        </p:nvSpPr>
        <p:spPr>
          <a:xfrm>
            <a:off x="381000" y="2171700"/>
            <a:ext cx="5969000" cy="12065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FFB300"/>
                </a:solidFill>
              </a:rPr>
              <a:t>📡 5 km Sub-GHz LoRa Mesh (868/915 MHz)</a:t>
            </a:r>
          </a:p>
          <a:p>
            <a:pPr algn="ctr"/>
            <a:r>
              <a:rPr lang="en-IN" sz="1000">
                <a:solidFill>
                  <a:srgbClr val="94A3B8"/>
                </a:solidFill>
              </a:rPr>
              <a:t>• Subterranean signal penetrates deep concrete rubble.</a:t>
            </a:r>
          </a:p>
          <a:p>
            <a:pPr algn="ctr"/>
            <a:r>
              <a:rPr lang="en-IN"/>
              <a:t>• Maintains unbroken telemetry where Wi-Fi and 4G fail completely.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525210-EF62-29F8-3BEB-54C39C168549}"/>
              </a:ext>
            </a:extLst>
          </p:cNvPr>
          <p:cNvSpPr/>
          <p:nvPr/>
        </p:nvSpPr>
        <p:spPr>
          <a:xfrm>
            <a:off x="381000" y="3505200"/>
            <a:ext cx="5969000" cy="12065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B300"/>
                </a:solidFill>
              </a:rPr>
              <a:t>🚨 Operator-Verified Emergency SOS</a:t>
            </a:r>
          </a:p>
          <a:p>
            <a:pPr algn="ctr"/>
            <a:r>
              <a:rPr lang="en-US" sz="1000">
                <a:solidFill>
                  <a:srgbClr val="94A3B8"/>
                </a:solidFill>
              </a:rPr>
              <a:t>• Edge AI detects potential survivors &amp; alerts operator.</a:t>
            </a:r>
          </a:p>
          <a:p>
            <a:pPr algn="ctr"/>
            <a:r>
              <a:rPr lang="en-US"/>
              <a:t>• One-click verified SOS dispatch eliminates false emergency alarms.</a:t>
            </a:r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365571D-8EA6-7D7C-171C-3B430BF20DBD}"/>
              </a:ext>
            </a:extLst>
          </p:cNvPr>
          <p:cNvSpPr/>
          <p:nvPr/>
        </p:nvSpPr>
        <p:spPr>
          <a:xfrm>
            <a:off x="381000" y="5016500"/>
            <a:ext cx="11430000" cy="762000"/>
          </a:xfrm>
          <a:prstGeom prst="roundRect">
            <a:avLst/>
          </a:prstGeom>
          <a:solidFill>
            <a:srgbClr val="0F1520"/>
          </a:solidFill>
          <a:ln w="12700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00E5FF"/>
                </a:solidFill>
              </a:rPr>
              <a:t>RECONNAISSANCE PIPELINE:</a:t>
            </a:r>
          </a:p>
          <a:p>
            <a:pPr algn="ctr"/>
            <a:r>
              <a:rPr lang="en-IN" sz="1200" b="1">
                <a:solidFill>
                  <a:srgbClr val="FFFFFF"/>
                </a:solidFill>
              </a:rPr>
              <a:t>1. Rubble Entry  ➔  2. Thermal Heat Spotting  ➔  3. AI Threat Flag  ➔  4. Operator Verify  ➔  5. NDRF Emergency SOS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DB6333-A513-D618-BE79-F1DAF311633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838200"/>
            <a:ext cx="5207000" cy="40005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8FB1230-6E80-3A4B-E4BD-4D807616E2D9}"/>
              </a:ext>
            </a:extLst>
          </p:cNvPr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774E30-D7F5-8112-026B-68C130B72DA0}"/>
              </a:ext>
            </a:extLst>
          </p:cNvPr>
          <p:cNvSpPr txBox="1"/>
          <p:nvPr/>
        </p:nvSpPr>
        <p:spPr>
          <a:xfrm>
            <a:off x="381000" y="6286500"/>
            <a:ext cx="1143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B300"/>
                </a:solidFill>
              </a:rPr>
              <a:t>Key Value: Replaces human responders during hazardous initial entry, preventing secondary casualties in the Golden Hour.</a:t>
            </a:r>
            <a:endParaRPr lang="en-IN" sz="1100" b="1">
              <a:solidFill>
                <a:srgbClr val="FFB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055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C37D0D-2237-7E1D-AF74-69A3B36FCD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B66828-B719-D29E-2BD0-A6906916EA45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28559DA-2A3B-AA0C-3479-D1FD9EB842B1}"/>
              </a:ext>
            </a:extLst>
          </p:cNvPr>
          <p:cNvSpPr/>
          <p:nvPr/>
        </p:nvSpPr>
        <p:spPr>
          <a:xfrm>
            <a:off x="304800" y="127000"/>
            <a:ext cx="1397000" cy="406400"/>
          </a:xfrm>
          <a:prstGeom prst="roundRect">
            <a:avLst/>
          </a:prstGeom>
          <a:solidFill>
            <a:srgbClr val="FF57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</a:rPr>
              <a:t>ALPHA-X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114DFE-14DC-ADCB-88DA-6D835EF7BE18}"/>
              </a:ext>
            </a:extLst>
          </p:cNvPr>
          <p:cNvSpPr txBox="1"/>
          <p:nvPr/>
        </p:nvSpPr>
        <p:spPr>
          <a:xfrm>
            <a:off x="1841500" y="127000"/>
            <a:ext cx="6858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FFB300"/>
                </a:solidFill>
              </a:rPr>
              <a:t>TECHNICAL APPROACH &amp; DUAL-MCU ARCHITECTURE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BAB04A-1E39-DB54-6B6E-8F4897B82576}"/>
              </a:ext>
            </a:extLst>
          </p:cNvPr>
          <p:cNvSpPr/>
          <p:nvPr/>
        </p:nvSpPr>
        <p:spPr>
          <a:xfrm>
            <a:off x="9017000" y="127000"/>
            <a:ext cx="2870200" cy="406400"/>
          </a:xfrm>
          <a:prstGeom prst="roundRect">
            <a:avLst/>
          </a:prstGeom>
          <a:solidFill>
            <a:srgbClr val="192335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</a:rPr>
              <a:t>SIH 2026 | PS: SIH26223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715DD3-E68F-6DAD-CFA9-2A29040976C7}"/>
              </a:ext>
            </a:extLst>
          </p:cNvPr>
          <p:cNvSpPr/>
          <p:nvPr/>
        </p:nvSpPr>
        <p:spPr>
          <a:xfrm>
            <a:off x="381000" y="838200"/>
            <a:ext cx="5969000" cy="14605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B300"/>
                </a:solidFill>
              </a:rPr>
              <a:t>🧠 Decoupled Dual-MCU Domain Isolation</a:t>
            </a:r>
          </a:p>
          <a:p>
            <a:pPr algn="ctr"/>
            <a:r>
              <a:rPr lang="en-IN" sz="950">
                <a:solidFill>
                  <a:srgbClr val="94A3B8"/>
                </a:solidFill>
              </a:rPr>
              <a:t>• Arduino UNO #1: Dedicated 4-wheel drive &amp; L293D Shield.</a:t>
            </a:r>
          </a:p>
          <a:p>
            <a:pPr algn="ctr"/>
            <a:r>
              <a:rPr lang="en-IN"/>
              <a:t>• Arduino UNO #2: Dedicated sensor hub (Zero back-EMF noise!)</a:t>
            </a:r>
          </a:p>
          <a:p>
            <a:pPr algn="ctr"/>
            <a:r>
              <a:rPr lang="en-IN"/>
              <a:t>• ESP32-CAM: Dedicated 30 FPS Wi-Fi video streaming core.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D9A4F2B-EF56-8955-A19A-DECF96AB67BA}"/>
              </a:ext>
            </a:extLst>
          </p:cNvPr>
          <p:cNvSpPr/>
          <p:nvPr/>
        </p:nvSpPr>
        <p:spPr>
          <a:xfrm>
            <a:off x="381000" y="2425700"/>
            <a:ext cx="5969000" cy="14605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B300"/>
                </a:solidFill>
              </a:rPr>
              <a:t>📡 Multi-Sensor Reconnaissance Stack</a:t>
            </a:r>
          </a:p>
          <a:p>
            <a:pPr algn="ctr"/>
            <a:r>
              <a:rPr lang="en-IN" sz="950">
                <a:solidFill>
                  <a:srgbClr val="94A3B8"/>
                </a:solidFill>
              </a:rPr>
              <a:t>• MQ-135: Toxic gas (CO / Smoke / Methane) PPM monitoring.</a:t>
            </a:r>
          </a:p>
          <a:p>
            <a:pPr algn="ctr"/>
            <a:r>
              <a:rPr lang="en-IN"/>
              <a:t>• DHT11: Ambient temperature and humidity tracking.</a:t>
            </a:r>
          </a:p>
          <a:p>
            <a:pPr algn="ctr"/>
            <a:r>
              <a:rPr lang="en-IN"/>
              <a:t>• HC-SR04: Ultrasonic obstacle radar (&lt;25 cm auto-brake).</a:t>
            </a:r>
          </a:p>
          <a:p>
            <a:pPr algn="ctr"/>
            <a:r>
              <a:rPr lang="en-IN"/>
              <a:t>• 0.96" OLED: Onboard field HUD for direct responder viewing.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FF108B6-C39C-58D1-2A90-121F461ED3A5}"/>
              </a:ext>
            </a:extLst>
          </p:cNvPr>
          <p:cNvSpPr/>
          <p:nvPr/>
        </p:nvSpPr>
        <p:spPr>
          <a:xfrm>
            <a:off x="381000" y="4013200"/>
            <a:ext cx="5969000" cy="14605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B300"/>
                </a:solidFill>
              </a:rPr>
              <a:t>🌐 Tri-Channel Resilient Comms</a:t>
            </a:r>
          </a:p>
          <a:p>
            <a:pPr algn="ctr"/>
            <a:r>
              <a:rPr lang="en-IN" sz="950">
                <a:solidFill>
                  <a:srgbClr val="94A3B8"/>
                </a:solidFill>
              </a:rPr>
              <a:t>• Primary: Wi-Fi 802.11 for low-latency video &amp; controls.</a:t>
            </a:r>
          </a:p>
          <a:p>
            <a:pPr algn="ctr"/>
            <a:r>
              <a:rPr lang="en-IN"/>
              <a:t>• Sub-Surface: 5 km Sub-GHz LoRa Mesh through concrete.</a:t>
            </a:r>
          </a:p>
          <a:p>
            <a:pPr algn="ctr"/>
            <a:r>
              <a:rPr lang="en-IN"/>
              <a:t>• Fallback: SIM800L Cellular GSM SMS for instant disaster alerts.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A6FF30-EB5A-8346-85B6-08057975974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838200"/>
            <a:ext cx="5207000" cy="4953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C14A7EA-1DDB-65DD-3EAE-B6390FB57109}"/>
              </a:ext>
            </a:extLst>
          </p:cNvPr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EA808B-36B6-EC6B-BD62-1BF0C430DD76}"/>
              </a:ext>
            </a:extLst>
          </p:cNvPr>
          <p:cNvSpPr txBox="1"/>
          <p:nvPr/>
        </p:nvSpPr>
        <p:spPr>
          <a:xfrm>
            <a:off x="381000" y="6286500"/>
            <a:ext cx="1143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B300"/>
                </a:solidFill>
              </a:rPr>
              <a:t>Hardware Domain Isolation: Separating high-current drive motors from sensitive sensors guarantees 100% telemetry uptime.</a:t>
            </a:r>
            <a:endParaRPr lang="en-IN" sz="1100" b="1">
              <a:solidFill>
                <a:srgbClr val="FFB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830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566DC3-70AD-9A48-E1D7-88134F66CB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781C8C-487B-D7F8-EAE7-F5CC92C49E8B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A7A9DBB-57A5-0A6C-A5C1-743DB5EAC0F9}"/>
              </a:ext>
            </a:extLst>
          </p:cNvPr>
          <p:cNvSpPr/>
          <p:nvPr/>
        </p:nvSpPr>
        <p:spPr>
          <a:xfrm>
            <a:off x="304800" y="127000"/>
            <a:ext cx="1397000" cy="406400"/>
          </a:xfrm>
          <a:prstGeom prst="roundRect">
            <a:avLst/>
          </a:prstGeom>
          <a:solidFill>
            <a:srgbClr val="FF57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</a:rPr>
              <a:t>ALPHA-X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86A18-CF9F-E025-B1C3-9301EE7D4FA4}"/>
              </a:ext>
            </a:extLst>
          </p:cNvPr>
          <p:cNvSpPr txBox="1"/>
          <p:nvPr/>
        </p:nvSpPr>
        <p:spPr>
          <a:xfrm>
            <a:off x="1841500" y="127000"/>
            <a:ext cx="6858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FFB300"/>
                </a:solidFill>
              </a:rPr>
              <a:t>FEASIBILITY, VIABILITY &amp; WORKING PROTOTYPE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C01312-FDE7-2226-FB5A-3DFCB400F441}"/>
              </a:ext>
            </a:extLst>
          </p:cNvPr>
          <p:cNvSpPr/>
          <p:nvPr/>
        </p:nvSpPr>
        <p:spPr>
          <a:xfrm>
            <a:off x="9017000" y="127000"/>
            <a:ext cx="2870200" cy="406400"/>
          </a:xfrm>
          <a:prstGeom prst="roundRect">
            <a:avLst/>
          </a:prstGeom>
          <a:solidFill>
            <a:srgbClr val="192335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</a:rPr>
              <a:t>SIH 2026 | PS: SIH26223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AAE70A-FBF4-1D5F-F90A-B8DC6D63C2FB}"/>
              </a:ext>
            </a:extLst>
          </p:cNvPr>
          <p:cNvSpPr/>
          <p:nvPr/>
        </p:nvSpPr>
        <p:spPr>
          <a:xfrm>
            <a:off x="381000" y="838200"/>
            <a:ext cx="5969000" cy="11176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B300"/>
                </a:solidFill>
              </a:rPr>
              <a:t>💰 10x–20x Commercial Cost Advantage</a:t>
            </a:r>
          </a:p>
          <a:p>
            <a:pPr algn="ctr"/>
            <a:r>
              <a:rPr lang="en-IN" sz="900">
                <a:solidFill>
                  <a:srgbClr val="94A3B8"/>
                </a:solidFill>
              </a:rPr>
              <a:t>• ARIES Commercial Target: Under ₹50,000 INR (~).</a:t>
            </a:r>
          </a:p>
          <a:p>
            <a:pPr algn="ctr"/>
            <a:r>
              <a:rPr lang="en-IN"/>
              <a:t>• Imported Industrial Search Robots: ₹20–30 Lakhs (,000+).</a:t>
            </a:r>
          </a:p>
          <a:p>
            <a:pPr algn="ctr"/>
            <a:r>
              <a:rPr lang="en-IN"/>
              <a:t>• 100% accessible to district-level municipal rescue squads.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7F60BA3-461B-8121-B5E8-61D8CBFA1BB2}"/>
              </a:ext>
            </a:extLst>
          </p:cNvPr>
          <p:cNvSpPr/>
          <p:nvPr/>
        </p:nvSpPr>
        <p:spPr>
          <a:xfrm>
            <a:off x="381000" y="2057400"/>
            <a:ext cx="5969000" cy="11176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b="1">
                <a:solidFill>
                  <a:srgbClr val="FFB300"/>
                </a:solidFill>
              </a:rPr>
              <a:t>🔬 Physically Validated Proof of Concept</a:t>
            </a:r>
          </a:p>
          <a:p>
            <a:pPr algn="ctr"/>
            <a:r>
              <a:rPr lang="en-US" sz="900">
                <a:solidFill>
                  <a:srgbClr val="94A3B8"/>
                </a:solidFill>
              </a:rPr>
              <a:t>• Scaled working prototype tested with Dual-MCU architecture.</a:t>
            </a:r>
          </a:p>
          <a:p>
            <a:pPr algn="ctr"/>
            <a:r>
              <a:rPr lang="en-US"/>
              <a:t>• Live 30 FPS video streaming, gas telemetry, and auto-stop.&lt;25cm.</a:t>
            </a:r>
          </a:p>
          <a:p>
            <a:pPr algn="ctr"/>
            <a:r>
              <a:rPr lang="en-US"/>
              <a:t>• Real-time Web Command Console with WASD teleoperation.</a:t>
            </a:r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7DFC6C-7AEE-CE87-1152-9B06D87B0EBD}"/>
              </a:ext>
            </a:extLst>
          </p:cNvPr>
          <p:cNvSpPr/>
          <p:nvPr/>
        </p:nvSpPr>
        <p:spPr>
          <a:xfrm>
            <a:off x="381000" y="3276600"/>
            <a:ext cx="5969000" cy="11176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B300"/>
                </a:solidFill>
              </a:rPr>
              <a:t>🛡️ Fail-Safe Redundancy &amp; Signal Fallback</a:t>
            </a:r>
          </a:p>
          <a:p>
            <a:pPr algn="ctr"/>
            <a:r>
              <a:rPr lang="en-IN" sz="900">
                <a:solidFill>
                  <a:srgbClr val="94A3B8"/>
                </a:solidFill>
              </a:rPr>
              <a:t>• Automatic switch to Sub-GHz LoRa Mesh &amp; GSM when Wi-Fi drops.</a:t>
            </a:r>
          </a:p>
          <a:p>
            <a:pPr algn="ctr"/>
            <a:r>
              <a:rPr lang="en-IN"/>
              <a:t>• Ensures unbreakable lifeline even under collapsed slabs.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0D0A1C7-D1CA-7BD9-6727-D8BE55C0C2BE}"/>
              </a:ext>
            </a:extLst>
          </p:cNvPr>
          <p:cNvSpPr/>
          <p:nvPr/>
        </p:nvSpPr>
        <p:spPr>
          <a:xfrm>
            <a:off x="381000" y="4495800"/>
            <a:ext cx="5969000" cy="11176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b="1">
                <a:solidFill>
                  <a:srgbClr val="FFB300"/>
                </a:solidFill>
              </a:rPr>
              <a:t>⚡ Modular Field-Swappable COTS Parts</a:t>
            </a:r>
          </a:p>
          <a:p>
            <a:pPr algn="ctr"/>
            <a:r>
              <a:rPr lang="en-US" sz="900">
                <a:solidFill>
                  <a:srgbClr val="94A3B8"/>
                </a:solidFill>
              </a:rPr>
              <a:t>• Built using standard off-the-shelf components.</a:t>
            </a:r>
          </a:p>
          <a:p>
            <a:pPr algn="ctr"/>
            <a:r>
              <a:rPr lang="en-US"/>
              <a:t>• Zero expensive overseas repair contracts — field repairable in 5 mins.</a:t>
            </a:r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A145BAC-A64A-D866-9C68-3ADA772850F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838200"/>
            <a:ext cx="5207000" cy="4953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E6A8379-E0A9-95E7-E07F-BF8D591EE6DE}"/>
              </a:ext>
            </a:extLst>
          </p:cNvPr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5F2E7A-467B-FEA7-7340-87E579B9E6C3}"/>
              </a:ext>
            </a:extLst>
          </p:cNvPr>
          <p:cNvSpPr txBox="1"/>
          <p:nvPr/>
        </p:nvSpPr>
        <p:spPr>
          <a:xfrm>
            <a:off x="381000" y="6286500"/>
            <a:ext cx="1143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B300"/>
                </a:solidFill>
              </a:rPr>
              <a:t>Feasibility Proven: Working PoC validates core navigation, hazardous gas scanning, and video streaming on physical hardware.</a:t>
            </a:r>
            <a:endParaRPr lang="en-IN" sz="1100" b="1">
              <a:solidFill>
                <a:srgbClr val="FFB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1677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9BF99E-4CE4-08E7-98B6-973C46B3D6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65D179-FBF4-E5A7-E8BF-89B71FBB7B04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E8A32A-D069-BCDA-BF63-1B002338EA69}"/>
              </a:ext>
            </a:extLst>
          </p:cNvPr>
          <p:cNvSpPr/>
          <p:nvPr/>
        </p:nvSpPr>
        <p:spPr>
          <a:xfrm>
            <a:off x="304800" y="127000"/>
            <a:ext cx="1397000" cy="406400"/>
          </a:xfrm>
          <a:prstGeom prst="roundRect">
            <a:avLst/>
          </a:prstGeom>
          <a:solidFill>
            <a:srgbClr val="FF57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</a:rPr>
              <a:t>ALPHA-X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765EBF-7A9E-C512-DF03-3FF0D3901609}"/>
              </a:ext>
            </a:extLst>
          </p:cNvPr>
          <p:cNvSpPr txBox="1"/>
          <p:nvPr/>
        </p:nvSpPr>
        <p:spPr>
          <a:xfrm>
            <a:off x="1841500" y="127000"/>
            <a:ext cx="6858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FFB300"/>
                </a:solidFill>
              </a:rPr>
              <a:t>IMPACT, SOCIAL BENEFITS &amp; TARGET BENEFICIARIES</a:t>
            </a:r>
            <a:endParaRPr lang="en-IN" sz="1500" b="1">
              <a:solidFill>
                <a:srgbClr val="FFB300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BA8A80-4766-C796-AAA8-974950462F81}"/>
              </a:ext>
            </a:extLst>
          </p:cNvPr>
          <p:cNvSpPr/>
          <p:nvPr/>
        </p:nvSpPr>
        <p:spPr>
          <a:xfrm>
            <a:off x="9017000" y="127000"/>
            <a:ext cx="2870200" cy="406400"/>
          </a:xfrm>
          <a:prstGeom prst="roundRect">
            <a:avLst/>
          </a:prstGeom>
          <a:solidFill>
            <a:srgbClr val="192335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</a:rPr>
              <a:t>SIH 2026 | PS: SIH26223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834F694-75AF-ACC3-E4C4-25AB95F990CB}"/>
              </a:ext>
            </a:extLst>
          </p:cNvPr>
          <p:cNvSpPr/>
          <p:nvPr/>
        </p:nvSpPr>
        <p:spPr>
          <a:xfrm>
            <a:off x="381000" y="838200"/>
            <a:ext cx="5969000" cy="11176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b="1">
                <a:solidFill>
                  <a:srgbClr val="FFB300"/>
                </a:solidFill>
              </a:rPr>
              <a:t>🚒 NDRF &amp; State SDRF Response Teams</a:t>
            </a:r>
          </a:p>
          <a:p>
            <a:pPr algn="ctr"/>
            <a:r>
              <a:rPr lang="en-US" sz="900">
                <a:solidFill>
                  <a:srgbClr val="94A3B8"/>
                </a:solidFill>
              </a:rPr>
              <a:t>• Rapid survivor localization in collapsed buildings &amp; landslides.</a:t>
            </a:r>
          </a:p>
          <a:p>
            <a:pPr algn="ctr"/>
            <a:r>
              <a:rPr lang="en-US"/>
              <a:t>• Eliminates secondary responder casualties during the Golden Hour.</a:t>
            </a:r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5E00ED5-1C42-EF65-25A5-6B4D8C8F6619}"/>
              </a:ext>
            </a:extLst>
          </p:cNvPr>
          <p:cNvSpPr/>
          <p:nvPr/>
        </p:nvSpPr>
        <p:spPr>
          <a:xfrm>
            <a:off x="381000" y="2057400"/>
            <a:ext cx="5969000" cy="11176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b="1">
                <a:solidFill>
                  <a:srgbClr val="FFB300"/>
                </a:solidFill>
              </a:rPr>
              <a:t>👨‍🚒 Municipal Fire &amp; Emergency Services</a:t>
            </a:r>
          </a:p>
          <a:p>
            <a:pPr algn="ctr"/>
            <a:r>
              <a:rPr lang="en-US" sz="900">
                <a:solidFill>
                  <a:srgbClr val="94A3B8"/>
                </a:solidFill>
              </a:rPr>
              <a:t>• Pre-entry thermal victim search in dense smoke-filled basements.</a:t>
            </a:r>
          </a:p>
          <a:p>
            <a:pPr algn="ctr"/>
            <a:r>
              <a:rPr lang="en-US"/>
              <a:t>• Real-time toxic gas and smoke profiling prevents firefighter injury.</a:t>
            </a:r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6682726-B5FF-4CEE-2234-16A131EC15AC}"/>
              </a:ext>
            </a:extLst>
          </p:cNvPr>
          <p:cNvSpPr/>
          <p:nvPr/>
        </p:nvSpPr>
        <p:spPr>
          <a:xfrm>
            <a:off x="381000" y="3276600"/>
            <a:ext cx="5969000" cy="11176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B300"/>
                </a:solidFill>
              </a:rPr>
              <a:t>⛏️ Underground Mining &amp; Tunnel Authorities</a:t>
            </a:r>
          </a:p>
          <a:p>
            <a:pPr algn="ctr"/>
            <a:r>
              <a:rPr lang="en-IN" sz="900">
                <a:solidFill>
                  <a:srgbClr val="94A3B8"/>
                </a:solidFill>
              </a:rPr>
              <a:t>• Subterranean toxic gas (CO/Methane) inspection before crew entry.</a:t>
            </a:r>
          </a:p>
          <a:p>
            <a:pPr algn="ctr"/>
            <a:r>
              <a:rPr lang="en-IN"/>
              <a:t>• Assesses structural instability after mine collapses &amp; cave-ins.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4AFB4D9-D2D8-EDD4-D984-8EFBE7442E53}"/>
              </a:ext>
            </a:extLst>
          </p:cNvPr>
          <p:cNvSpPr/>
          <p:nvPr/>
        </p:nvSpPr>
        <p:spPr>
          <a:xfrm>
            <a:off x="381000" y="4495800"/>
            <a:ext cx="5969000" cy="11176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b="1">
                <a:solidFill>
                  <a:srgbClr val="FFB300"/>
                </a:solidFill>
              </a:rPr>
              <a:t>🏥 Pre-Staged Medical Emergency Response</a:t>
            </a:r>
          </a:p>
          <a:p>
            <a:pPr algn="ctr"/>
            <a:r>
              <a:rPr lang="en-US" sz="900">
                <a:solidFill>
                  <a:srgbClr val="94A3B8"/>
                </a:solidFill>
              </a:rPr>
              <a:t>• Real-time environmental profiling allows medics to prepare oxygen &amp; burn kits before victim extraction begins.</a:t>
            </a:r>
            <a:endParaRPr lang="en-IN" sz="900">
              <a:solidFill>
                <a:srgbClr val="94A3B8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55D198C-C22A-2F01-DAB5-F53B19C7EC0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838200"/>
            <a:ext cx="5207000" cy="4953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E994698-0AC9-9E1A-93F3-2095CAD25896}"/>
              </a:ext>
            </a:extLst>
          </p:cNvPr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975C6A-36CB-6150-7D17-99E26F97BBEA}"/>
              </a:ext>
            </a:extLst>
          </p:cNvPr>
          <p:cNvSpPr txBox="1"/>
          <p:nvPr/>
        </p:nvSpPr>
        <p:spPr>
          <a:xfrm>
            <a:off x="381000" y="6286500"/>
            <a:ext cx="1143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B300"/>
                </a:solidFill>
              </a:rPr>
              <a:t>Humanitarian Impact: Saving first-responder lives and accelerating survivor rescue during catastrophic national emergencies.</a:t>
            </a:r>
            <a:endParaRPr lang="en-IN" sz="1100" b="1">
              <a:solidFill>
                <a:srgbClr val="FFB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187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51E884-8046-2C85-8D94-3E84C94C4B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C19AFC-01ED-4E8E-7F1B-EA6420588D5E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D1A8D9B-C629-B756-05EB-8F31803E35F8}"/>
              </a:ext>
            </a:extLst>
          </p:cNvPr>
          <p:cNvSpPr/>
          <p:nvPr/>
        </p:nvSpPr>
        <p:spPr>
          <a:xfrm>
            <a:off x="304800" y="127000"/>
            <a:ext cx="1397000" cy="406400"/>
          </a:xfrm>
          <a:prstGeom prst="roundRect">
            <a:avLst/>
          </a:prstGeom>
          <a:solidFill>
            <a:srgbClr val="FF57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</a:rPr>
              <a:t>ALPHA-X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33D16B-932F-FA31-5DB4-BE1BB2A994E5}"/>
              </a:ext>
            </a:extLst>
          </p:cNvPr>
          <p:cNvSpPr txBox="1"/>
          <p:nvPr/>
        </p:nvSpPr>
        <p:spPr>
          <a:xfrm>
            <a:off x="1841500" y="127000"/>
            <a:ext cx="6858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FFB300"/>
                </a:solidFill>
              </a:rPr>
              <a:t>RESEARCH, CITATIONS &amp; NATIONAL STANDARDS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19BC42-7D24-4BE3-2DE8-3BA127ABB661}"/>
              </a:ext>
            </a:extLst>
          </p:cNvPr>
          <p:cNvSpPr/>
          <p:nvPr/>
        </p:nvSpPr>
        <p:spPr>
          <a:xfrm>
            <a:off x="9017000" y="127000"/>
            <a:ext cx="2870200" cy="406400"/>
          </a:xfrm>
          <a:prstGeom prst="roundRect">
            <a:avLst/>
          </a:prstGeom>
          <a:solidFill>
            <a:srgbClr val="192335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</a:rPr>
              <a:t>SIH 2026 | PS: SIH26223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82A86E-B636-79AF-A574-5619CC4C2722}"/>
              </a:ext>
            </a:extLst>
          </p:cNvPr>
          <p:cNvSpPr/>
          <p:nvPr/>
        </p:nvSpPr>
        <p:spPr>
          <a:xfrm>
            <a:off x="381000" y="838200"/>
            <a:ext cx="5969000" cy="11176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B300"/>
                </a:solidFill>
              </a:rPr>
              <a:t>📚 Academic USAR Robotics Literature</a:t>
            </a:r>
          </a:p>
          <a:p>
            <a:pPr algn="ctr"/>
            <a:r>
              <a:rPr lang="en-IN" sz="900">
                <a:solidFill>
                  <a:srgbClr val="94A3B8"/>
                </a:solidFill>
              </a:rPr>
              <a:t>• Murphy, R. R. (2014) Disaster Robotics, MIT Press / IEEE Transactions.</a:t>
            </a:r>
          </a:p>
          <a:p>
            <a:pPr algn="ctr"/>
            <a:r>
              <a:rPr lang="en-IN"/>
              <a:t>• Kumar &amp; Sharma (2022) IoT USAR Ground Vehicles, IEEE Xplore / ICRA.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B78D743-D96E-06C3-E8F9-D8AF70569A99}"/>
              </a:ext>
            </a:extLst>
          </p:cNvPr>
          <p:cNvSpPr/>
          <p:nvPr/>
        </p:nvSpPr>
        <p:spPr>
          <a:xfrm>
            <a:off x="381000" y="2057400"/>
            <a:ext cx="5969000" cy="11176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B300"/>
                </a:solidFill>
              </a:rPr>
              <a:t>📡 Sub-GHz Radio Mesh &amp; Thermal AI Papers</a:t>
            </a:r>
          </a:p>
          <a:p>
            <a:pPr algn="ctr"/>
            <a:r>
              <a:rPr lang="en-IN" sz="900">
                <a:solidFill>
                  <a:srgbClr val="94A3B8"/>
                </a:solidFill>
              </a:rPr>
              <a:t>• IEEE IoT Journal: Sub-GHz Wireless Mesh for Deep-Rubble Disaster Telemetry.</a:t>
            </a:r>
          </a:p>
          <a:p>
            <a:pPr algn="ctr"/>
            <a:r>
              <a:rPr lang="en-IN"/>
              <a:t>• Journal of Field Robotics (Springer): Multi-Spectral Thermal Fusion in Fire Zones.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36803AC-3CD2-CB7B-1E59-DFC46195C823}"/>
              </a:ext>
            </a:extLst>
          </p:cNvPr>
          <p:cNvSpPr/>
          <p:nvPr/>
        </p:nvSpPr>
        <p:spPr>
          <a:xfrm>
            <a:off x="381000" y="3276600"/>
            <a:ext cx="5969000" cy="11176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B300"/>
                </a:solidFill>
              </a:rPr>
              <a:t>🏛️ National Disaster Guidelines (Govt. of India)</a:t>
            </a:r>
          </a:p>
          <a:p>
            <a:pPr algn="ctr"/>
            <a:r>
              <a:rPr lang="en-IN" sz="900">
                <a:solidFill>
                  <a:srgbClr val="94A3B8"/>
                </a:solidFill>
              </a:rPr>
              <a:t>• NDMA Guidelines on Urban Search &amp; Rescue (USAR) Equipment Benchmarks.</a:t>
            </a:r>
          </a:p>
          <a:p>
            <a:pPr algn="ctr"/>
            <a:r>
              <a:rPr lang="en-IN"/>
              <a:t>• NDRF Standard Operating Procedures (SOP) for Confined Space Entry.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C6FBB9F-4834-E6BB-0C43-66F7817C0815}"/>
              </a:ext>
            </a:extLst>
          </p:cNvPr>
          <p:cNvSpPr/>
          <p:nvPr/>
        </p:nvSpPr>
        <p:spPr>
          <a:xfrm>
            <a:off x="381000" y="4495800"/>
            <a:ext cx="5969000" cy="1117600"/>
          </a:xfrm>
          <a:prstGeom prst="roundRect">
            <a:avLst/>
          </a:prstGeom>
          <a:solidFill>
            <a:srgbClr val="131B28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50" b="1">
                <a:solidFill>
                  <a:srgbClr val="FFB300"/>
                </a:solidFill>
              </a:rPr>
              <a:t>⚙️ Industry Protocols &amp; Communication Standards</a:t>
            </a:r>
          </a:p>
          <a:p>
            <a:pPr algn="ctr"/>
            <a:r>
              <a:rPr lang="en-IN" sz="900">
                <a:solidFill>
                  <a:srgbClr val="94A3B8"/>
                </a:solidFill>
              </a:rPr>
              <a:t>• LoRa Alliance: LoRaWAN Sub-GHz Mesh Specifications (868/915 MHz).</a:t>
            </a:r>
          </a:p>
          <a:p>
            <a:pPr algn="ctr"/>
            <a:r>
              <a:rPr lang="en-IN"/>
              <a:t>• 3GPP TS 27.007: Cellular AT Command Standard for Emergency Alert Dispatch.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01CA02-A9DB-0D67-724E-A71C4A18C2B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838200"/>
            <a:ext cx="5207000" cy="4953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09909A8-6C41-82B0-4D06-0C3340B4ED98}"/>
              </a:ext>
            </a:extLst>
          </p:cNvPr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A1E966-DBF9-C3A3-F683-4E8DB31E5EF3}"/>
              </a:ext>
            </a:extLst>
          </p:cNvPr>
          <p:cNvSpPr txBox="1"/>
          <p:nvPr/>
        </p:nvSpPr>
        <p:spPr>
          <a:xfrm>
            <a:off x="381000" y="6286500"/>
            <a:ext cx="1143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B300"/>
                </a:solidFill>
              </a:rPr>
              <a:t>Grounded in Authoritative Standards: Aligned with NDMA national safety benchmarks and peer-reviewed USAR robotics research.</a:t>
            </a:r>
            <a:endParaRPr lang="en-IN" sz="1100" b="1">
              <a:solidFill>
                <a:srgbClr val="FFB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62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856</Words>
  <Application>Microsoft Office PowerPoint</Application>
  <PresentationFormat>Custom</PresentationFormat>
  <Paragraphs>91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nandiastram.1201hs@gmail.com</dc:creator>
  <cp:lastModifiedBy>nandiastram.1201hs@gmail.com</cp:lastModifiedBy>
  <cp:revision>1</cp:revision>
  <dcterms:created xsi:type="dcterms:W3CDTF">2026-09-02T13:21:00Z</dcterms:created>
  <dcterms:modified xsi:type="dcterms:W3CDTF">2026-09-02T13:21:00Z</dcterms:modified>
</cp:coreProperties>
</file>