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A546-182A-9920-57AC-248B41567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BAD56-7E9C-57D0-F220-D95F9CD0F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44202-C6C8-663B-D143-1309DB70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09632-54E1-B0CA-315C-AAEBF36B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77178-07D7-A458-9DB3-9412D9FB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3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4038-7221-01CD-D1D0-47A55905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B2D6-498C-F122-075A-C49A6B51D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54D1-16CB-FB82-4C9B-F426A1D8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8C5D-0308-9312-C4ED-416E30A5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D205-EAB2-CD3F-9391-B2B270E2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8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24C6-D6CE-1A7B-7523-2BE688BA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38003-F401-876F-1AA7-4972809A3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8EE4-DA5E-D35C-8BCD-E25F20AB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CDFE-7345-4CCC-BF74-6370C7C3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E926-2828-D46D-88D7-A4A4BAC9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47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68A3-C2E0-E751-5A82-29637DFAE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2FF68-6DDA-3CDC-577D-60B1A0F11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A6A0E-3FCB-3C78-087C-08B0FED00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8B9B1-E6F0-1CC0-12FF-89E11D226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38D3F-4A10-61D7-8D7D-854B8981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993E0-E66C-322A-8470-908B7567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32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0935-1BD8-8815-608A-02C3A45C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C779-7131-7ED0-AD44-428A7A864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BAC99-EE3A-DFE7-D506-ABC0CFF4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3AD03-3D37-E0EA-3DAB-36C70A4CE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5AC82-0E9F-B84B-1E56-F39C03B5B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72B8D-A652-E478-981B-FD9C68E2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C5D68-787D-4B72-A7C7-79D72F88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53F20-7A65-03DC-1632-3E650F57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7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9AED-5F0C-7E8F-B90A-0F03DB6E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B3161-0F3B-CD43-58F9-5D8ADA26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E6C82-613B-3954-1E72-47EDA82F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CC35F-4FF4-D04D-EB71-B4805A9F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3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88CE5-8CFC-2B38-0218-0C8C9737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2D5BD-6BF0-1117-1EAE-5D108D1C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6F6F-A68D-39B3-E288-4879216F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26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6EAB-A5DC-2911-E81F-F589A9CD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FE65-BDF1-B0AD-AC26-C7EABEA2C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C3178-D086-ED98-B594-E1D41B5B7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04FB9-1733-9579-5171-FE271245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0E6F9-D73A-2CE0-F242-15FA6C10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587DE-753E-488C-0887-C53D354E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2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39AD-D0B3-9FA7-22F6-D29F91B8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B5792-B172-3444-2EEC-69B604F86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2BFD6-9564-9567-7949-1F92D6AAA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9A99F-E46E-4004-D32C-11BA69D5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8B4A1-662D-7FB9-802F-BDB9A7FC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21144-7042-E879-2A84-FF4BC618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84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4186-E284-61EF-DB0E-925BCAA2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9F1A8-AE87-592B-4F3A-D7567898C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054D-1D10-3105-2FF4-0E609D05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A3F4-194B-E970-B7B9-10691E34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7F84-FCB4-289D-9CD9-632774B5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5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1C2E6-2B4A-9253-B5D8-5D504525A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DEC13-2D0C-3AB2-AA9E-150412E87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8BD6A-3BF1-5E5C-6305-2AF642B9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967-6DBF-F957-6711-E70E7527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28018-2339-5F40-72AF-8EF8CDCE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66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D05E8-D09F-417B-ED1D-F06FBC94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6EDB5-617F-6F93-DF34-31EC4FB62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2379-D185-D11C-447B-AD1658211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DE63-4760-4084-83C3-3B82972A49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9CFA-B621-FCFB-F351-A364BC914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40BB5-B7EA-0DC3-1691-08C672834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DABD3-DE51-4B79-AB05-973639F5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24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30A3DA-FFF4-4972-20A1-49F4B62EB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2E7E9F-D315-6F54-344F-D1572E5D6D23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3D9903-4A00-C790-A9E0-35FF29144B41}"/>
              </a:ext>
            </a:extLst>
          </p:cNvPr>
          <p:cNvSpPr/>
          <p:nvPr/>
        </p:nvSpPr>
        <p:spPr>
          <a:xfrm>
            <a:off x="254000" y="1016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9F586-EF10-93B4-58CC-D9AED45CEE8F}"/>
              </a:ext>
            </a:extLst>
          </p:cNvPr>
          <p:cNvSpPr txBox="1"/>
          <p:nvPr/>
        </p:nvSpPr>
        <p:spPr>
          <a:xfrm>
            <a:off x="1778000" y="1016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FB300"/>
                </a:solidFill>
              </a:rPr>
              <a:t>ARIES TECHNICAL ARCHITECTURE &amp; DATA PIPELINE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CD768E-E7B5-8234-1A9A-9821BEFE1D1F}"/>
              </a:ext>
            </a:extLst>
          </p:cNvPr>
          <p:cNvSpPr/>
          <p:nvPr/>
        </p:nvSpPr>
        <p:spPr>
          <a:xfrm>
            <a:off x="8636000" y="101600"/>
            <a:ext cx="33020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FFFF"/>
                </a:solidFill>
              </a:rPr>
              <a:t>SIH26223 | METHODOLOGY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6A97B-EBE9-901E-2239-E784F5F79442}"/>
              </a:ext>
            </a:extLst>
          </p:cNvPr>
          <p:cNvSpPr txBox="1"/>
          <p:nvPr/>
        </p:nvSpPr>
        <p:spPr>
          <a:xfrm>
            <a:off x="254000" y="660400"/>
            <a:ext cx="635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50" b="1">
                <a:solidFill>
                  <a:srgbClr val="00E5FF"/>
                </a:solidFill>
              </a:rPr>
              <a:t>LAYER 1: SENSOR PERCEPTION &amp; DUAL-MCU EDGE CONTROLLERS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FF4038-A28E-7586-E73C-00D5A7044733}"/>
              </a:ext>
            </a:extLst>
          </p:cNvPr>
          <p:cNvSpPr/>
          <p:nvPr/>
        </p:nvSpPr>
        <p:spPr>
          <a:xfrm>
            <a:off x="2540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0E06C7-EF38-E2D5-76EF-9F62E1A1AC85}"/>
              </a:ext>
            </a:extLst>
          </p:cNvPr>
          <p:cNvSpPr/>
          <p:nvPr/>
        </p:nvSpPr>
        <p:spPr>
          <a:xfrm>
            <a:off x="381000" y="99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72F36-0EDB-92FA-0B45-AD53CC4BD5CD}"/>
              </a:ext>
            </a:extLst>
          </p:cNvPr>
          <p:cNvSpPr txBox="1"/>
          <p:nvPr/>
        </p:nvSpPr>
        <p:spPr>
          <a:xfrm>
            <a:off x="3556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👁️ Perception &amp; Biometrics</a:t>
            </a:r>
          </a:p>
          <a:p>
            <a:r>
              <a:rPr lang="en-IN" sz="950">
                <a:solidFill>
                  <a:srgbClr val="D4E0ED"/>
                </a:solidFill>
              </a:rPr>
              <a:t>• Dual Optical + FLIR Thermal Core (zero-visibility).</a:t>
            </a:r>
          </a:p>
          <a:p>
            <a:r>
              <a:rPr lang="en-IN" sz="950">
                <a:solidFill>
                  <a:srgbClr val="D4E0ED"/>
                </a:solidFill>
              </a:rPr>
              <a:t>• MAX30102: Survivor Heartbeat (BPM) &amp; SpO2.</a:t>
            </a:r>
          </a:p>
          <a:p>
            <a:r>
              <a:rPr lang="en-IN" sz="950">
                <a:solidFill>
                  <a:srgbClr val="D4E0ED"/>
                </a:solidFill>
              </a:rPr>
              <a:t>• MQ-135 Gas + DHT11 Climate + BMP280 Barometer.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9EFC2D61-7CD7-9D4D-3E4A-9E021FCDD778}"/>
              </a:ext>
            </a:extLst>
          </p:cNvPr>
          <p:cNvSpPr/>
          <p:nvPr/>
        </p:nvSpPr>
        <p:spPr>
          <a:xfrm>
            <a:off x="3949700" y="1905000"/>
            <a:ext cx="254000" cy="190500"/>
          </a:xfrm>
          <a:prstGeom prst="can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C6C544-D70B-B8B3-E47B-95F0BA882699}"/>
              </a:ext>
            </a:extLst>
          </p:cNvPr>
          <p:cNvSpPr/>
          <p:nvPr/>
        </p:nvSpPr>
        <p:spPr>
          <a:xfrm>
            <a:off x="42672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28F275-21E6-274D-4C2E-BE178CA028A1}"/>
              </a:ext>
            </a:extLst>
          </p:cNvPr>
          <p:cNvSpPr/>
          <p:nvPr/>
        </p:nvSpPr>
        <p:spPr>
          <a:xfrm>
            <a:off x="4394200" y="99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1FB08-7D32-CF3D-E34F-A3906ACE5A6D}"/>
              </a:ext>
            </a:extLst>
          </p:cNvPr>
          <p:cNvSpPr txBox="1"/>
          <p:nvPr/>
        </p:nvSpPr>
        <p:spPr>
          <a:xfrm>
            <a:off x="43688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⚙️ Dual-MCU Domain Isolation</a:t>
            </a:r>
          </a:p>
          <a:p>
            <a:r>
              <a:rPr lang="en-IN" sz="950">
                <a:solidFill>
                  <a:srgbClr val="D4E0ED"/>
                </a:solidFill>
              </a:rPr>
              <a:t>• Arduino #1: 4WD Motors &amp; L293D Shield (Isolated).</a:t>
            </a:r>
          </a:p>
          <a:p>
            <a:r>
              <a:rPr lang="en-IN" sz="950">
                <a:solidFill>
                  <a:srgbClr val="D4E0ED"/>
                </a:solidFill>
              </a:rPr>
              <a:t>• Arduino #2: Clean Sensor Hub (Zero back-EMF noise).</a:t>
            </a:r>
          </a:p>
          <a:p>
            <a:r>
              <a:rPr lang="en-IN" sz="950">
                <a:solidFill>
                  <a:srgbClr val="D4E0ED"/>
                </a:solidFill>
              </a:rPr>
              <a:t>• HC-SR04 Radar: Hardware Auto-Brake (&lt;25 cm).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C3F5ADA0-C3D5-BEBE-B6CE-6C255B20F0D4}"/>
              </a:ext>
            </a:extLst>
          </p:cNvPr>
          <p:cNvSpPr/>
          <p:nvPr/>
        </p:nvSpPr>
        <p:spPr>
          <a:xfrm>
            <a:off x="7962900" y="1905000"/>
            <a:ext cx="254000" cy="190500"/>
          </a:xfrm>
          <a:prstGeom prst="can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E910E2-EEBC-1BBF-5CA3-C6DBB1CC6F81}"/>
              </a:ext>
            </a:extLst>
          </p:cNvPr>
          <p:cNvSpPr/>
          <p:nvPr/>
        </p:nvSpPr>
        <p:spPr>
          <a:xfrm>
            <a:off x="82804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808F1E-7F2B-776D-033D-12D7380E79FF}"/>
              </a:ext>
            </a:extLst>
          </p:cNvPr>
          <p:cNvSpPr/>
          <p:nvPr/>
        </p:nvSpPr>
        <p:spPr>
          <a:xfrm>
            <a:off x="8407400" y="99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DBB48E-4F71-D4E3-C335-FDD3E44600A9}"/>
              </a:ext>
            </a:extLst>
          </p:cNvPr>
          <p:cNvSpPr txBox="1"/>
          <p:nvPr/>
        </p:nvSpPr>
        <p:spPr>
          <a:xfrm>
            <a:off x="83820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🧠 Edge AI &amp; Python Inference</a:t>
            </a:r>
          </a:p>
          <a:p>
            <a:r>
              <a:rPr lang="en-IN" sz="950">
                <a:solidFill>
                  <a:srgbClr val="D4E0ED"/>
                </a:solidFill>
              </a:rPr>
              <a:t>• ESP32 Core: Dedicated 30 FPS Wi-Fi stream.</a:t>
            </a:r>
          </a:p>
          <a:p>
            <a:r>
              <a:rPr lang="en-IN" sz="950">
                <a:solidFill>
                  <a:srgbClr val="D4E0ED"/>
                </a:solidFill>
              </a:rPr>
              <a:t>• Python / OpenCV &amp; YOLO: Real-time person detection.</a:t>
            </a:r>
          </a:p>
          <a:p>
            <a:r>
              <a:rPr lang="en-IN" sz="950">
                <a:solidFill>
                  <a:srgbClr val="D4E0ED"/>
                </a:solidFill>
              </a:rPr>
              <a:t>• 0.96" OLED: Onboard field HUD for responders.</a:t>
            </a: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71EF2DDE-83F4-A4EA-BA5B-72ACA296B067}"/>
              </a:ext>
            </a:extLst>
          </p:cNvPr>
          <p:cNvSpPr/>
          <p:nvPr/>
        </p:nvSpPr>
        <p:spPr>
          <a:xfrm rot="5400000">
            <a:off x="10058400" y="3149600"/>
            <a:ext cx="190500" cy="2540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9BF94-F181-9876-304C-5DC0C1372211}"/>
              </a:ext>
            </a:extLst>
          </p:cNvPr>
          <p:cNvSpPr txBox="1"/>
          <p:nvPr/>
        </p:nvSpPr>
        <p:spPr>
          <a:xfrm>
            <a:off x="254000" y="3200400"/>
            <a:ext cx="635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b="1">
                <a:solidFill>
                  <a:srgbClr val="00E5FF"/>
                </a:solidFill>
              </a:rPr>
              <a:t>LAYER 2: HYBRID COMMS, WEB CONSOLE &amp; OPERATOR-VERIFIED SOS</a:t>
            </a:r>
            <a:endParaRPr lang="en-IN" sz="950" b="1">
              <a:solidFill>
                <a:srgbClr val="00E5FF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A38608-1CC8-15F9-DB24-EF21EBC7CE39}"/>
              </a:ext>
            </a:extLst>
          </p:cNvPr>
          <p:cNvSpPr/>
          <p:nvPr/>
        </p:nvSpPr>
        <p:spPr>
          <a:xfrm>
            <a:off x="2540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F44A56-D5B9-2A11-77E0-46A8F41BC58B}"/>
              </a:ext>
            </a:extLst>
          </p:cNvPr>
          <p:cNvSpPr/>
          <p:nvPr/>
        </p:nvSpPr>
        <p:spPr>
          <a:xfrm>
            <a:off x="381000" y="353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56B69-F284-5C39-B0C9-42210554B210}"/>
              </a:ext>
            </a:extLst>
          </p:cNvPr>
          <p:cNvSpPr txBox="1"/>
          <p:nvPr/>
        </p:nvSpPr>
        <p:spPr>
          <a:xfrm>
            <a:off x="3556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🚨 Verified SOS Dispatch</a:t>
            </a:r>
          </a:p>
          <a:p>
            <a:r>
              <a:rPr lang="en-US" sz="950">
                <a:solidFill>
                  <a:srgbClr val="D4E0ED"/>
                </a:solidFill>
              </a:rPr>
              <a:t>• Operator verifies thermal target with one-click.</a:t>
            </a:r>
          </a:p>
          <a:p>
            <a:r>
              <a:rPr lang="en-US" sz="950">
                <a:solidFill>
                  <a:srgbClr val="D4E0ED"/>
                </a:solidFill>
              </a:rPr>
              <a:t>• Instant SOS beacon sent over LoRa mesh &amp; GSM.</a:t>
            </a:r>
          </a:p>
          <a:p>
            <a:r>
              <a:rPr lang="en-US" sz="950">
                <a:solidFill>
                  <a:srgbClr val="D4E0ED"/>
                </a:solidFill>
              </a:rPr>
              <a:t>• 100% Elimination of False Alarms.</a:t>
            </a:r>
            <a:endParaRPr lang="en-IN" sz="950">
              <a:solidFill>
                <a:srgbClr val="D4E0ED"/>
              </a:solidFill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734570FA-0EF0-2B00-3145-8EE0939DC5A2}"/>
              </a:ext>
            </a:extLst>
          </p:cNvPr>
          <p:cNvSpPr/>
          <p:nvPr/>
        </p:nvSpPr>
        <p:spPr>
          <a:xfrm rot="10800000">
            <a:off x="3949700" y="4445000"/>
            <a:ext cx="254000" cy="1905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777BD2-DA88-D1F3-638C-B484E5B895EF}"/>
              </a:ext>
            </a:extLst>
          </p:cNvPr>
          <p:cNvSpPr/>
          <p:nvPr/>
        </p:nvSpPr>
        <p:spPr>
          <a:xfrm>
            <a:off x="42672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CCAAAA6-C12E-C51F-85D3-23902FAE11BF}"/>
              </a:ext>
            </a:extLst>
          </p:cNvPr>
          <p:cNvSpPr/>
          <p:nvPr/>
        </p:nvSpPr>
        <p:spPr>
          <a:xfrm>
            <a:off x="4394200" y="353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F41F15-B7EF-30B2-FCF8-C620E93DC8A4}"/>
              </a:ext>
            </a:extLst>
          </p:cNvPr>
          <p:cNvSpPr txBox="1"/>
          <p:nvPr/>
        </p:nvSpPr>
        <p:spPr>
          <a:xfrm>
            <a:off x="43688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💻 Incident Command Console</a:t>
            </a:r>
          </a:p>
          <a:p>
            <a:r>
              <a:rPr lang="en-IN" sz="950">
                <a:solidFill>
                  <a:srgbClr val="D4E0ED"/>
                </a:solidFill>
              </a:rPr>
              <a:t>• HTML5 / WebSerial / WebSockets Live Console.</a:t>
            </a:r>
          </a:p>
          <a:p>
            <a:r>
              <a:rPr lang="en-IN" sz="950">
                <a:solidFill>
                  <a:srgbClr val="D4E0ED"/>
                </a:solidFill>
              </a:rPr>
              <a:t>• Real-time HUD: Gas PPM, Temp, Tilt &amp; Sonar dials.</a:t>
            </a:r>
          </a:p>
          <a:p>
            <a:r>
              <a:rPr lang="en-IN" sz="950">
                <a:solidFill>
                  <a:srgbClr val="D4E0ED"/>
                </a:solidFill>
              </a:rPr>
              <a:t>• WASD Teleoperation &amp; Remote Emergency Trigger.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E104B8E6-F9D9-7B62-9BFD-E104632AB3BE}"/>
              </a:ext>
            </a:extLst>
          </p:cNvPr>
          <p:cNvSpPr/>
          <p:nvPr/>
        </p:nvSpPr>
        <p:spPr>
          <a:xfrm rot="10800000">
            <a:off x="7962900" y="4445000"/>
            <a:ext cx="254000" cy="1905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DB1FC4-E48C-AA13-F959-EA0A8597CE46}"/>
              </a:ext>
            </a:extLst>
          </p:cNvPr>
          <p:cNvSpPr/>
          <p:nvPr/>
        </p:nvSpPr>
        <p:spPr>
          <a:xfrm>
            <a:off x="82804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74AA54-EA68-48F0-0902-125DB40456FB}"/>
              </a:ext>
            </a:extLst>
          </p:cNvPr>
          <p:cNvSpPr/>
          <p:nvPr/>
        </p:nvSpPr>
        <p:spPr>
          <a:xfrm>
            <a:off x="8407400" y="3530600"/>
            <a:ext cx="8890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STAGE 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0A8955-6B06-A732-0BC3-324A36D4CC61}"/>
              </a:ext>
            </a:extLst>
          </p:cNvPr>
          <p:cNvSpPr txBox="1"/>
          <p:nvPr/>
        </p:nvSpPr>
        <p:spPr>
          <a:xfrm>
            <a:off x="83820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📡 Hybrid Resilient Comms</a:t>
            </a:r>
          </a:p>
          <a:p>
            <a:r>
              <a:rPr lang="en-IN" sz="950">
                <a:solidFill>
                  <a:srgbClr val="D4E0ED"/>
                </a:solidFill>
              </a:rPr>
              <a:t>• 5 km Sub-GHz LoRa Mesh (868/915 MHz) in rubble.</a:t>
            </a:r>
          </a:p>
          <a:p>
            <a:r>
              <a:rPr lang="en-IN" sz="950">
                <a:solidFill>
                  <a:srgbClr val="D4E0ED"/>
                </a:solidFill>
              </a:rPr>
              <a:t>• Wi-Fi 802.11 b/g/n: Low-latency video streaming.</a:t>
            </a:r>
          </a:p>
          <a:p>
            <a:r>
              <a:rPr lang="en-IN" sz="950">
                <a:solidFill>
                  <a:srgbClr val="D4E0ED"/>
                </a:solidFill>
              </a:rPr>
              <a:t>• SIM800L GSM Fallback: Automated SMS alerts.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1D784C0-03E5-F7D8-9F72-650EF763E032}"/>
              </a:ext>
            </a:extLst>
          </p:cNvPr>
          <p:cNvSpPr/>
          <p:nvPr/>
        </p:nvSpPr>
        <p:spPr>
          <a:xfrm>
            <a:off x="254000" y="5765800"/>
            <a:ext cx="11684000" cy="965200"/>
          </a:xfrm>
          <a:prstGeom prst="roundRect">
            <a:avLst/>
          </a:prstGeom>
          <a:solidFill>
            <a:srgbClr val="0F1520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FC6A56-CE85-BD94-3517-910D8E17B67E}"/>
              </a:ext>
            </a:extLst>
          </p:cNvPr>
          <p:cNvSpPr txBox="1"/>
          <p:nvPr/>
        </p:nvSpPr>
        <p:spPr>
          <a:xfrm>
            <a:off x="381000" y="5791200"/>
            <a:ext cx="1143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b="1">
                <a:solidFill>
                  <a:srgbClr val="FFB300"/>
                </a:solidFill>
              </a:rPr>
              <a:t>END-TO-END METHODOLOGY &amp; OPERATIONAL WORKFLOW (SLIDE 3):</a:t>
            </a:r>
            <a:endParaRPr lang="en-IN" sz="950" b="1">
              <a:solidFill>
                <a:srgbClr val="FFB300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C074D0B-E1CB-5592-AFF7-B645D501507F}"/>
              </a:ext>
            </a:extLst>
          </p:cNvPr>
          <p:cNvSpPr/>
          <p:nvPr/>
        </p:nvSpPr>
        <p:spPr>
          <a:xfrm>
            <a:off x="3810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⚡ Decoupled MCUs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Hardware isolation prevents back-EMF freezes</a:t>
            </a:r>
            <a:endParaRPr lang="en-IN" sz="800">
              <a:solidFill>
                <a:srgbClr val="D4E0ED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805D204-6DD4-6D2C-D2EB-BEE9AE52D97C}"/>
              </a:ext>
            </a:extLst>
          </p:cNvPr>
          <p:cNvSpPr/>
          <p:nvPr/>
        </p:nvSpPr>
        <p:spPr>
          <a:xfrm>
            <a:off x="32766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💓 MAX30102 Vitals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Proximity Heartbeat (BPM) &amp; SpO2 confirmation</a:t>
            </a:r>
            <a:endParaRPr lang="en-IN" sz="800">
              <a:solidFill>
                <a:srgbClr val="D4E0ED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D0AF1A1-8C35-26ED-C4C0-88939A5529D5}"/>
              </a:ext>
            </a:extLst>
          </p:cNvPr>
          <p:cNvSpPr/>
          <p:nvPr/>
        </p:nvSpPr>
        <p:spPr>
          <a:xfrm>
            <a:off x="61722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00E5FF"/>
                </a:solidFill>
              </a:rPr>
              <a:t>📡 Hybrid LoRa Mesh</a:t>
            </a:r>
          </a:p>
          <a:p>
            <a:pPr algn="ctr"/>
            <a:r>
              <a:rPr lang="en-IN" sz="800">
                <a:solidFill>
                  <a:srgbClr val="D4E0ED"/>
                </a:solidFill>
              </a:rPr>
              <a:t>5 km concrete penetration where Wi-Fi drops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2A8064-A097-9F4F-EF73-7A2160326A0D}"/>
              </a:ext>
            </a:extLst>
          </p:cNvPr>
          <p:cNvSpPr/>
          <p:nvPr/>
        </p:nvSpPr>
        <p:spPr>
          <a:xfrm>
            <a:off x="90678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🛡️ Operator-in-the-Loop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Zero false emergency alarms via verified HUD</a:t>
            </a:r>
            <a:endParaRPr lang="en-IN" sz="800">
              <a:solidFill>
                <a:srgbClr val="D4E0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62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A47C9-3471-F59B-97E5-28A3B3B600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940FC-9A34-6AAF-E212-C59F0893E5FE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46D752-5508-9585-C0D4-EA21D9490473}"/>
              </a:ext>
            </a:extLst>
          </p:cNvPr>
          <p:cNvSpPr/>
          <p:nvPr/>
        </p:nvSpPr>
        <p:spPr>
          <a:xfrm>
            <a:off x="254000" y="1016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E8695-0CDA-5726-3504-145829A696E4}"/>
              </a:ext>
            </a:extLst>
          </p:cNvPr>
          <p:cNvSpPr txBox="1"/>
          <p:nvPr/>
        </p:nvSpPr>
        <p:spPr>
          <a:xfrm>
            <a:off x="1778000" y="1016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FB300"/>
                </a:solidFill>
              </a:rPr>
              <a:t>CHALLENGES &amp; STRATEGIC MITIGATION MATRIX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EA7690-5E81-9ADC-80FD-843E29F905A6}"/>
              </a:ext>
            </a:extLst>
          </p:cNvPr>
          <p:cNvSpPr/>
          <p:nvPr/>
        </p:nvSpPr>
        <p:spPr>
          <a:xfrm>
            <a:off x="8636000" y="101600"/>
            <a:ext cx="33020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FFFF"/>
                </a:solidFill>
              </a:rPr>
              <a:t>SIH26223 | FEASIBILITY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5C8469-4115-BA7C-479D-7D777B8DD52A}"/>
              </a:ext>
            </a:extLst>
          </p:cNvPr>
          <p:cNvSpPr/>
          <p:nvPr/>
        </p:nvSpPr>
        <p:spPr>
          <a:xfrm>
            <a:off x="254000" y="762000"/>
            <a:ext cx="48260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5555"/>
                </a:solidFill>
              </a:rPr>
              <a:t>⚠️ CHALLENGE: Deep Rubble Signal Degradation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High-frequency 2.4GHz Wi-Fi / 4G severely attenuates through concrete &amp; underground shafts.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55C7A5FF-54D6-31AF-FCE5-5EF42658AECB}"/>
              </a:ext>
            </a:extLst>
          </p:cNvPr>
          <p:cNvSpPr/>
          <p:nvPr/>
        </p:nvSpPr>
        <p:spPr>
          <a:xfrm>
            <a:off x="5207000" y="1168400"/>
            <a:ext cx="317500" cy="228600"/>
          </a:xfrm>
          <a:prstGeom prst="can">
            <a:avLst/>
          </a:prstGeom>
          <a:solidFill>
            <a:srgbClr val="00E6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110E11-8E84-0308-1FD2-A63E28F1A99E}"/>
              </a:ext>
            </a:extLst>
          </p:cNvPr>
          <p:cNvSpPr/>
          <p:nvPr/>
        </p:nvSpPr>
        <p:spPr>
          <a:xfrm>
            <a:off x="5651500" y="762000"/>
            <a:ext cx="62865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B300"/>
                </a:solidFill>
              </a:rPr>
              <a:t>📡 ARIES SOLUTION: Unbroken Telemetry Lifeline</a:t>
            </a:r>
          </a:p>
          <a:p>
            <a:pPr algn="ctr"/>
            <a:r>
              <a:rPr lang="en-IN" sz="900">
                <a:solidFill>
                  <a:srgbClr val="FFFFFF"/>
                </a:solidFill>
              </a:rPr>
              <a:t>• Auto-Switch to 5 km Sub-GHz LoRa Mesh (868/915 MHz) + SIM800L Cellular SMS fallback.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7C57B7-9855-8198-E4C6-8116C12985AA}"/>
              </a:ext>
            </a:extLst>
          </p:cNvPr>
          <p:cNvSpPr/>
          <p:nvPr/>
        </p:nvSpPr>
        <p:spPr>
          <a:xfrm>
            <a:off x="254000" y="1981200"/>
            <a:ext cx="48260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5555"/>
                </a:solidFill>
              </a:rPr>
              <a:t>⚠️ CHALLENGE: Motor Stalls &amp; Voltage Brownouts</a:t>
            </a:r>
          </a:p>
          <a:p>
            <a:pPr algn="ctr"/>
            <a:r>
              <a:rPr lang="en-IN" sz="850">
                <a:solidFill>
                  <a:srgbClr val="D4E0ED"/>
                </a:solidFill>
              </a:rPr>
              <a:t>High-torque motor stalls &amp; GSM 2A RF bursts create voltage drops, rebooting microcontrollers.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D83AFD31-4A15-62C0-AC2C-BEB25E38FA69}"/>
              </a:ext>
            </a:extLst>
          </p:cNvPr>
          <p:cNvSpPr/>
          <p:nvPr/>
        </p:nvSpPr>
        <p:spPr>
          <a:xfrm>
            <a:off x="5207000" y="2387600"/>
            <a:ext cx="317500" cy="228600"/>
          </a:xfrm>
          <a:prstGeom prst="can">
            <a:avLst/>
          </a:prstGeom>
          <a:solidFill>
            <a:srgbClr val="00E6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E75C00-5330-DB53-7F72-74E9071403E4}"/>
              </a:ext>
            </a:extLst>
          </p:cNvPr>
          <p:cNvSpPr/>
          <p:nvPr/>
        </p:nvSpPr>
        <p:spPr>
          <a:xfrm>
            <a:off x="5651500" y="1981200"/>
            <a:ext cx="62865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⚡ ARIES SOLUTION: 99.9% Zero-Lockup Reliability</a:t>
            </a:r>
          </a:p>
          <a:p>
            <a:pPr algn="ctr"/>
            <a:r>
              <a:rPr lang="en-US" sz="900">
                <a:solidFill>
                  <a:srgbClr val="FFFFFF"/>
                </a:solidFill>
              </a:rPr>
              <a:t>• Dual-Rail Isolated Power Bus with step-down buck converters &amp; reservoir buffer capacitors.</a:t>
            </a:r>
            <a:endParaRPr lang="en-IN" sz="900">
              <a:solidFill>
                <a:srgbClr val="FFFF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6D7A1D-28BF-2B26-F89E-E8127807BC3B}"/>
              </a:ext>
            </a:extLst>
          </p:cNvPr>
          <p:cNvSpPr/>
          <p:nvPr/>
        </p:nvSpPr>
        <p:spPr>
          <a:xfrm>
            <a:off x="254000" y="3200400"/>
            <a:ext cx="48260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5555"/>
                </a:solidFill>
              </a:rPr>
              <a:t>⚠️ CHALLENGE: Steep Rubble Terrain &amp; Rollover</a:t>
            </a:r>
          </a:p>
          <a:p>
            <a:pPr algn="ctr"/>
            <a:r>
              <a:rPr lang="en-IN" sz="850">
                <a:solidFill>
                  <a:srgbClr val="D4E0ED"/>
                </a:solidFill>
              </a:rPr>
              <a:t>Debris shifts &amp; uneven 30°+ slopes risk overturning the chassis in GPS-denied crevices.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261B79B6-65C2-9229-C1E0-728807E7FF90}"/>
              </a:ext>
            </a:extLst>
          </p:cNvPr>
          <p:cNvSpPr/>
          <p:nvPr/>
        </p:nvSpPr>
        <p:spPr>
          <a:xfrm>
            <a:off x="5207000" y="3606800"/>
            <a:ext cx="317500" cy="228600"/>
          </a:xfrm>
          <a:prstGeom prst="can">
            <a:avLst/>
          </a:prstGeom>
          <a:solidFill>
            <a:srgbClr val="00E6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118973-A419-9871-2152-7B7C8177CF90}"/>
              </a:ext>
            </a:extLst>
          </p:cNvPr>
          <p:cNvSpPr/>
          <p:nvPr/>
        </p:nvSpPr>
        <p:spPr>
          <a:xfrm>
            <a:off x="5651500" y="3200400"/>
            <a:ext cx="62865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🔄 ARIES SOLUTION: Zero Inverted Trap Risk</a:t>
            </a:r>
          </a:p>
          <a:p>
            <a:pPr algn="ctr"/>
            <a:r>
              <a:rPr lang="en-US" sz="900">
                <a:solidFill>
                  <a:srgbClr val="FFFFFF"/>
                </a:solidFill>
              </a:rPr>
              <a:t>• Active MPU6500 IMU Tilt Protection: Real-time pitch/roll tracking auto-brakes throttle at &gt;30°.</a:t>
            </a:r>
            <a:endParaRPr lang="en-IN" sz="900">
              <a:solidFill>
                <a:srgbClr val="FFFFFF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8BEB1E-2721-6F9E-31D3-15FCED21B59B}"/>
              </a:ext>
            </a:extLst>
          </p:cNvPr>
          <p:cNvSpPr/>
          <p:nvPr/>
        </p:nvSpPr>
        <p:spPr>
          <a:xfrm>
            <a:off x="254000" y="4419600"/>
            <a:ext cx="48260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5555"/>
                </a:solidFill>
              </a:rPr>
              <a:t>⚠️ CHALLENGE: Environmental False Alarms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Fire embers, hot steam pipes, or reflective dust falsely trigger automated victim alerts.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7A14B62E-592C-4034-9423-A29E7149D623}"/>
              </a:ext>
            </a:extLst>
          </p:cNvPr>
          <p:cNvSpPr/>
          <p:nvPr/>
        </p:nvSpPr>
        <p:spPr>
          <a:xfrm>
            <a:off x="5207000" y="4826000"/>
            <a:ext cx="317500" cy="228600"/>
          </a:xfrm>
          <a:prstGeom prst="can">
            <a:avLst/>
          </a:prstGeom>
          <a:solidFill>
            <a:srgbClr val="00E6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E89274-9604-D051-A473-1F0AB67F9A83}"/>
              </a:ext>
            </a:extLst>
          </p:cNvPr>
          <p:cNvSpPr/>
          <p:nvPr/>
        </p:nvSpPr>
        <p:spPr>
          <a:xfrm>
            <a:off x="5651500" y="4419600"/>
            <a:ext cx="6286500" cy="10922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🚨 ARIES SOLUTION: 100% Elimination of False SOS</a:t>
            </a:r>
          </a:p>
          <a:p>
            <a:pPr algn="ctr"/>
            <a:r>
              <a:rPr lang="en-US" sz="900">
                <a:solidFill>
                  <a:srgbClr val="FFFFFF"/>
                </a:solidFill>
              </a:rPr>
              <a:t>• MAX30102 Biometric Pulse/SpO2 check + Mandatory Operator Verification HUD confirmation.</a:t>
            </a:r>
            <a:endParaRPr lang="en-IN" sz="900">
              <a:solidFill>
                <a:srgbClr val="FFFFFF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4142D0-6F2D-C59B-85A2-102A1FD37637}"/>
              </a:ext>
            </a:extLst>
          </p:cNvPr>
          <p:cNvSpPr/>
          <p:nvPr/>
        </p:nvSpPr>
        <p:spPr>
          <a:xfrm>
            <a:off x="254000" y="5791200"/>
            <a:ext cx="11684000" cy="939800"/>
          </a:xfrm>
          <a:prstGeom prst="roundRect">
            <a:avLst/>
          </a:prstGeom>
          <a:solidFill>
            <a:srgbClr val="0F1520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7AD868-92FE-901C-57E4-70DEC5B32C71}"/>
              </a:ext>
            </a:extLst>
          </p:cNvPr>
          <p:cNvSpPr txBox="1"/>
          <p:nvPr/>
        </p:nvSpPr>
        <p:spPr>
          <a:xfrm>
            <a:off x="381000" y="5842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FFB300"/>
                </a:solidFill>
              </a:rPr>
              <a:t>ECONOMIC VIABILITY &amp; PROOF OF CONCEPT (PoC):</a:t>
            </a:r>
          </a:p>
          <a:p>
            <a:r>
              <a:rPr lang="en-IN" sz="900">
                <a:solidFill>
                  <a:srgbClr val="FFFFFF"/>
                </a:solidFill>
              </a:rPr>
              <a:t>• Total Commercial Target: Under ₹50,000 INR (10x-20x Cost Advantage vs ₹25 Lakhs imported military robots).</a:t>
            </a:r>
          </a:p>
          <a:p>
            <a:r>
              <a:rPr lang="en-IN" sz="900">
                <a:solidFill>
                  <a:srgbClr val="00E5FF"/>
                </a:solidFill>
              </a:rPr>
              <a:t>• Scaled Working Prototype: Fully validated with Dual-MCU, live sensors, OLED HUD, MAX30102 vitals &amp; Web Mission Hub.</a:t>
            </a:r>
          </a:p>
        </p:txBody>
      </p:sp>
    </p:spTree>
    <p:extLst>
      <p:ext uri="{BB962C8B-B14F-4D97-AF65-F5344CB8AC3E}">
        <p14:creationId xmlns:p14="http://schemas.microsoft.com/office/powerpoint/2010/main" val="422065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E1B97B-5F88-FD73-1EB7-3E3D90F1E9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386B55-B02A-7837-C1E8-4CBE137EFF67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DAA5BD-D48A-5CDE-286B-2FF6ABCD1207}"/>
              </a:ext>
            </a:extLst>
          </p:cNvPr>
          <p:cNvSpPr/>
          <p:nvPr/>
        </p:nvSpPr>
        <p:spPr>
          <a:xfrm>
            <a:off x="254000" y="1016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0F301-17F6-188B-C386-35BF71F6C4EF}"/>
              </a:ext>
            </a:extLst>
          </p:cNvPr>
          <p:cNvSpPr txBox="1"/>
          <p:nvPr/>
        </p:nvSpPr>
        <p:spPr>
          <a:xfrm>
            <a:off x="1778000" y="1016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FFB300"/>
                </a:solidFill>
              </a:rPr>
              <a:t>MULTI-DIMENSIONAL IMPACT &amp; TARGET BENEFICIARIES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346A41-8016-730A-CC71-CCF6520A27C1}"/>
              </a:ext>
            </a:extLst>
          </p:cNvPr>
          <p:cNvSpPr/>
          <p:nvPr/>
        </p:nvSpPr>
        <p:spPr>
          <a:xfrm>
            <a:off x="8636000" y="101600"/>
            <a:ext cx="33020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FFFF"/>
                </a:solidFill>
              </a:rPr>
              <a:t>SIH26223 | SOCIAL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AEEEE7-ACB4-9CF1-59C9-83323E0FD252}"/>
              </a:ext>
            </a:extLst>
          </p:cNvPr>
          <p:cNvSpPr/>
          <p:nvPr/>
        </p:nvSpPr>
        <p:spPr>
          <a:xfrm>
            <a:off x="254000" y="762000"/>
            <a:ext cx="3632200" cy="29210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4818C-D862-CAE9-1751-EFF553984335}"/>
              </a:ext>
            </a:extLst>
          </p:cNvPr>
          <p:cNvSpPr txBox="1"/>
          <p:nvPr/>
        </p:nvSpPr>
        <p:spPr>
          <a:xfrm>
            <a:off x="381000" y="863600"/>
            <a:ext cx="33782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FFB300"/>
                </a:solidFill>
              </a:rPr>
              <a:t>❤️ Social &amp; Humanitarian Impact</a:t>
            </a:r>
          </a:p>
          <a:p>
            <a:r>
              <a:rPr lang="en-IN" sz="950">
                <a:solidFill>
                  <a:srgbClr val="D4E0ED"/>
                </a:solidFill>
              </a:rPr>
              <a:t>• Zero-Human-Risk First Look: Protects NDRF responders &amp; sniffer dogs.</a:t>
            </a:r>
          </a:p>
          <a:p>
            <a:r>
              <a:rPr lang="en-IN" sz="950">
                <a:solidFill>
                  <a:srgbClr val="D4E0ED"/>
                </a:solidFill>
              </a:rPr>
              <a:t>• Golden Hour Acceleration: Spots survivors in minutes via thermal vision.</a:t>
            </a:r>
          </a:p>
          <a:p>
            <a:r>
              <a:rPr lang="en-IN" sz="950">
                <a:solidFill>
                  <a:srgbClr val="D4E0ED"/>
                </a:solidFill>
              </a:rPr>
              <a:t>• Non-Contact Vitals (MAX30102): Medics receive pulse &amp; SpO2 prior to entry.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1A0F8-F51D-CF0B-A098-6E13E94F6C7D}"/>
              </a:ext>
            </a:extLst>
          </p:cNvPr>
          <p:cNvSpPr/>
          <p:nvPr/>
        </p:nvSpPr>
        <p:spPr>
          <a:xfrm>
            <a:off x="4267200" y="762000"/>
            <a:ext cx="3632200" cy="29210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A14F1F-542A-E746-27F0-895544E291F4}"/>
              </a:ext>
            </a:extLst>
          </p:cNvPr>
          <p:cNvSpPr txBox="1"/>
          <p:nvPr/>
        </p:nvSpPr>
        <p:spPr>
          <a:xfrm>
            <a:off x="4394200" y="863600"/>
            <a:ext cx="33782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FFB300"/>
                </a:solidFill>
              </a:rPr>
              <a:t>💰 Economic &amp; Financial Impact</a:t>
            </a:r>
          </a:p>
          <a:p>
            <a:r>
              <a:rPr lang="en-IN" sz="950">
                <a:solidFill>
                  <a:srgbClr val="D4E0ED"/>
                </a:solidFill>
              </a:rPr>
              <a:t>• 10x-20x Cost Disruption: Under ₹50,000 INR vs ₹25 Lakhs imported bots.</a:t>
            </a:r>
          </a:p>
          <a:p>
            <a:r>
              <a:rPr lang="en-IN" sz="950">
                <a:solidFill>
                  <a:srgbClr val="D4E0ED"/>
                </a:solidFill>
              </a:rPr>
              <a:t>• Modular COTS Architecture: Standard parts, zero foreign service lock-in.</a:t>
            </a:r>
          </a:p>
          <a:p>
            <a:r>
              <a:rPr lang="en-IN" sz="950">
                <a:solidFill>
                  <a:srgbClr val="D4E0ED"/>
                </a:solidFill>
              </a:rPr>
              <a:t>• Scalable Deployment: Affordable for every municipal fire station in India.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223524-1F6B-5B09-AE21-749860C5F2F0}"/>
              </a:ext>
            </a:extLst>
          </p:cNvPr>
          <p:cNvSpPr/>
          <p:nvPr/>
        </p:nvSpPr>
        <p:spPr>
          <a:xfrm>
            <a:off x="8280400" y="762000"/>
            <a:ext cx="3632200" cy="29210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C7D88-08DB-BE66-E287-419499B40EA8}"/>
              </a:ext>
            </a:extLst>
          </p:cNvPr>
          <p:cNvSpPr txBox="1"/>
          <p:nvPr/>
        </p:nvSpPr>
        <p:spPr>
          <a:xfrm>
            <a:off x="8407400" y="863600"/>
            <a:ext cx="33782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FFB300"/>
                </a:solidFill>
              </a:rPr>
              <a:t>🌱 Environmental &amp; Operational Safety</a:t>
            </a:r>
          </a:p>
          <a:p>
            <a:r>
              <a:rPr lang="en-IN" sz="950">
                <a:solidFill>
                  <a:srgbClr val="D4E0ED"/>
                </a:solidFill>
              </a:rPr>
              <a:t>• Early Hazard Containment: MQ-135 tracks toxic gas &amp; smoke diffusion.</a:t>
            </a:r>
          </a:p>
          <a:p>
            <a:r>
              <a:rPr lang="en-IN" sz="950">
                <a:solidFill>
                  <a:srgbClr val="D4E0ED"/>
                </a:solidFill>
              </a:rPr>
              <a:t>• Zero-Emission Electric Locomotion: Safe in explosive combustible zones.</a:t>
            </a:r>
          </a:p>
          <a:p>
            <a:r>
              <a:rPr lang="en-IN" sz="950">
                <a:solidFill>
                  <a:srgbClr val="D4E0ED"/>
                </a:solidFill>
              </a:rPr>
              <a:t>• Deep Subterranean Recon: Safe in low-oxygen tunnels and coal mines.</a:t>
            </a:r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E45079DA-D116-1A5C-D7BB-FB70DF68C7EB}"/>
              </a:ext>
            </a:extLst>
          </p:cNvPr>
          <p:cNvSpPr/>
          <p:nvPr/>
        </p:nvSpPr>
        <p:spPr>
          <a:xfrm rot="5400000">
            <a:off x="5969000" y="3784600"/>
            <a:ext cx="254000" cy="2032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20FE7A-47C8-EDC8-DB81-055F9EBAA28A}"/>
              </a:ext>
            </a:extLst>
          </p:cNvPr>
          <p:cNvSpPr txBox="1"/>
          <p:nvPr/>
        </p:nvSpPr>
        <p:spPr>
          <a:xfrm>
            <a:off x="254000" y="39878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0E5FF"/>
                </a:solidFill>
              </a:rPr>
              <a:t>DEPLOYMENT MATRIX ACROSS TARGET BENEFICIARIES:</a:t>
            </a:r>
            <a:endParaRPr lang="en-IN" sz="1000" b="1">
              <a:solidFill>
                <a:srgbClr val="00E5FF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4D9F8A-4D06-FF0D-5EBF-B2E5A4F6656E}"/>
              </a:ext>
            </a:extLst>
          </p:cNvPr>
          <p:cNvSpPr/>
          <p:nvPr/>
        </p:nvSpPr>
        <p:spPr>
          <a:xfrm>
            <a:off x="254000" y="4292600"/>
            <a:ext cx="2794000" cy="1397000"/>
          </a:xfrm>
          <a:prstGeom prst="roundRect">
            <a:avLst/>
          </a:prstGeom>
          <a:solidFill>
            <a:srgbClr val="0F1520"/>
          </a:solidFill>
          <a:ln w="1524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🏛️ NDRF &amp; State SDRF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Rapid survivor location in earthquake rubble &amp; structural collapses.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A351EF-149F-4384-207E-C522F0A37D9A}"/>
              </a:ext>
            </a:extLst>
          </p:cNvPr>
          <p:cNvSpPr/>
          <p:nvPr/>
        </p:nvSpPr>
        <p:spPr>
          <a:xfrm>
            <a:off x="3238500" y="4292600"/>
            <a:ext cx="2794000" cy="1397000"/>
          </a:xfrm>
          <a:prstGeom prst="roundRect">
            <a:avLst/>
          </a:prstGeom>
          <a:solidFill>
            <a:srgbClr val="0F1520"/>
          </a:solidFill>
          <a:ln w="1524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🚒 Fire &amp; Emergency Services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Pre-entry thermal victim search &amp; toxic gas scan in smoke-filled basements.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2991E2-1AC8-9AC1-F40F-2A5BCEE3221E}"/>
              </a:ext>
            </a:extLst>
          </p:cNvPr>
          <p:cNvSpPr/>
          <p:nvPr/>
        </p:nvSpPr>
        <p:spPr>
          <a:xfrm>
            <a:off x="6223000" y="4292600"/>
            <a:ext cx="2794000" cy="1397000"/>
          </a:xfrm>
          <a:prstGeom prst="roundRect">
            <a:avLst/>
          </a:prstGeom>
          <a:solidFill>
            <a:srgbClr val="0F1520"/>
          </a:solidFill>
          <a:ln w="1524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⛏️ Mining &amp; Tunnel Authorities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Subterranean gas (Methane/CO) &amp; void space check in deep shafts.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59FBD1-5483-B2C2-51A8-8E5FBA84FD69}"/>
              </a:ext>
            </a:extLst>
          </p:cNvPr>
          <p:cNvSpPr/>
          <p:nvPr/>
        </p:nvSpPr>
        <p:spPr>
          <a:xfrm>
            <a:off x="9207500" y="4292600"/>
            <a:ext cx="2794000" cy="1397000"/>
          </a:xfrm>
          <a:prstGeom prst="roundRect">
            <a:avLst/>
          </a:prstGeom>
          <a:solidFill>
            <a:srgbClr val="0F1520"/>
          </a:solidFill>
          <a:ln w="1524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FFB300"/>
                </a:solidFill>
              </a:rPr>
              <a:t>🏭 Industrial Plants &amp; Defense</a:t>
            </a:r>
          </a:p>
          <a:p>
            <a:pPr algn="ctr"/>
            <a:r>
              <a:rPr lang="en-US" sz="850">
                <a:solidFill>
                  <a:srgbClr val="D4E0ED"/>
                </a:solidFill>
              </a:rPr>
              <a:t>Hazardous chemical plant leak scouting &amp; confined space inspection.</a:t>
            </a:r>
            <a:endParaRPr lang="en-IN" sz="850">
              <a:solidFill>
                <a:srgbClr val="D4E0ED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143A38-82E1-907A-A6A4-D5EB320FBCD8}"/>
              </a:ext>
            </a:extLst>
          </p:cNvPr>
          <p:cNvSpPr/>
          <p:nvPr/>
        </p:nvSpPr>
        <p:spPr>
          <a:xfrm>
            <a:off x="254000" y="5842000"/>
            <a:ext cx="11684000" cy="889000"/>
          </a:xfrm>
          <a:prstGeom prst="roundRect">
            <a:avLst/>
          </a:prstGeom>
          <a:solidFill>
            <a:srgbClr val="0F1520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4D5358-9500-55A8-92F5-F68C926054D5}"/>
              </a:ext>
            </a:extLst>
          </p:cNvPr>
          <p:cNvSpPr txBox="1"/>
          <p:nvPr/>
        </p:nvSpPr>
        <p:spPr>
          <a:xfrm>
            <a:off x="381000" y="5943600"/>
            <a:ext cx="1143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B300"/>
                </a:solidFill>
              </a:rPr>
              <a:t>Ultimate Value Proposition: 'We don't just build robots, we build hope.' - Transforming disaster response by eliminating first-responder fatalities and maximizing Golden Hour survivor extractions.</a:t>
            </a:r>
            <a:endParaRPr lang="en-IN" sz="105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14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F4D85A-A22B-724B-F52A-6E35AC8F56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2B123-5831-E6A4-BE15-481DA8401CF0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FB7AF2-6BB2-0D41-84A2-53002F39F693}"/>
              </a:ext>
            </a:extLst>
          </p:cNvPr>
          <p:cNvSpPr/>
          <p:nvPr/>
        </p:nvSpPr>
        <p:spPr>
          <a:xfrm>
            <a:off x="254000" y="1016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2B0A0-DB82-71E1-5669-05193FFE4BD3}"/>
              </a:ext>
            </a:extLst>
          </p:cNvPr>
          <p:cNvSpPr txBox="1"/>
          <p:nvPr/>
        </p:nvSpPr>
        <p:spPr>
          <a:xfrm>
            <a:off x="1778000" y="1016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B300"/>
                </a:solidFill>
              </a:rPr>
              <a:t>RESEARCH CITATIONS, NATIONAL FRAMEWORKS &amp; REPO</a:t>
            </a:r>
            <a:endParaRPr lang="en-IN" sz="1400" b="1">
              <a:solidFill>
                <a:srgbClr val="FFB3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4C8210-577A-EA1E-C898-8710ED451FE7}"/>
              </a:ext>
            </a:extLst>
          </p:cNvPr>
          <p:cNvSpPr/>
          <p:nvPr/>
        </p:nvSpPr>
        <p:spPr>
          <a:xfrm>
            <a:off x="8636000" y="101600"/>
            <a:ext cx="33020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FFFF"/>
                </a:solidFill>
              </a:rPr>
              <a:t>SIH26223 | STANDARDS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B435C2-FA87-CF4E-4F8F-5B2CEB69E889}"/>
              </a:ext>
            </a:extLst>
          </p:cNvPr>
          <p:cNvSpPr/>
          <p:nvPr/>
        </p:nvSpPr>
        <p:spPr>
          <a:xfrm>
            <a:off x="254000" y="736600"/>
            <a:ext cx="5715000" cy="2311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CBC47-1F19-6581-49EA-4623DF8F4B99}"/>
              </a:ext>
            </a:extLst>
          </p:cNvPr>
          <p:cNvSpPr txBox="1"/>
          <p:nvPr/>
        </p:nvSpPr>
        <p:spPr>
          <a:xfrm>
            <a:off x="381000" y="838200"/>
            <a:ext cx="5461000" cy="8233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B300"/>
                </a:solidFill>
              </a:rPr>
              <a:t>📚 Academic Peer-Reviewed Literature</a:t>
            </a:r>
          </a:p>
          <a:p>
            <a:r>
              <a:rPr lang="en-IN" sz="900">
                <a:solidFill>
                  <a:srgbClr val="D4E0ED"/>
                </a:solidFill>
              </a:rPr>
              <a:t>• Murphy, R. R. (2014) Disaster Robotics, MIT Press / IEEE Robotics.</a:t>
            </a:r>
          </a:p>
          <a:p>
            <a:r>
              <a:rPr lang="en-IN" sz="900">
                <a:solidFill>
                  <a:srgbClr val="D4E0ED"/>
                </a:solidFill>
              </a:rPr>
              <a:t>• Kumar &amp; Sharma (2022) IoT USAR Ground Vehicles, IEEE Xplore / ICRA.</a:t>
            </a:r>
          </a:p>
          <a:p>
            <a:r>
              <a:rPr lang="en-IN" sz="900">
                <a:solidFill>
                  <a:srgbClr val="D4E0ED"/>
                </a:solidFill>
              </a:rPr>
              <a:t>• IEEE IoT Journal: Sub-GHz Wireless Mesh for Deep-Rubble Disaster Telemetry.</a:t>
            </a:r>
          </a:p>
          <a:p>
            <a:r>
              <a:rPr lang="en-IN" sz="900">
                <a:solidFill>
                  <a:srgbClr val="D4E0ED"/>
                </a:solidFill>
              </a:rPr>
              <a:t>• Journal of Field Robotics: Multi-Spectral Thermal Fusion in Fire Zones.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8D43F2-E103-0983-D8CA-525EE474EE1E}"/>
              </a:ext>
            </a:extLst>
          </p:cNvPr>
          <p:cNvSpPr/>
          <p:nvPr/>
        </p:nvSpPr>
        <p:spPr>
          <a:xfrm>
            <a:off x="6223000" y="736600"/>
            <a:ext cx="5715000" cy="2311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4A79E-4F79-C579-8818-6B12114586E8}"/>
              </a:ext>
            </a:extLst>
          </p:cNvPr>
          <p:cNvSpPr txBox="1"/>
          <p:nvPr/>
        </p:nvSpPr>
        <p:spPr>
          <a:xfrm>
            <a:off x="6350000" y="838200"/>
            <a:ext cx="5461000" cy="8233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B300"/>
                </a:solidFill>
              </a:rPr>
              <a:t>🏛️ National Disaster Guidelines (Govt of India)</a:t>
            </a:r>
          </a:p>
          <a:p>
            <a:r>
              <a:rPr lang="en-IN" sz="900">
                <a:solidFill>
                  <a:srgbClr val="D4E0ED"/>
                </a:solidFill>
              </a:rPr>
              <a:t>• NDMA Guidelines on Urban Search &amp; Rescue (USAR) Equipment Standards.</a:t>
            </a:r>
          </a:p>
          <a:p>
            <a:r>
              <a:rPr lang="en-IN" sz="900">
                <a:solidFill>
                  <a:srgbClr val="D4E0ED"/>
                </a:solidFill>
              </a:rPr>
              <a:t>• NDRF Standard Operating Procedures (SOP): Hazardous Gas Detection (MQ/PID).</a:t>
            </a:r>
          </a:p>
          <a:p>
            <a:r>
              <a:rPr lang="en-IN" sz="900">
                <a:solidFill>
                  <a:srgbClr val="D4E0ED"/>
                </a:solidFill>
              </a:rPr>
              <a:t>• Confined Space Rubble Penetration &amp; Responder Safety Benchmark Compliance.</a:t>
            </a:r>
          </a:p>
          <a:p>
            <a:r>
              <a:rPr lang="en-IN" sz="900">
                <a:solidFill>
                  <a:srgbClr val="D4E0ED"/>
                </a:solidFill>
              </a:rPr>
              <a:t>• Aligned with National Disaster Management Plan (NDMP 2019).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CFCD35-B533-06E9-2BF1-65209B1E5C0D}"/>
              </a:ext>
            </a:extLst>
          </p:cNvPr>
          <p:cNvSpPr/>
          <p:nvPr/>
        </p:nvSpPr>
        <p:spPr>
          <a:xfrm>
            <a:off x="254000" y="3175000"/>
            <a:ext cx="5715000" cy="2311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C02F2-2276-28E4-9504-A793E17ECAB5}"/>
              </a:ext>
            </a:extLst>
          </p:cNvPr>
          <p:cNvSpPr txBox="1"/>
          <p:nvPr/>
        </p:nvSpPr>
        <p:spPr>
          <a:xfrm>
            <a:off x="381000" y="3276600"/>
            <a:ext cx="5461000" cy="8233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B300"/>
                </a:solidFill>
              </a:rPr>
              <a:t>⚙️ Technical Protocols &amp; Industry Specs</a:t>
            </a:r>
          </a:p>
          <a:p>
            <a:r>
              <a:rPr lang="en-IN" sz="900">
                <a:solidFill>
                  <a:srgbClr val="D4E0ED"/>
                </a:solidFill>
              </a:rPr>
              <a:t>• LoRa Alliance: LoRaWAN Sub-GHz Mesh Specifications (868/915 MHz).</a:t>
            </a:r>
          </a:p>
          <a:p>
            <a:r>
              <a:rPr lang="en-IN" sz="900">
                <a:solidFill>
                  <a:srgbClr val="D4E0ED"/>
                </a:solidFill>
              </a:rPr>
              <a:t>• FLIR Systems: LWIR Radiometric Thermal Core Specs (flir.com).</a:t>
            </a:r>
          </a:p>
          <a:p>
            <a:r>
              <a:rPr lang="en-IN" sz="900">
                <a:solidFill>
                  <a:srgbClr val="D4E0ED"/>
                </a:solidFill>
              </a:rPr>
              <a:t>• 3GPP TS 27.007: Cellular AT Command Standard for SIM800L Alert Dispatch.</a:t>
            </a:r>
          </a:p>
          <a:p>
            <a:r>
              <a:rPr lang="en-IN" sz="900">
                <a:solidFill>
                  <a:srgbClr val="D4E0ED"/>
                </a:solidFill>
              </a:rPr>
              <a:t>• Maxim MAX30102: Pulse Oximetry &amp; Heart-Rate Biosensor Protocol.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8AC305-4E75-9306-40F1-E23C3AA320A5}"/>
              </a:ext>
            </a:extLst>
          </p:cNvPr>
          <p:cNvSpPr/>
          <p:nvPr/>
        </p:nvSpPr>
        <p:spPr>
          <a:xfrm>
            <a:off x="6223000" y="3175000"/>
            <a:ext cx="5715000" cy="2311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B41D76-E345-C588-CBA7-BA1327A8C7B1}"/>
              </a:ext>
            </a:extLst>
          </p:cNvPr>
          <p:cNvSpPr txBox="1"/>
          <p:nvPr/>
        </p:nvSpPr>
        <p:spPr>
          <a:xfrm>
            <a:off x="6350000" y="3276600"/>
            <a:ext cx="5461000" cy="8233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B300"/>
                </a:solidFill>
              </a:rPr>
              <a:t>💻 Open-Source GitHub &amp; Live Deployment</a:t>
            </a:r>
          </a:p>
          <a:p>
            <a:r>
              <a:rPr lang="en-IN" sz="900">
                <a:solidFill>
                  <a:srgbClr val="D4E0ED"/>
                </a:solidFill>
              </a:rPr>
              <a:t>• GitHub Repo: github.com/harshitsharma120109-web/ARIES-Search-Rescue-Rover</a:t>
            </a:r>
          </a:p>
          <a:p>
            <a:r>
              <a:rPr lang="en-IN" sz="900">
                <a:solidFill>
                  <a:srgbClr val="D4E0ED"/>
                </a:solidFill>
              </a:rPr>
              <a:t>• Live Web Mission Hub: melodic-halva-b0fa56.netlify.app</a:t>
            </a:r>
          </a:p>
          <a:p>
            <a:r>
              <a:rPr lang="en-IN" sz="900">
                <a:solidFill>
                  <a:srgbClr val="D4E0ED"/>
                </a:solidFill>
              </a:rPr>
              <a:t>• Full Dual-MCU Firmware, Schematics &amp; Web Serial telemetry code.</a:t>
            </a:r>
          </a:p>
          <a:p>
            <a:r>
              <a:rPr lang="en-IN" sz="900">
                <a:solidFill>
                  <a:srgbClr val="D4E0ED"/>
                </a:solidFill>
              </a:rPr>
              <a:t>• Scaled Working Prototype validated &amp; demonstrated live.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79DF04-90C7-78EA-EA0F-D77245CA9F3E}"/>
              </a:ext>
            </a:extLst>
          </p:cNvPr>
          <p:cNvSpPr/>
          <p:nvPr/>
        </p:nvSpPr>
        <p:spPr>
          <a:xfrm>
            <a:off x="254000" y="5740400"/>
            <a:ext cx="11684000" cy="990600"/>
          </a:xfrm>
          <a:prstGeom prst="roundRect">
            <a:avLst/>
          </a:prstGeom>
          <a:solidFill>
            <a:srgbClr val="0F1520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A2404-87EB-AA83-0E5E-F568DFB56F1F}"/>
              </a:ext>
            </a:extLst>
          </p:cNvPr>
          <p:cNvSpPr txBox="1"/>
          <p:nvPr/>
        </p:nvSpPr>
        <p:spPr>
          <a:xfrm>
            <a:off x="381000" y="5816600"/>
            <a:ext cx="11430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FFB300"/>
                </a:solidFill>
              </a:rPr>
              <a:t>OFFICIAL PROJECT REPOSITORIES &amp; DEPLOYMENT HUBS:</a:t>
            </a:r>
          </a:p>
          <a:p>
            <a:r>
              <a:rPr lang="en-US" sz="950">
                <a:solidFill>
                  <a:srgbClr val="FFFFFF"/>
                </a:solidFill>
              </a:rPr>
              <a:t>• GitHub: https://github.com/harshitsharma120109-web/ARIES-Search-Rescue-Rover</a:t>
            </a:r>
          </a:p>
          <a:p>
            <a:r>
              <a:rPr lang="en-US" sz="950">
                <a:solidFill>
                  <a:srgbClr val="00E5FF"/>
                </a:solidFill>
              </a:rPr>
              <a:t>• Live Mission Hub: https://melodic-halva-b0fa56.netlify.app/  |  https://joyful-cactus-9b247c.netlify.app/</a:t>
            </a:r>
            <a:endParaRPr lang="en-IN" sz="950">
              <a:solidFill>
                <a:srgbClr val="00E5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39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Microsoft Office PowerPoint</Application>
  <PresentationFormat>Custom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2026-09-18T10:06:59Z</dcterms:created>
  <dcterms:modified xsi:type="dcterms:W3CDTF">2026-09-18T10:06:59Z</dcterms:modified>
</cp:coreProperties>
</file>