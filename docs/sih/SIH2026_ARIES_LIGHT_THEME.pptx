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97C5BF-FE98-9681-7147-C26878E497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B2D61B-FB8F-75C3-51C1-A42FB4308C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B7FEAB-4359-A27E-F8DC-E928B47F59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F043A-CA38-4ED0-BB8D-C66D150D6DA3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57DA75-226E-9C21-FE0E-F4F8079D88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673143-CF06-6403-C44E-B7573B78E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02238-B2B4-4440-85F4-07CF07CD76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96384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3E17D-AB4E-0327-E2ED-062093BB3B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FE17E2-C818-E81D-0900-0857C41496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08B597-DD34-5F33-3820-C296F66AC7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F043A-CA38-4ED0-BB8D-C66D150D6DA3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A9114D-15F0-A9B5-29FE-3A9C8D2BF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26B64E-8DC6-39C3-D1DD-59AC27B3E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02238-B2B4-4440-85F4-07CF07CD76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81808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A1E9B5-8A13-D988-F3B1-73A5167FC4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084878-F2BB-461E-FF65-940DF6EEC7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6DDE2-4BD4-FAF1-F51E-4EB755955E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F043A-CA38-4ED0-BB8D-C66D150D6DA3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28D45D-C68B-0079-C736-405A1F9054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7AD7BC-8A0B-9759-C4B5-8AE166A2E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02238-B2B4-4440-85F4-07CF07CD76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85550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029495-9455-18FA-93AC-EDA276DEAF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8DA2D5-1BA3-AC10-0DDF-8A24C2BE7F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CBCE96-100A-A734-CC49-7C255B4083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EA858F-DADA-8846-DF73-6E1881C11F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F043A-CA38-4ED0-BB8D-C66D150D6DA3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5BE5E4-85DD-1E38-4CC0-984E2A460C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85DB7B-0B6A-7682-FA11-C52E58B74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02238-B2B4-4440-85F4-07CF07CD76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36298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A65D5A-A4D9-E9CD-5B54-CB4447A5F1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318AA7-F25A-3190-AF55-7D3E814E83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C925ED-C818-E7E0-98EC-F1DE820430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2EDE87-BF6D-68A4-5F06-770AE152FB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24B3A8-952B-1886-C5FA-F9AB6140FA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7667394-BA1F-56A5-1D4C-F304D40E1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F043A-CA38-4ED0-BB8D-C66D150D6DA3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3E2866-C6FF-FFFD-F707-26C8FF6925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B2388D8-8312-BE1F-297E-CCF535CE0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02238-B2B4-4440-85F4-07CF07CD76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69522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1375A-4BF4-1F91-8AFA-0358CD8716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B240130-3502-ACAB-17C5-021789145E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F043A-CA38-4ED0-BB8D-C66D150D6DA3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5E5D87-89E1-28BF-7ED1-B6E0F46A5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CBC77F-D1F7-2002-A52D-D28F07E23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02238-B2B4-4440-85F4-07CF07CD76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95541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B1DDBF-A931-8135-62AD-16DD1F3937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F043A-CA38-4ED0-BB8D-C66D150D6DA3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50D38A7-9E46-A494-CFB3-DEE0DD0439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A7ED10-2995-38BA-03E8-76C605505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02238-B2B4-4440-85F4-07CF07CD76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14302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BF3ED-CEAC-59A7-1512-09E1D213F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85FE4D-640E-C91F-822F-570EF977DE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FB5DF3-46C2-B45B-1672-C4FCAA7D74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B3CCF5-B7C7-6F23-4050-50E3E8AB6D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F043A-CA38-4ED0-BB8D-C66D150D6DA3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02236F-7B3B-D308-2FE2-F0BF089E4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D16E13-4E42-E96D-9192-77C537CDC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02238-B2B4-4440-85F4-07CF07CD76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18794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C2966D-4CA1-A894-50C5-064738EDBC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314ADB9-9B4E-0AE2-924C-5FAC589AEB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EC2183-C5EA-7699-A0BB-E0744DD88D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D0983E-F245-EA24-8B38-631ECBD40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F043A-CA38-4ED0-BB8D-C66D150D6DA3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6B9815-8DAC-CA30-EE67-701092344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0173D7-00DE-8C97-1ED2-6E699B5AC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02238-B2B4-4440-85F4-07CF07CD76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05908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E99A8F-54CD-FD46-5119-4E5C40204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BDD19F-6262-2266-A0E6-826B8ABA7A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946E8F-CA50-C62E-07F6-6232965F4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F043A-CA38-4ED0-BB8D-C66D150D6DA3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357749-8287-EA3E-7D49-C8FA83734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FD427D-07A1-C3DD-DFF5-FF0088A13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02238-B2B4-4440-85F4-07CF07CD76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75926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54F3ED5-0AEA-EA73-19AC-E6EA9C3CDE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146E03-789F-1D61-791E-CCBA00B2B9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03BC38-941D-1D01-9C0A-B68D3488A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F043A-CA38-4ED0-BB8D-C66D150D6DA3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F47B33-FD16-4DF1-FBE6-B1308606C1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9F8434-B022-CCD4-DB5C-AC6757BFC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02238-B2B4-4440-85F4-07CF07CD76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10664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9D43CF3-A499-B7F2-F983-02022957A5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63982E-C503-5835-8D9D-12FC03F925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7C7A4A-33CD-17D9-36A0-074087B064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BF043A-CA38-4ED0-BB8D-C66D150D6DA3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C69A1D-9335-84BF-E64D-C66EC70264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DD7137-8D3F-5948-F5BD-000DB71EF6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B02238-B2B4-4440-85F4-07CF07CD76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04820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E1290B2-F520-B72C-8DB6-0F0B6B206D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5D1D049-6BDB-F355-9D92-7AA3ED1BBE59}"/>
              </a:ext>
            </a:extLst>
          </p:cNvPr>
          <p:cNvSpPr/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0E8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CFDF671-F595-562C-FDF5-B193496256D4}"/>
              </a:ext>
            </a:extLst>
          </p:cNvPr>
          <p:cNvSpPr/>
          <p:nvPr/>
        </p:nvSpPr>
        <p:spPr>
          <a:xfrm>
            <a:off x="254000" y="114300"/>
            <a:ext cx="1778000" cy="381000"/>
          </a:xfrm>
          <a:prstGeom prst="roundRect">
            <a:avLst/>
          </a:prstGeom>
          <a:solidFill>
            <a:srgbClr val="EA580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50" b="1">
                <a:solidFill>
                  <a:srgbClr val="FFFFFF"/>
                </a:solidFill>
              </a:rPr>
              <a:t>ALPHA-X | SIH_1186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EFF5B6-F123-43AC-3233-E2D70949761F}"/>
              </a:ext>
            </a:extLst>
          </p:cNvPr>
          <p:cNvSpPr txBox="1"/>
          <p:nvPr/>
        </p:nvSpPr>
        <p:spPr>
          <a:xfrm>
            <a:off x="2133600" y="101600"/>
            <a:ext cx="6096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400" b="1">
                <a:solidFill>
                  <a:srgbClr val="0F172A"/>
                </a:solidFill>
              </a:rPr>
              <a:t>SMART INDIA HACKATHON 2026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DF56C91-1638-489F-C122-F3037E5619C8}"/>
              </a:ext>
            </a:extLst>
          </p:cNvPr>
          <p:cNvSpPr/>
          <p:nvPr/>
        </p:nvSpPr>
        <p:spPr>
          <a:xfrm>
            <a:off x="8318500" y="114300"/>
            <a:ext cx="2667000" cy="381000"/>
          </a:xfrm>
          <a:prstGeom prst="roundRect">
            <a:avLst/>
          </a:prstGeom>
          <a:solidFill>
            <a:srgbClr val="F0F9FF"/>
          </a:solidFill>
          <a:ln w="15240">
            <a:solidFill>
              <a:srgbClr val="0284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b="1">
                <a:solidFill>
                  <a:srgbClr val="0284C7"/>
                </a:solidFill>
              </a:rPr>
              <a:t>PS ID: SIH26223 | HARDWARE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9C9D714-EEAD-89F6-771A-5142AB5F39B5}"/>
              </a:ext>
            </a:extLst>
          </p:cNvPr>
          <p:cNvSpPr/>
          <p:nvPr/>
        </p:nvSpPr>
        <p:spPr>
          <a:xfrm>
            <a:off x="11112500" y="88900"/>
            <a:ext cx="825500" cy="43180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D977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800" b="1">
                <a:solidFill>
                  <a:srgbClr val="D97706"/>
                </a:solidFill>
              </a:rPr>
              <a:t>[SIH LOGO]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1B9A10B-086F-FBEC-D410-1FAD45E41042}"/>
              </a:ext>
            </a:extLst>
          </p:cNvPr>
          <p:cNvSpPr/>
          <p:nvPr/>
        </p:nvSpPr>
        <p:spPr>
          <a:xfrm>
            <a:off x="254000" y="762000"/>
            <a:ext cx="6096000" cy="52705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0E8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4D4115A-086A-DBA0-5158-02A0A0213B5D}"/>
              </a:ext>
            </a:extLst>
          </p:cNvPr>
          <p:cNvSpPr/>
          <p:nvPr/>
        </p:nvSpPr>
        <p:spPr>
          <a:xfrm>
            <a:off x="457200" y="939800"/>
            <a:ext cx="3302000" cy="30480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0284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850" b="1">
                <a:solidFill>
                  <a:srgbClr val="0284C7"/>
                </a:solidFill>
              </a:rPr>
              <a:t>AICTE STUDENT INNOVATION (DISASTER MGMT)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EF3DFDD-420C-3939-E50E-1FB639513BEC}"/>
              </a:ext>
            </a:extLst>
          </p:cNvPr>
          <p:cNvSpPr txBox="1"/>
          <p:nvPr/>
        </p:nvSpPr>
        <p:spPr>
          <a:xfrm>
            <a:off x="406400" y="1295400"/>
            <a:ext cx="5715000" cy="76944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4400" b="1">
                <a:solidFill>
                  <a:srgbClr val="EA580C"/>
                </a:solidFill>
              </a:rPr>
              <a:t>ARIES 2.0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EC4E962-AD44-2ACD-52A1-1544467F5A1D}"/>
              </a:ext>
            </a:extLst>
          </p:cNvPr>
          <p:cNvSpPr txBox="1"/>
          <p:nvPr/>
        </p:nvSpPr>
        <p:spPr>
          <a:xfrm>
            <a:off x="431800" y="1955800"/>
            <a:ext cx="5715000" cy="30008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50" b="1">
                <a:solidFill>
                  <a:srgbClr val="0F172A"/>
                </a:solidFill>
              </a:rPr>
              <a:t>Tri-Phibian All-Domain Autonomous Search-and-Rescue Robot</a:t>
            </a:r>
            <a:endParaRPr lang="en-IN" sz="1350" b="1">
              <a:solidFill>
                <a:srgbClr val="0F172A"/>
              </a:solidFill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3D2C4AD-7423-F167-F7E4-BB3B071C5BA6}"/>
              </a:ext>
            </a:extLst>
          </p:cNvPr>
          <p:cNvSpPr/>
          <p:nvPr/>
        </p:nvSpPr>
        <p:spPr>
          <a:xfrm>
            <a:off x="457200" y="2489200"/>
            <a:ext cx="2717800" cy="787400"/>
          </a:xfrm>
          <a:prstGeom prst="roundRect">
            <a:avLst/>
          </a:prstGeom>
          <a:solidFill>
            <a:srgbClr val="ECFDF5"/>
          </a:solidFill>
          <a:ln w="15240">
            <a:solidFill>
              <a:srgbClr val="0596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>
                <a:solidFill>
                  <a:srgbClr val="059669"/>
                </a:solidFill>
              </a:rPr>
              <a:t>🚜 Tank Treads</a:t>
            </a:r>
          </a:p>
          <a:p>
            <a:pPr algn="ctr"/>
            <a:r>
              <a:rPr lang="en-US" sz="800">
                <a:solidFill>
                  <a:srgbClr val="1E3347"/>
                </a:solidFill>
              </a:rPr>
              <a:t>Climb 45° collapsed debris</a:t>
            </a:r>
            <a:endParaRPr lang="en-IN" sz="800">
              <a:solidFill>
                <a:srgbClr val="1E3347"/>
              </a:solidFill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2BAD8E52-B6E2-D87B-4A92-1904130A352D}"/>
              </a:ext>
            </a:extLst>
          </p:cNvPr>
          <p:cNvSpPr/>
          <p:nvPr/>
        </p:nvSpPr>
        <p:spPr>
          <a:xfrm>
            <a:off x="3302000" y="2489200"/>
            <a:ext cx="2717800" cy="787400"/>
          </a:xfrm>
          <a:prstGeom prst="roundRect">
            <a:avLst/>
          </a:prstGeom>
          <a:solidFill>
            <a:srgbClr val="F0F9FF"/>
          </a:solidFill>
          <a:ln w="15240">
            <a:solidFill>
              <a:srgbClr val="0284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>
                <a:solidFill>
                  <a:srgbClr val="0284C7"/>
                </a:solidFill>
              </a:rPr>
              <a:t>🚁 Octocopter Drone</a:t>
            </a:r>
          </a:p>
          <a:p>
            <a:pPr algn="ctr"/>
            <a:r>
              <a:rPr lang="en-US" sz="800">
                <a:solidFill>
                  <a:srgbClr val="1E3347"/>
                </a:solidFill>
              </a:rPr>
              <a:t>8 rotors hop over deep trenches</a:t>
            </a:r>
            <a:endParaRPr lang="en-IN" sz="800">
              <a:solidFill>
                <a:srgbClr val="1E3347"/>
              </a:solidFill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784D9714-4809-3D00-30CD-C2E8843F2788}"/>
              </a:ext>
            </a:extLst>
          </p:cNvPr>
          <p:cNvSpPr/>
          <p:nvPr/>
        </p:nvSpPr>
        <p:spPr>
          <a:xfrm>
            <a:off x="457200" y="3403600"/>
            <a:ext cx="2717800" cy="787400"/>
          </a:xfrm>
          <a:prstGeom prst="roundRect">
            <a:avLst/>
          </a:prstGeom>
          <a:solidFill>
            <a:srgbClr val="F0FDFA"/>
          </a:solidFill>
          <a:ln w="15240">
            <a:solidFill>
              <a:srgbClr val="0D948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>
                <a:solidFill>
                  <a:srgbClr val="0D9488"/>
                </a:solidFill>
              </a:rPr>
              <a:t>🚢 Amphibious Hull</a:t>
            </a:r>
          </a:p>
          <a:p>
            <a:pPr algn="ctr"/>
            <a:r>
              <a:rPr lang="en-US" sz="800">
                <a:solidFill>
                  <a:srgbClr val="1E3347"/>
                </a:solidFill>
              </a:rPr>
              <a:t>IP68 pontoon floats &amp; steers</a:t>
            </a:r>
            <a:endParaRPr lang="en-IN" sz="800">
              <a:solidFill>
                <a:srgbClr val="1E3347"/>
              </a:solidFill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B8FB2C3-ED57-055A-8C08-2D8F07DEE586}"/>
              </a:ext>
            </a:extLst>
          </p:cNvPr>
          <p:cNvSpPr/>
          <p:nvPr/>
        </p:nvSpPr>
        <p:spPr>
          <a:xfrm>
            <a:off x="3302000" y="3403600"/>
            <a:ext cx="2717800" cy="787400"/>
          </a:xfrm>
          <a:prstGeom prst="roundRect">
            <a:avLst/>
          </a:prstGeom>
          <a:solidFill>
            <a:srgbClr val="FFF1F2"/>
          </a:solidFill>
          <a:ln w="15240">
            <a:solidFill>
              <a:srgbClr val="E11D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>
                <a:solidFill>
                  <a:srgbClr val="E11D48"/>
                </a:solidFill>
              </a:rPr>
              <a:t>🦾 Bionic SpO2 Arm</a:t>
            </a:r>
          </a:p>
          <a:p>
            <a:pPr algn="ctr"/>
            <a:r>
              <a:rPr lang="en-US" sz="800">
                <a:solidFill>
                  <a:srgbClr val="1E3347"/>
                </a:solidFill>
              </a:rPr>
              <a:t>Scans pulse &amp; SpO2 in 10cm voids</a:t>
            </a:r>
            <a:endParaRPr lang="en-IN" sz="800">
              <a:solidFill>
                <a:srgbClr val="1E3347"/>
              </a:solidFill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F4E7FDCF-5962-8BF4-23FF-AE47571EAD1F}"/>
              </a:ext>
            </a:extLst>
          </p:cNvPr>
          <p:cNvSpPr/>
          <p:nvPr/>
        </p:nvSpPr>
        <p:spPr>
          <a:xfrm>
            <a:off x="457200" y="4419600"/>
            <a:ext cx="5689600" cy="1333500"/>
          </a:xfrm>
          <a:prstGeom prst="roundRect">
            <a:avLst/>
          </a:prstGeom>
          <a:solidFill>
            <a:srgbClr val="FFF7ED"/>
          </a:solidFill>
          <a:ln w="19050">
            <a:solidFill>
              <a:srgbClr val="EA580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b="1">
                <a:solidFill>
                  <a:srgbClr val="0F172A"/>
                </a:solidFill>
              </a:rPr>
              <a:t>Team Leader: Harshit Sharma  |  Team: ALPHA-X (ID: SIH_1186)</a:t>
            </a:r>
          </a:p>
          <a:p>
            <a:pPr algn="ctr"/>
            <a:r>
              <a:rPr lang="en-IN" sz="850">
                <a:solidFill>
                  <a:srgbClr val="475569"/>
                </a:solidFill>
              </a:rPr>
              <a:t>Institute: Poornima University, Jaipur  |  Category: Hardware &amp; Edge AI</a:t>
            </a:r>
          </a:p>
          <a:p>
            <a:pPr algn="ctr"/>
            <a:r>
              <a:rPr lang="en-IN" sz="850" b="1">
                <a:solidFill>
                  <a:srgbClr val="7C3AED"/>
                </a:solidFill>
              </a:rPr>
              <a:t>Key Novelty: Autonomous 3D Rescue Blueprint &amp; Vitals Triage for NDRF</a:t>
            </a:r>
          </a:p>
          <a:p>
            <a:pPr algn="ctr"/>
            <a:r>
              <a:rPr lang="en-IN" sz="950" b="1">
                <a:solidFill>
                  <a:srgbClr val="EA580C"/>
                </a:solidFill>
              </a:rPr>
              <a:t>'We don't just build robots, we build hope.'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42DECF9A-A9B2-08D9-54AE-5F14B2D4FEBE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0500" y="762000"/>
            <a:ext cx="5397500" cy="5270500"/>
          </a:xfrm>
          <a:prstGeom prst="rect">
            <a:avLst/>
          </a:prstGeom>
          <a:ln w="25400">
            <a:solidFill>
              <a:schemeClr val="tx1"/>
            </a:solidFill>
          </a:ln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E5396065-A1DD-AD0E-F182-EB532FB2D841}"/>
              </a:ext>
            </a:extLst>
          </p:cNvPr>
          <p:cNvSpPr/>
          <p:nvPr/>
        </p:nvSpPr>
        <p:spPr>
          <a:xfrm>
            <a:off x="0" y="6159500"/>
            <a:ext cx="12192000" cy="698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0E8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0B2B85E-62B5-B26F-461C-4C3FD20BD144}"/>
              </a:ext>
            </a:extLst>
          </p:cNvPr>
          <p:cNvSpPr txBox="1"/>
          <p:nvPr/>
        </p:nvSpPr>
        <p:spPr>
          <a:xfrm>
            <a:off x="254000" y="6248400"/>
            <a:ext cx="11684000" cy="25391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050" b="1">
                <a:solidFill>
                  <a:srgbClr val="EA580C"/>
                </a:solidFill>
              </a:rPr>
              <a:t>Poornima University Internal Hackathon RANK 5 Finalist   |   Theme: Disaster Management   |   GitHub: github.com/harshitsharma120109-web/ARIES-Search-Rescue-Rover</a:t>
            </a:r>
          </a:p>
        </p:txBody>
      </p:sp>
    </p:spTree>
    <p:extLst>
      <p:ext uri="{BB962C8B-B14F-4D97-AF65-F5344CB8AC3E}">
        <p14:creationId xmlns:p14="http://schemas.microsoft.com/office/powerpoint/2010/main" val="40752985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9368BB6-992F-0692-40B7-627AC25C7A4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879B3FB-7747-A00C-96C2-5EFEE5A6F4E9}"/>
              </a:ext>
            </a:extLst>
          </p:cNvPr>
          <p:cNvSpPr/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0E8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9BEBB84-1731-EE75-E6C9-7AF98433CEE7}"/>
              </a:ext>
            </a:extLst>
          </p:cNvPr>
          <p:cNvSpPr/>
          <p:nvPr/>
        </p:nvSpPr>
        <p:spPr>
          <a:xfrm>
            <a:off x="254000" y="114300"/>
            <a:ext cx="1778000" cy="381000"/>
          </a:xfrm>
          <a:prstGeom prst="roundRect">
            <a:avLst/>
          </a:prstGeom>
          <a:solidFill>
            <a:srgbClr val="EA580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50" b="1">
                <a:solidFill>
                  <a:srgbClr val="FFFFFF"/>
                </a:solidFill>
              </a:rPr>
              <a:t>ALPHA-X | SIH_1186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E1290F-BC3C-FF02-58FC-F9B2FB0816C5}"/>
              </a:ext>
            </a:extLst>
          </p:cNvPr>
          <p:cNvSpPr txBox="1"/>
          <p:nvPr/>
        </p:nvSpPr>
        <p:spPr>
          <a:xfrm>
            <a:off x="2133600" y="101600"/>
            <a:ext cx="6096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400" b="1">
                <a:solidFill>
                  <a:srgbClr val="0F172A"/>
                </a:solidFill>
              </a:rPr>
              <a:t>PROPOSED SOLUTION &amp; AUTONOMOUS RESCUE PATHWAY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ECB9735-3064-8E8B-7F07-0A6DEBDB8EF6}"/>
              </a:ext>
            </a:extLst>
          </p:cNvPr>
          <p:cNvSpPr/>
          <p:nvPr/>
        </p:nvSpPr>
        <p:spPr>
          <a:xfrm>
            <a:off x="8318500" y="114300"/>
            <a:ext cx="2667000" cy="381000"/>
          </a:xfrm>
          <a:prstGeom prst="roundRect">
            <a:avLst/>
          </a:prstGeom>
          <a:solidFill>
            <a:srgbClr val="F0F9FF"/>
          </a:solidFill>
          <a:ln w="15240">
            <a:solidFill>
              <a:srgbClr val="0284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b="1">
                <a:solidFill>
                  <a:srgbClr val="0284C7"/>
                </a:solidFill>
              </a:rPr>
              <a:t>SIH26223 | MISSION WORKFLOW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52CC7AD-F9D1-6530-C514-C8D1F8011305}"/>
              </a:ext>
            </a:extLst>
          </p:cNvPr>
          <p:cNvSpPr/>
          <p:nvPr/>
        </p:nvSpPr>
        <p:spPr>
          <a:xfrm>
            <a:off x="11112500" y="88900"/>
            <a:ext cx="825500" cy="43180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D977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800" b="1">
                <a:solidFill>
                  <a:srgbClr val="D97706"/>
                </a:solidFill>
              </a:rPr>
              <a:t>[SIH LOGO]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713B0DB-EF11-837B-EDBE-531A8B572664}"/>
              </a:ext>
            </a:extLst>
          </p:cNvPr>
          <p:cNvSpPr/>
          <p:nvPr/>
        </p:nvSpPr>
        <p:spPr>
          <a:xfrm>
            <a:off x="254000" y="711200"/>
            <a:ext cx="2819400" cy="863600"/>
          </a:xfrm>
          <a:prstGeom prst="roundRect">
            <a:avLst/>
          </a:prstGeom>
          <a:solidFill>
            <a:srgbClr val="FFF7ED"/>
          </a:solidFill>
          <a:ln w="22860">
            <a:solidFill>
              <a:srgbClr val="EA580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>
                <a:solidFill>
                  <a:srgbClr val="EA580C"/>
                </a:solidFill>
              </a:rPr>
              <a:t>10x-20x  Cost Disruption</a:t>
            </a:r>
          </a:p>
          <a:p>
            <a:pPr algn="ctr"/>
            <a:r>
              <a:rPr lang="en-US" sz="850">
                <a:solidFill>
                  <a:srgbClr val="1E3347"/>
                </a:solidFill>
              </a:rPr>
              <a:t>₹50,000 vs ₹25L imported</a:t>
            </a:r>
            <a:endParaRPr lang="en-IN" sz="850">
              <a:solidFill>
                <a:srgbClr val="1E3347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0E9822E-F4C0-9FBC-A7C6-4172C717E6AB}"/>
              </a:ext>
            </a:extLst>
          </p:cNvPr>
          <p:cNvSpPr/>
          <p:nvPr/>
        </p:nvSpPr>
        <p:spPr>
          <a:xfrm>
            <a:off x="3200400" y="711200"/>
            <a:ext cx="2819400" cy="863600"/>
          </a:xfrm>
          <a:prstGeom prst="roundRect">
            <a:avLst/>
          </a:prstGeom>
          <a:solidFill>
            <a:srgbClr val="F0F9FF"/>
          </a:solidFill>
          <a:ln w="22860">
            <a:solidFill>
              <a:srgbClr val="0284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200" b="1">
                <a:solidFill>
                  <a:srgbClr val="0284C7"/>
                </a:solidFill>
              </a:rPr>
              <a:t>5 km  Deep Rubble LoRa</a:t>
            </a:r>
          </a:p>
          <a:p>
            <a:pPr algn="ctr"/>
            <a:r>
              <a:rPr lang="it-IT" sz="850">
                <a:solidFill>
                  <a:srgbClr val="1E3347"/>
                </a:solidFill>
              </a:rPr>
              <a:t>Sub-GHz concrete mesh</a:t>
            </a:r>
            <a:endParaRPr lang="en-IN" sz="850">
              <a:solidFill>
                <a:srgbClr val="1E3347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CA66F16-CAFD-6A5C-8B94-C281C40D5B87}"/>
              </a:ext>
            </a:extLst>
          </p:cNvPr>
          <p:cNvSpPr/>
          <p:nvPr/>
        </p:nvSpPr>
        <p:spPr>
          <a:xfrm>
            <a:off x="6146800" y="711200"/>
            <a:ext cx="2819400" cy="863600"/>
          </a:xfrm>
          <a:prstGeom prst="roundRect">
            <a:avLst/>
          </a:prstGeom>
          <a:solidFill>
            <a:srgbClr val="FEF2F2"/>
          </a:solidFill>
          <a:ln w="22860">
            <a:solidFill>
              <a:srgbClr val="DC26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>
                <a:solidFill>
                  <a:srgbClr val="DC2626"/>
                </a:solidFill>
              </a:rPr>
              <a:t>1000°C  Fire Armor Shield</a:t>
            </a:r>
          </a:p>
          <a:p>
            <a:pPr algn="ctr"/>
            <a:r>
              <a:rPr lang="en-US" sz="850">
                <a:solidFill>
                  <a:srgbClr val="1E3347"/>
                </a:solidFill>
              </a:rPr>
              <a:t>Silica Aerogel insulation</a:t>
            </a:r>
            <a:endParaRPr lang="en-IN" sz="850">
              <a:solidFill>
                <a:srgbClr val="1E3347"/>
              </a:solidFill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B1DA25E-07B5-39F9-ABE0-5C8FD915E088}"/>
              </a:ext>
            </a:extLst>
          </p:cNvPr>
          <p:cNvSpPr/>
          <p:nvPr/>
        </p:nvSpPr>
        <p:spPr>
          <a:xfrm>
            <a:off x="9093200" y="711200"/>
            <a:ext cx="2819400" cy="863600"/>
          </a:xfrm>
          <a:prstGeom prst="roundRect">
            <a:avLst/>
          </a:prstGeom>
          <a:solidFill>
            <a:srgbClr val="F5F3FF"/>
          </a:solidFill>
          <a:ln w="22860">
            <a:solidFill>
              <a:srgbClr val="7C3A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>
                <a:solidFill>
                  <a:srgbClr val="7C3AED"/>
                </a:solidFill>
              </a:rPr>
              <a:t>3D Blueprint  Tactical NDRF Map</a:t>
            </a:r>
          </a:p>
          <a:p>
            <a:pPr algn="ctr"/>
            <a:r>
              <a:rPr lang="en-US" sz="850">
                <a:solidFill>
                  <a:srgbClr val="1E3347"/>
                </a:solidFill>
              </a:rPr>
              <a:t>Triage severity &amp; safe path</a:t>
            </a:r>
            <a:endParaRPr lang="en-IN" sz="850">
              <a:solidFill>
                <a:srgbClr val="1E3347"/>
              </a:solidFill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E857BED-C40D-A6DF-9B9D-2254D73DADC7}"/>
              </a:ext>
            </a:extLst>
          </p:cNvPr>
          <p:cNvSpPr/>
          <p:nvPr/>
        </p:nvSpPr>
        <p:spPr>
          <a:xfrm>
            <a:off x="254000" y="1676400"/>
            <a:ext cx="6159500" cy="43815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0E8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56A423D-AF61-D847-A7A3-8CAADE77A1B9}"/>
              </a:ext>
            </a:extLst>
          </p:cNvPr>
          <p:cNvSpPr txBox="1"/>
          <p:nvPr/>
        </p:nvSpPr>
        <p:spPr>
          <a:xfrm>
            <a:off x="355600" y="1727200"/>
            <a:ext cx="5969000" cy="23852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50" b="1">
                <a:solidFill>
                  <a:srgbClr val="0F172A"/>
                </a:solidFill>
              </a:rPr>
              <a:t>AUTONOMOUS OPERATIONAL PATHWAY (HOW ARIES EXECUTES RESCUE):</a:t>
            </a:r>
            <a:endParaRPr lang="en-IN" sz="950" b="1">
              <a:solidFill>
                <a:srgbClr val="0F172A"/>
              </a:solidFill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681FF341-56B0-07F4-E64E-91D31A30C79F}"/>
              </a:ext>
            </a:extLst>
          </p:cNvPr>
          <p:cNvSpPr/>
          <p:nvPr/>
        </p:nvSpPr>
        <p:spPr>
          <a:xfrm>
            <a:off x="355600" y="2057400"/>
            <a:ext cx="5943600" cy="711200"/>
          </a:xfrm>
          <a:prstGeom prst="roundRect">
            <a:avLst/>
          </a:prstGeom>
          <a:solidFill>
            <a:srgbClr val="ECFDF5"/>
          </a:solidFill>
          <a:ln w="15240">
            <a:solidFill>
              <a:srgbClr val="0596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1256AFC1-D36D-7B02-0D12-E04A13DF67D0}"/>
              </a:ext>
            </a:extLst>
          </p:cNvPr>
          <p:cNvSpPr/>
          <p:nvPr/>
        </p:nvSpPr>
        <p:spPr>
          <a:xfrm>
            <a:off x="457200" y="2159000"/>
            <a:ext cx="457200" cy="254000"/>
          </a:xfrm>
          <a:prstGeom prst="roundRect">
            <a:avLst/>
          </a:prstGeom>
          <a:solidFill>
            <a:srgbClr val="05966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90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9987207-596A-E976-B8DA-AA7C8D9FEE53}"/>
              </a:ext>
            </a:extLst>
          </p:cNvPr>
          <p:cNvSpPr txBox="1"/>
          <p:nvPr/>
        </p:nvSpPr>
        <p:spPr>
          <a:xfrm>
            <a:off x="1016000" y="2095500"/>
            <a:ext cx="5207000" cy="3662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000" b="1">
                <a:solidFill>
                  <a:srgbClr val="059669"/>
                </a:solidFill>
              </a:rPr>
              <a:t>🚜 Autonomous Rubble Ingress &amp; SLAM</a:t>
            </a:r>
          </a:p>
          <a:p>
            <a:r>
              <a:rPr lang="en-IN" sz="780">
                <a:solidFill>
                  <a:srgbClr val="1E3347"/>
                </a:solidFill>
              </a:rPr>
              <a:t>Deployed to disaster zone -&gt; Rover navigates ruins autonomously; LiDAR &amp; sonar map safe ingress path.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D373ECB1-5738-278F-C2D3-566829B32A35}"/>
              </a:ext>
            </a:extLst>
          </p:cNvPr>
          <p:cNvSpPr/>
          <p:nvPr/>
        </p:nvSpPr>
        <p:spPr>
          <a:xfrm>
            <a:off x="355600" y="2832100"/>
            <a:ext cx="5943600" cy="711200"/>
          </a:xfrm>
          <a:prstGeom prst="roundRect">
            <a:avLst/>
          </a:prstGeom>
          <a:solidFill>
            <a:srgbClr val="F0F9FF"/>
          </a:solidFill>
          <a:ln w="15240">
            <a:solidFill>
              <a:srgbClr val="0284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BE2E9EFB-9386-1515-0B84-EA0A37BD5E01}"/>
              </a:ext>
            </a:extLst>
          </p:cNvPr>
          <p:cNvSpPr/>
          <p:nvPr/>
        </p:nvSpPr>
        <p:spPr>
          <a:xfrm>
            <a:off x="457200" y="2933700"/>
            <a:ext cx="457200" cy="254000"/>
          </a:xfrm>
          <a:prstGeom prst="roundRect">
            <a:avLst/>
          </a:prstGeom>
          <a:solidFill>
            <a:srgbClr val="0284C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90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AB8B2F6-1DA5-D29C-B630-D14BF0E892D3}"/>
              </a:ext>
            </a:extLst>
          </p:cNvPr>
          <p:cNvSpPr txBox="1"/>
          <p:nvPr/>
        </p:nvSpPr>
        <p:spPr>
          <a:xfrm>
            <a:off x="1016000" y="2870200"/>
            <a:ext cx="5207000" cy="3662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 b="1">
                <a:solidFill>
                  <a:srgbClr val="0284C7"/>
                </a:solidFill>
              </a:rPr>
              <a:t>🚁 Auto-Trench Air-Hop &amp; Flood Float</a:t>
            </a:r>
          </a:p>
          <a:p>
            <a:r>
              <a:rPr lang="en-US" sz="780">
                <a:solidFill>
                  <a:srgbClr val="1E3347"/>
                </a:solidFill>
              </a:rPr>
              <a:t>If deep chasm/trench met -&gt; 8-rotor octocopter lifts chassis across; pontoon hull floats over flood.</a:t>
            </a:r>
            <a:endParaRPr lang="en-IN" sz="780">
              <a:solidFill>
                <a:srgbClr val="1E3347"/>
              </a:solidFill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CD0C68ED-E337-8A29-41D7-0B72976BACF5}"/>
              </a:ext>
            </a:extLst>
          </p:cNvPr>
          <p:cNvSpPr/>
          <p:nvPr/>
        </p:nvSpPr>
        <p:spPr>
          <a:xfrm>
            <a:off x="355600" y="3606800"/>
            <a:ext cx="5943600" cy="711200"/>
          </a:xfrm>
          <a:prstGeom prst="roundRect">
            <a:avLst/>
          </a:prstGeom>
          <a:solidFill>
            <a:srgbClr val="FFF1F2"/>
          </a:solidFill>
          <a:ln w="15240">
            <a:solidFill>
              <a:srgbClr val="E11D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110B0D78-02B1-7479-193C-1CAF19AAA44F}"/>
              </a:ext>
            </a:extLst>
          </p:cNvPr>
          <p:cNvSpPr/>
          <p:nvPr/>
        </p:nvSpPr>
        <p:spPr>
          <a:xfrm>
            <a:off x="457200" y="3708400"/>
            <a:ext cx="457200" cy="254000"/>
          </a:xfrm>
          <a:prstGeom prst="roundRect">
            <a:avLst/>
          </a:prstGeom>
          <a:solidFill>
            <a:srgbClr val="E11D4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90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29CED0E-AE39-7B96-8280-FF781FB9B65F}"/>
              </a:ext>
            </a:extLst>
          </p:cNvPr>
          <p:cNvSpPr txBox="1"/>
          <p:nvPr/>
        </p:nvSpPr>
        <p:spPr>
          <a:xfrm>
            <a:off x="1016000" y="3644900"/>
            <a:ext cx="5207000" cy="3662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000" b="1">
                <a:solidFill>
                  <a:srgbClr val="E11D48"/>
                </a:solidFill>
              </a:rPr>
              <a:t>🦾 Bionic Arm Crevice Probe &amp; Vitals Exam</a:t>
            </a:r>
          </a:p>
          <a:p>
            <a:r>
              <a:rPr lang="en-IN" sz="780">
                <a:solidFill>
                  <a:srgbClr val="1E3347"/>
                </a:solidFill>
              </a:rPr>
              <a:t>Spots heat signature -&gt; 4-DOF arm enters 10cm crevice to scan survivor pulse &amp; SpO2 at tip.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110B52C6-DD47-1EC2-86CE-6F82E0060674}"/>
              </a:ext>
            </a:extLst>
          </p:cNvPr>
          <p:cNvSpPr/>
          <p:nvPr/>
        </p:nvSpPr>
        <p:spPr>
          <a:xfrm>
            <a:off x="355600" y="4381500"/>
            <a:ext cx="5943600" cy="711200"/>
          </a:xfrm>
          <a:prstGeom prst="roundRect">
            <a:avLst/>
          </a:prstGeom>
          <a:solidFill>
            <a:srgbClr val="FFF7ED"/>
          </a:solidFill>
          <a:ln w="15240">
            <a:solidFill>
              <a:srgbClr val="EA580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E6C5A19F-F44D-FD68-CED2-F62ED1D2D191}"/>
              </a:ext>
            </a:extLst>
          </p:cNvPr>
          <p:cNvSpPr/>
          <p:nvPr/>
        </p:nvSpPr>
        <p:spPr>
          <a:xfrm>
            <a:off x="457200" y="4483100"/>
            <a:ext cx="457200" cy="254000"/>
          </a:xfrm>
          <a:prstGeom prst="roundRect">
            <a:avLst/>
          </a:prstGeom>
          <a:solidFill>
            <a:srgbClr val="EA580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90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0905BDF-7CA7-EC92-1128-1D918275F73F}"/>
              </a:ext>
            </a:extLst>
          </p:cNvPr>
          <p:cNvSpPr txBox="1"/>
          <p:nvPr/>
        </p:nvSpPr>
        <p:spPr>
          <a:xfrm>
            <a:off x="1016000" y="4419600"/>
            <a:ext cx="5207000" cy="3662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000" b="1">
                <a:solidFill>
                  <a:srgbClr val="EA580C"/>
                </a:solidFill>
              </a:rPr>
              <a:t>📡 Instant LoRa &amp; GSM Telemetry to NDRF</a:t>
            </a:r>
          </a:p>
          <a:p>
            <a:r>
              <a:rPr lang="en-IN" sz="780">
                <a:solidFill>
                  <a:srgbClr val="1E3347"/>
                </a:solidFill>
              </a:rPr>
              <a:t>Transmits physiological vitals + toxic gas report instantly via 5km Sub-GHz LoRa mesh to command.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74C47C6F-E36A-E788-3CF5-32197D1606B7}"/>
              </a:ext>
            </a:extLst>
          </p:cNvPr>
          <p:cNvSpPr/>
          <p:nvPr/>
        </p:nvSpPr>
        <p:spPr>
          <a:xfrm>
            <a:off x="355600" y="5156200"/>
            <a:ext cx="5943600" cy="711200"/>
          </a:xfrm>
          <a:prstGeom prst="roundRect">
            <a:avLst/>
          </a:prstGeom>
          <a:solidFill>
            <a:srgbClr val="F5F3FF"/>
          </a:solidFill>
          <a:ln w="15240">
            <a:solidFill>
              <a:srgbClr val="7C3A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63396D29-41CF-1C16-79FE-CFB0A46999BF}"/>
              </a:ext>
            </a:extLst>
          </p:cNvPr>
          <p:cNvSpPr/>
          <p:nvPr/>
        </p:nvSpPr>
        <p:spPr>
          <a:xfrm>
            <a:off x="457200" y="5257800"/>
            <a:ext cx="457200" cy="254000"/>
          </a:xfrm>
          <a:prstGeom prst="roundRect">
            <a:avLst/>
          </a:prstGeom>
          <a:solidFill>
            <a:srgbClr val="7C3AE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900" b="1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51676B4-FBBB-505E-53C8-7F76E4331DC1}"/>
              </a:ext>
            </a:extLst>
          </p:cNvPr>
          <p:cNvSpPr txBox="1"/>
          <p:nvPr/>
        </p:nvSpPr>
        <p:spPr>
          <a:xfrm>
            <a:off x="1016000" y="5194300"/>
            <a:ext cx="5207000" cy="3662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 b="1">
                <a:solidFill>
                  <a:srgbClr val="7C3AED"/>
                </a:solidFill>
              </a:rPr>
              <a:t>🗺️ NDRF 3D Tactical Rescue Blueprint</a:t>
            </a:r>
          </a:p>
          <a:p>
            <a:r>
              <a:rPr lang="en-US" sz="780">
                <a:solidFill>
                  <a:srgbClr val="1E3347"/>
                </a:solidFill>
              </a:rPr>
              <a:t>Generates 3D Map for NDRF: exact victim locations, triage injury priority, and safe rescuer corridor!</a:t>
            </a:r>
            <a:endParaRPr lang="en-IN" sz="780">
              <a:solidFill>
                <a:srgbClr val="1E3347"/>
              </a:solidFill>
            </a:endParaRP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046EFC6E-8D79-1216-11C2-D1BB58F85AFA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4000" y="1676400"/>
            <a:ext cx="5334000" cy="2984500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835D65AD-AB3C-C3D5-9D88-FCCA6A3BB79F}"/>
              </a:ext>
            </a:extLst>
          </p:cNvPr>
          <p:cNvSpPr/>
          <p:nvPr/>
        </p:nvSpPr>
        <p:spPr>
          <a:xfrm>
            <a:off x="6604000" y="4762500"/>
            <a:ext cx="5334000" cy="1295400"/>
          </a:xfrm>
          <a:prstGeom prst="roundRect">
            <a:avLst/>
          </a:prstGeom>
          <a:solidFill>
            <a:srgbClr val="F5F3FF"/>
          </a:solidFill>
          <a:ln w="22860">
            <a:solidFill>
              <a:srgbClr val="7C3A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950" b="1">
                <a:solidFill>
                  <a:srgbClr val="7C3AED"/>
                </a:solidFill>
              </a:rPr>
              <a:t>🗺️ THE NDRF TACTICAL EXTRACTION BLUEPRINT (RESCUER SAFETY):</a:t>
            </a:r>
          </a:p>
          <a:p>
            <a:pPr algn="ctr"/>
            <a:r>
              <a:rPr lang="en-IN" sz="800">
                <a:solidFill>
                  <a:srgbClr val="1E3347"/>
                </a:solidFill>
              </a:rPr>
              <a:t>• Pinpointed Locations: Exact 3D coordinates &amp; depth of every trapped survivor.</a:t>
            </a:r>
          </a:p>
          <a:p>
            <a:pPr algn="ctr"/>
            <a:r>
              <a:rPr lang="en-IN" sz="800">
                <a:solidFill>
                  <a:srgbClr val="1E3347"/>
                </a:solidFill>
              </a:rPr>
              <a:t>• Smart Triage Severity: 🔴 Critical (&lt;90% SpO2 extract 1st) vs 🟡 Urgent vs 🟢 Stable.</a:t>
            </a:r>
          </a:p>
          <a:p>
            <a:pPr algn="ctr"/>
            <a:r>
              <a:rPr lang="en-IN" sz="800">
                <a:solidFill>
                  <a:srgbClr val="1E3347"/>
                </a:solidFill>
              </a:rPr>
              <a:t>• Safe Rescuer Corridor: Safe path avoiding secondary wall collapse &amp; chasms.</a:t>
            </a:r>
          </a:p>
          <a:p>
            <a:pPr algn="ctr"/>
            <a:r>
              <a:rPr lang="en-IN" sz="800">
                <a:solidFill>
                  <a:srgbClr val="1E3347"/>
                </a:solidFill>
              </a:rPr>
              <a:t>• Hazard Overlay: Flags MQ-135 toxic gas pockets &amp; 500°C fire zones before entry.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B94C29E-EA3F-960D-29F0-F0A69DC3C8F4}"/>
              </a:ext>
            </a:extLst>
          </p:cNvPr>
          <p:cNvSpPr/>
          <p:nvPr/>
        </p:nvSpPr>
        <p:spPr>
          <a:xfrm>
            <a:off x="0" y="6159500"/>
            <a:ext cx="12192000" cy="698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0E8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5202B9F-4E7B-E2F2-6138-F2919C9B336D}"/>
              </a:ext>
            </a:extLst>
          </p:cNvPr>
          <p:cNvSpPr txBox="1"/>
          <p:nvPr/>
        </p:nvSpPr>
        <p:spPr>
          <a:xfrm>
            <a:off x="254000" y="6248400"/>
            <a:ext cx="1168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 b="1">
                <a:solidFill>
                  <a:srgbClr val="0F172A"/>
                </a:solidFill>
              </a:rPr>
              <a:t>Mission Value: Complete autonomous loop from ingress to survivor vitals triage and final NDRF Tactical Blueprint generation.</a:t>
            </a:r>
            <a:endParaRPr lang="en-IN" sz="1000" b="1">
              <a:solidFill>
                <a:srgbClr val="0F172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98831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37EA012-F995-93BF-86D4-E8911BBF123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CC9F9C7-0FAD-489F-5BDA-358860912C09}"/>
              </a:ext>
            </a:extLst>
          </p:cNvPr>
          <p:cNvSpPr/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0E8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6E7E8F9-56B0-1D8B-8238-911F02D013F6}"/>
              </a:ext>
            </a:extLst>
          </p:cNvPr>
          <p:cNvSpPr/>
          <p:nvPr/>
        </p:nvSpPr>
        <p:spPr>
          <a:xfrm>
            <a:off x="254000" y="114300"/>
            <a:ext cx="1778000" cy="381000"/>
          </a:xfrm>
          <a:prstGeom prst="roundRect">
            <a:avLst/>
          </a:prstGeom>
          <a:solidFill>
            <a:srgbClr val="EA580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50" b="1">
                <a:solidFill>
                  <a:srgbClr val="FFFFFF"/>
                </a:solidFill>
              </a:rPr>
              <a:t>ALPHA-X | SIH_1186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C3DFCA-7D4B-D46D-7C43-89662F93A5E2}"/>
              </a:ext>
            </a:extLst>
          </p:cNvPr>
          <p:cNvSpPr txBox="1"/>
          <p:nvPr/>
        </p:nvSpPr>
        <p:spPr>
          <a:xfrm>
            <a:off x="2133600" y="101600"/>
            <a:ext cx="6096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400" b="1">
                <a:solidFill>
                  <a:srgbClr val="0F172A"/>
                </a:solidFill>
              </a:rPr>
              <a:t>TECHNICAL APPROACH &amp; DUAL-MCU ARCHITECTURE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E78205D-7946-8E43-B20C-4337E1F011C2}"/>
              </a:ext>
            </a:extLst>
          </p:cNvPr>
          <p:cNvSpPr/>
          <p:nvPr/>
        </p:nvSpPr>
        <p:spPr>
          <a:xfrm>
            <a:off x="8318500" y="114300"/>
            <a:ext cx="2667000" cy="381000"/>
          </a:xfrm>
          <a:prstGeom prst="roundRect">
            <a:avLst/>
          </a:prstGeom>
          <a:solidFill>
            <a:srgbClr val="F0F9FF"/>
          </a:solidFill>
          <a:ln w="15240">
            <a:solidFill>
              <a:srgbClr val="0284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b="1">
                <a:solidFill>
                  <a:srgbClr val="0284C7"/>
                </a:solidFill>
              </a:rPr>
              <a:t>SIH26223 | HARDWARE &amp; AI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7CFCA02-76DE-F0BA-66F8-6DEE39B535A4}"/>
              </a:ext>
            </a:extLst>
          </p:cNvPr>
          <p:cNvSpPr/>
          <p:nvPr/>
        </p:nvSpPr>
        <p:spPr>
          <a:xfrm>
            <a:off x="11112500" y="88900"/>
            <a:ext cx="825500" cy="43180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D977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800" b="1">
                <a:solidFill>
                  <a:srgbClr val="D97706"/>
                </a:solidFill>
              </a:rPr>
              <a:t>[SIH LOGO]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641475B-FEF7-1058-98EE-93DC90191A75}"/>
              </a:ext>
            </a:extLst>
          </p:cNvPr>
          <p:cNvSpPr/>
          <p:nvPr/>
        </p:nvSpPr>
        <p:spPr>
          <a:xfrm>
            <a:off x="254000" y="736600"/>
            <a:ext cx="3759200" cy="3683000"/>
          </a:xfrm>
          <a:prstGeom prst="roundRect">
            <a:avLst/>
          </a:prstGeom>
          <a:solidFill>
            <a:srgbClr val="FFF7ED"/>
          </a:solidFill>
          <a:ln w="22860">
            <a:solidFill>
              <a:srgbClr val="EA580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6BAEE82-85BF-CB5D-D23E-E5E6296A4C7C}"/>
              </a:ext>
            </a:extLst>
          </p:cNvPr>
          <p:cNvSpPr txBox="1"/>
          <p:nvPr/>
        </p:nvSpPr>
        <p:spPr>
          <a:xfrm>
            <a:off x="381000" y="863600"/>
            <a:ext cx="3505200" cy="117724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350" b="1">
                <a:solidFill>
                  <a:srgbClr val="EA580C"/>
                </a:solidFill>
              </a:rPr>
              <a:t>🚜 Tri-Phibian Mobility</a:t>
            </a:r>
          </a:p>
          <a:p>
            <a:endParaRPr lang="en-IN" sz="950">
              <a:solidFill>
                <a:srgbClr val="1E3347"/>
              </a:solidFill>
            </a:endParaRPr>
          </a:p>
          <a:p>
            <a:r>
              <a:rPr lang="en-IN" sz="950">
                <a:solidFill>
                  <a:srgbClr val="1E3347"/>
                </a:solidFill>
              </a:rPr>
              <a:t>• Land: Kevlar caterpillar tank tracks with high-torque DC planetary gearmotors (climbs 45° debris).</a:t>
            </a:r>
          </a:p>
          <a:p>
            <a:r>
              <a:rPr lang="en-IN" sz="950">
                <a:solidFill>
                  <a:srgbClr val="1E3347"/>
                </a:solidFill>
              </a:rPr>
              <a:t>• Water: IP68 sealed carbon boat hull + twin submersible waterjets.</a:t>
            </a:r>
          </a:p>
          <a:p>
            <a:r>
              <a:rPr lang="en-IN" sz="950">
                <a:solidFill>
                  <a:srgbClr val="1E3347"/>
                </a:solidFill>
              </a:rPr>
              <a:t>• Air: 8x heavy-lift carbon-fiber outrigger rotors (lifts full 15kg chassis over trenches).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8D65D7B-46D1-B10D-7B6A-EFB91C6A2253}"/>
              </a:ext>
            </a:extLst>
          </p:cNvPr>
          <p:cNvSpPr/>
          <p:nvPr/>
        </p:nvSpPr>
        <p:spPr>
          <a:xfrm>
            <a:off x="4216400" y="736600"/>
            <a:ext cx="3759200" cy="3683000"/>
          </a:xfrm>
          <a:prstGeom prst="roundRect">
            <a:avLst/>
          </a:prstGeom>
          <a:solidFill>
            <a:srgbClr val="FFF1F2"/>
          </a:solidFill>
          <a:ln w="22860">
            <a:solidFill>
              <a:srgbClr val="E11D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FA63FD9-49BD-44BB-7DB8-47F282B75C68}"/>
              </a:ext>
            </a:extLst>
          </p:cNvPr>
          <p:cNvSpPr txBox="1"/>
          <p:nvPr/>
        </p:nvSpPr>
        <p:spPr>
          <a:xfrm>
            <a:off x="4343400" y="863600"/>
            <a:ext cx="3505200" cy="132343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350" b="1">
                <a:solidFill>
                  <a:srgbClr val="E11D48"/>
                </a:solidFill>
              </a:rPr>
              <a:t>🦾 Perception &amp; Bionic Arm</a:t>
            </a:r>
          </a:p>
          <a:p>
            <a:endParaRPr lang="en-IN" sz="950">
              <a:solidFill>
                <a:srgbClr val="1E3347"/>
              </a:solidFill>
            </a:endParaRPr>
          </a:p>
          <a:p>
            <a:r>
              <a:rPr lang="en-IN" sz="950">
                <a:solidFill>
                  <a:srgbClr val="1E3347"/>
                </a:solidFill>
              </a:rPr>
              <a:t>• Bionic Arm: 4-DOF carbon manipulator (1m reach inside 10cm crevice voids).</a:t>
            </a:r>
          </a:p>
          <a:p>
            <a:r>
              <a:rPr lang="en-IN" sz="950">
                <a:solidFill>
                  <a:srgbClr val="1E3347"/>
                </a:solidFill>
              </a:rPr>
              <a:t>• Biosensor Tip: MAX30102 pulse oximeter (BPM &amp; SpO2) + BMP280 depth probe.</a:t>
            </a:r>
          </a:p>
          <a:p>
            <a:r>
              <a:rPr lang="en-IN" sz="950">
                <a:solidFill>
                  <a:srgbClr val="1E3347"/>
                </a:solidFill>
              </a:rPr>
              <a:t>• Vision Core: FLIR radiometric LWIR thermal core + 3D LiDAR SLAM.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48CD63D-4F17-1E8A-EF6B-E171C3332277}"/>
              </a:ext>
            </a:extLst>
          </p:cNvPr>
          <p:cNvSpPr/>
          <p:nvPr/>
        </p:nvSpPr>
        <p:spPr>
          <a:xfrm>
            <a:off x="8178800" y="736600"/>
            <a:ext cx="3759200" cy="3683000"/>
          </a:xfrm>
          <a:prstGeom prst="roundRect">
            <a:avLst/>
          </a:prstGeom>
          <a:solidFill>
            <a:srgbClr val="ECFDF5"/>
          </a:solidFill>
          <a:ln w="22860">
            <a:solidFill>
              <a:srgbClr val="0596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FE73A7A-6EAB-4C89-86A8-B05AFDDD7038}"/>
              </a:ext>
            </a:extLst>
          </p:cNvPr>
          <p:cNvSpPr txBox="1"/>
          <p:nvPr/>
        </p:nvSpPr>
        <p:spPr>
          <a:xfrm>
            <a:off x="8305800" y="863600"/>
            <a:ext cx="3505200" cy="132343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350" b="1">
                <a:solidFill>
                  <a:srgbClr val="059669"/>
                </a:solidFill>
              </a:rPr>
              <a:t>⚡ Dual-MCU &amp; Fire Shield</a:t>
            </a:r>
          </a:p>
          <a:p>
            <a:endParaRPr lang="en-IN" sz="950">
              <a:solidFill>
                <a:srgbClr val="1E3347"/>
              </a:solidFill>
            </a:endParaRPr>
          </a:p>
          <a:p>
            <a:r>
              <a:rPr lang="en-IN" sz="950">
                <a:solidFill>
                  <a:srgbClr val="1E3347"/>
                </a:solidFill>
              </a:rPr>
              <a:t>• Dual-MCU: Arduino #1 (Drive) + Arduino #2 (Sensors) - Zero EMF freeze!</a:t>
            </a:r>
          </a:p>
          <a:p>
            <a:r>
              <a:rPr lang="en-IN" sz="950">
                <a:solidFill>
                  <a:srgbClr val="1E3347"/>
                </a:solidFill>
              </a:rPr>
              <a:t>• Comms: 5 km Sub-GHz LoRa Mesh (868MHz) + Wi-Fi 6 + SIM800L GSM.</a:t>
            </a:r>
          </a:p>
          <a:p>
            <a:r>
              <a:rPr lang="en-IN" sz="950">
                <a:solidFill>
                  <a:srgbClr val="1E3347"/>
                </a:solidFill>
              </a:rPr>
              <a:t>• Fire Armor: 10mm Silica Aerogel (blocks 1000°C) + Nitrogen cold purge.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61CA2B2-9585-49C1-53D6-2E23D74D8030}"/>
              </a:ext>
            </a:extLst>
          </p:cNvPr>
          <p:cNvSpPr/>
          <p:nvPr/>
        </p:nvSpPr>
        <p:spPr>
          <a:xfrm>
            <a:off x="254000" y="4572000"/>
            <a:ext cx="11684000" cy="14605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0E8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4AE4F48-9D6E-51AC-A0D8-A69EBAFADE1D}"/>
              </a:ext>
            </a:extLst>
          </p:cNvPr>
          <p:cNvSpPr txBox="1"/>
          <p:nvPr/>
        </p:nvSpPr>
        <p:spPr>
          <a:xfrm>
            <a:off x="381000" y="4622800"/>
            <a:ext cx="11430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 b="1">
                <a:solidFill>
                  <a:srgbClr val="0F172A"/>
                </a:solidFill>
              </a:rPr>
              <a:t>SYSTEM ARCHITECTURE &amp; END-TO-END DATAFLOW PIPELINE:</a:t>
            </a:r>
            <a:endParaRPr lang="en-IN" sz="1000" b="1">
              <a:solidFill>
                <a:srgbClr val="0F172A"/>
              </a:solidFill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BA811D64-D09B-87E2-0EE6-13661CA5974C}"/>
              </a:ext>
            </a:extLst>
          </p:cNvPr>
          <p:cNvSpPr/>
          <p:nvPr/>
        </p:nvSpPr>
        <p:spPr>
          <a:xfrm>
            <a:off x="406400" y="4953000"/>
            <a:ext cx="2413000" cy="863600"/>
          </a:xfrm>
          <a:prstGeom prst="roundRect">
            <a:avLst/>
          </a:prstGeom>
          <a:solidFill>
            <a:srgbClr val="FFF1F2"/>
          </a:solidFill>
          <a:ln w="19050">
            <a:solidFill>
              <a:srgbClr val="E11D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50" b="1">
                <a:solidFill>
                  <a:srgbClr val="E11D48"/>
                </a:solidFill>
              </a:rPr>
              <a:t>1. SENSING &amp; ARM</a:t>
            </a:r>
          </a:p>
          <a:p>
            <a:pPr algn="ctr"/>
            <a:r>
              <a:rPr lang="en-IN" sz="850">
                <a:solidFill>
                  <a:srgbClr val="1E3347"/>
                </a:solidFill>
              </a:rPr>
              <a:t>MQ-135, FLIR, SpO2, Sonar</a:t>
            </a:r>
          </a:p>
        </p:txBody>
      </p:sp>
      <p:sp>
        <p:nvSpPr>
          <p:cNvPr id="17" name="Cylinder 16">
            <a:extLst>
              <a:ext uri="{FF2B5EF4-FFF2-40B4-BE49-F238E27FC236}">
                <a16:creationId xmlns:a16="http://schemas.microsoft.com/office/drawing/2014/main" id="{F7605646-7255-2660-43DE-C1EFD4844A19}"/>
              </a:ext>
            </a:extLst>
          </p:cNvPr>
          <p:cNvSpPr/>
          <p:nvPr/>
        </p:nvSpPr>
        <p:spPr>
          <a:xfrm>
            <a:off x="2895600" y="5270500"/>
            <a:ext cx="254000" cy="177800"/>
          </a:xfrm>
          <a:prstGeom prst="can">
            <a:avLst/>
          </a:prstGeom>
          <a:solidFill>
            <a:srgbClr val="EA580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AAF09057-E36A-FC07-1D74-8644FA51D1D5}"/>
              </a:ext>
            </a:extLst>
          </p:cNvPr>
          <p:cNvSpPr/>
          <p:nvPr/>
        </p:nvSpPr>
        <p:spPr>
          <a:xfrm>
            <a:off x="3251200" y="4953000"/>
            <a:ext cx="2413000" cy="86360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0596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>
                <a:solidFill>
                  <a:srgbClr val="059669"/>
                </a:solidFill>
              </a:rPr>
              <a:t>2. DUAL-MCU CORE</a:t>
            </a:r>
          </a:p>
          <a:p>
            <a:pPr algn="ctr"/>
            <a:r>
              <a:rPr lang="en-US" sz="850">
                <a:solidFill>
                  <a:srgbClr val="1E3347"/>
                </a:solidFill>
              </a:rPr>
              <a:t>Arduino #1 &amp; #2 Isolated Bus</a:t>
            </a:r>
            <a:endParaRPr lang="en-IN" sz="850">
              <a:solidFill>
                <a:srgbClr val="1E3347"/>
              </a:solidFill>
            </a:endParaRPr>
          </a:p>
        </p:txBody>
      </p:sp>
      <p:sp>
        <p:nvSpPr>
          <p:cNvPr id="19" name="Cylinder 18">
            <a:extLst>
              <a:ext uri="{FF2B5EF4-FFF2-40B4-BE49-F238E27FC236}">
                <a16:creationId xmlns:a16="http://schemas.microsoft.com/office/drawing/2014/main" id="{B8C681F0-349D-6F42-DAEE-5B9A98E0939C}"/>
              </a:ext>
            </a:extLst>
          </p:cNvPr>
          <p:cNvSpPr/>
          <p:nvPr/>
        </p:nvSpPr>
        <p:spPr>
          <a:xfrm>
            <a:off x="5740400" y="5270500"/>
            <a:ext cx="254000" cy="177800"/>
          </a:xfrm>
          <a:prstGeom prst="can">
            <a:avLst/>
          </a:prstGeom>
          <a:solidFill>
            <a:srgbClr val="EA580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A08E50AD-B7C2-CCE6-D57C-8AEFF23ADF17}"/>
              </a:ext>
            </a:extLst>
          </p:cNvPr>
          <p:cNvSpPr/>
          <p:nvPr/>
        </p:nvSpPr>
        <p:spPr>
          <a:xfrm>
            <a:off x="6096000" y="4953000"/>
            <a:ext cx="2413000" cy="86360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0284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>
                <a:solidFill>
                  <a:srgbClr val="0284C7"/>
                </a:solidFill>
              </a:rPr>
              <a:t>3. RESILIENT COMMS</a:t>
            </a:r>
          </a:p>
          <a:p>
            <a:pPr algn="ctr"/>
            <a:r>
              <a:rPr lang="en-US" sz="850">
                <a:solidFill>
                  <a:srgbClr val="1E3347"/>
                </a:solidFill>
              </a:rPr>
              <a:t>5 km LoRa Mesh + GSM SMS</a:t>
            </a:r>
            <a:endParaRPr lang="en-IN" sz="850">
              <a:solidFill>
                <a:srgbClr val="1E3347"/>
              </a:solidFill>
            </a:endParaRPr>
          </a:p>
        </p:txBody>
      </p:sp>
      <p:sp>
        <p:nvSpPr>
          <p:cNvPr id="21" name="Cylinder 20">
            <a:extLst>
              <a:ext uri="{FF2B5EF4-FFF2-40B4-BE49-F238E27FC236}">
                <a16:creationId xmlns:a16="http://schemas.microsoft.com/office/drawing/2014/main" id="{BBDB6642-9B0B-3180-6C0E-E12BEA46499B}"/>
              </a:ext>
            </a:extLst>
          </p:cNvPr>
          <p:cNvSpPr/>
          <p:nvPr/>
        </p:nvSpPr>
        <p:spPr>
          <a:xfrm>
            <a:off x="8585200" y="5270500"/>
            <a:ext cx="254000" cy="177800"/>
          </a:xfrm>
          <a:prstGeom prst="can">
            <a:avLst/>
          </a:prstGeom>
          <a:solidFill>
            <a:srgbClr val="EA580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328504C0-F924-09CC-CB50-BF87D20E020B}"/>
              </a:ext>
            </a:extLst>
          </p:cNvPr>
          <p:cNvSpPr/>
          <p:nvPr/>
        </p:nvSpPr>
        <p:spPr>
          <a:xfrm>
            <a:off x="8940800" y="4953000"/>
            <a:ext cx="2413000" cy="863600"/>
          </a:xfrm>
          <a:prstGeom prst="roundRect">
            <a:avLst/>
          </a:prstGeom>
          <a:solidFill>
            <a:srgbClr val="F5F3FF"/>
          </a:solidFill>
          <a:ln w="19050">
            <a:solidFill>
              <a:srgbClr val="7C3A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50" b="1">
                <a:solidFill>
                  <a:srgbClr val="7C3AED"/>
                </a:solidFill>
              </a:rPr>
              <a:t>4. NDRF TACTICAL HUB</a:t>
            </a:r>
          </a:p>
          <a:p>
            <a:pPr algn="ctr"/>
            <a:r>
              <a:rPr lang="en-IN" sz="850">
                <a:solidFill>
                  <a:srgbClr val="1E3347"/>
                </a:solidFill>
              </a:rPr>
              <a:t>3D Blueprint &amp; Triage Console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A20CB87-31E4-664B-4EBC-C4CB4F946BC8}"/>
              </a:ext>
            </a:extLst>
          </p:cNvPr>
          <p:cNvSpPr/>
          <p:nvPr/>
        </p:nvSpPr>
        <p:spPr>
          <a:xfrm>
            <a:off x="0" y="6159500"/>
            <a:ext cx="12192000" cy="698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0E8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B67BDFD-E9A7-592F-9DC9-632BB6EE5ED0}"/>
              </a:ext>
            </a:extLst>
          </p:cNvPr>
          <p:cNvSpPr txBox="1"/>
          <p:nvPr/>
        </p:nvSpPr>
        <p:spPr>
          <a:xfrm>
            <a:off x="254000" y="6248400"/>
            <a:ext cx="1168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000" b="1">
                <a:solidFill>
                  <a:srgbClr val="0F172A"/>
                </a:solidFill>
              </a:rPr>
              <a:t>Zero-Lockup Guarantee: Dedicated Dual-MCU domain isolation prevents high-current motor EMF noise from disrupting mission-critical gas &amp; vital sensors.</a:t>
            </a:r>
          </a:p>
        </p:txBody>
      </p:sp>
    </p:spTree>
    <p:extLst>
      <p:ext uri="{BB962C8B-B14F-4D97-AF65-F5344CB8AC3E}">
        <p14:creationId xmlns:p14="http://schemas.microsoft.com/office/powerpoint/2010/main" val="4912641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6770A4D-A76C-0F9B-F972-847DE8028DA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DEB9605-141D-C736-25D8-61924FCA0D9F}"/>
              </a:ext>
            </a:extLst>
          </p:cNvPr>
          <p:cNvSpPr/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0E8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D4EA20F-1E1E-267C-43E5-CD44A0B59093}"/>
              </a:ext>
            </a:extLst>
          </p:cNvPr>
          <p:cNvSpPr/>
          <p:nvPr/>
        </p:nvSpPr>
        <p:spPr>
          <a:xfrm>
            <a:off x="254000" y="114300"/>
            <a:ext cx="1778000" cy="381000"/>
          </a:xfrm>
          <a:prstGeom prst="roundRect">
            <a:avLst/>
          </a:prstGeom>
          <a:solidFill>
            <a:srgbClr val="EA580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50" b="1">
                <a:solidFill>
                  <a:srgbClr val="FFFFFF"/>
                </a:solidFill>
              </a:rPr>
              <a:t>ALPHA-X | SIH_1186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3E48AE-7CF7-CED7-1915-26AE957795B9}"/>
              </a:ext>
            </a:extLst>
          </p:cNvPr>
          <p:cNvSpPr txBox="1"/>
          <p:nvPr/>
        </p:nvSpPr>
        <p:spPr>
          <a:xfrm>
            <a:off x="2133600" y="101600"/>
            <a:ext cx="6096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400" b="1">
                <a:solidFill>
                  <a:srgbClr val="0F172A"/>
                </a:solidFill>
              </a:rPr>
              <a:t>RISK MITIGATION MATRIX &amp; FEASIBILITY ANALYSIS</a:t>
            </a:r>
            <a:endParaRPr lang="en-IN" sz="1400" b="1">
              <a:solidFill>
                <a:srgbClr val="0F172A"/>
              </a:solidFill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E37EFCB-9751-C8F9-F0BF-0F94A8455981}"/>
              </a:ext>
            </a:extLst>
          </p:cNvPr>
          <p:cNvSpPr/>
          <p:nvPr/>
        </p:nvSpPr>
        <p:spPr>
          <a:xfrm>
            <a:off x="8318500" y="114300"/>
            <a:ext cx="2667000" cy="381000"/>
          </a:xfrm>
          <a:prstGeom prst="roundRect">
            <a:avLst/>
          </a:prstGeom>
          <a:solidFill>
            <a:srgbClr val="F0F9FF"/>
          </a:solidFill>
          <a:ln w="15240">
            <a:solidFill>
              <a:srgbClr val="0284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b="1">
                <a:solidFill>
                  <a:srgbClr val="0284C7"/>
                </a:solidFill>
              </a:rPr>
              <a:t>SIH26223 | FEASIBILITY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3FBA3E2-81D0-2F76-EA6A-4D4948ADBAE5}"/>
              </a:ext>
            </a:extLst>
          </p:cNvPr>
          <p:cNvSpPr/>
          <p:nvPr/>
        </p:nvSpPr>
        <p:spPr>
          <a:xfrm>
            <a:off x="11112500" y="88900"/>
            <a:ext cx="825500" cy="43180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D977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800" b="1">
                <a:solidFill>
                  <a:srgbClr val="D97706"/>
                </a:solidFill>
              </a:rPr>
              <a:t>[SIH LOGO]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5574050-B542-C027-9FDF-DCE9DE51E134}"/>
              </a:ext>
            </a:extLst>
          </p:cNvPr>
          <p:cNvSpPr/>
          <p:nvPr/>
        </p:nvSpPr>
        <p:spPr>
          <a:xfrm>
            <a:off x="254000" y="736600"/>
            <a:ext cx="11684000" cy="889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46A6AC1-7A66-8A17-55AF-6B08CF088CFE}"/>
              </a:ext>
            </a:extLst>
          </p:cNvPr>
          <p:cNvSpPr/>
          <p:nvPr/>
        </p:nvSpPr>
        <p:spPr>
          <a:xfrm>
            <a:off x="381000" y="863600"/>
            <a:ext cx="4572000" cy="635000"/>
          </a:xfrm>
          <a:prstGeom prst="roundRect">
            <a:avLst/>
          </a:prstGeom>
          <a:solidFill>
            <a:srgbClr val="F2F2FE"/>
          </a:solidFill>
          <a:ln w="12700">
            <a:solidFill>
              <a:srgbClr val="A5A5F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50" b="1">
                <a:solidFill>
                  <a:srgbClr val="DC2626"/>
                </a:solidFill>
              </a:rPr>
              <a:t>⚠️ CHALLENGE: Deep Rubble Signal Loss</a:t>
            </a:r>
          </a:p>
          <a:p>
            <a:pPr algn="ctr"/>
            <a:r>
              <a:rPr lang="en-US" sz="800">
                <a:solidFill>
                  <a:srgbClr val="475569"/>
                </a:solidFill>
              </a:rPr>
              <a:t>2.4GHz Wi-Fi drops through 2m concrete.</a:t>
            </a:r>
            <a:endParaRPr lang="en-IN" sz="800">
              <a:solidFill>
                <a:srgbClr val="475569"/>
              </a:solidFill>
            </a:endParaRPr>
          </a:p>
        </p:txBody>
      </p:sp>
      <p:sp>
        <p:nvSpPr>
          <p:cNvPr id="10" name="Cylinder 9">
            <a:extLst>
              <a:ext uri="{FF2B5EF4-FFF2-40B4-BE49-F238E27FC236}">
                <a16:creationId xmlns:a16="http://schemas.microsoft.com/office/drawing/2014/main" id="{954CE19F-AAC9-4346-6C05-F2490EA60F61}"/>
              </a:ext>
            </a:extLst>
          </p:cNvPr>
          <p:cNvSpPr/>
          <p:nvPr/>
        </p:nvSpPr>
        <p:spPr>
          <a:xfrm>
            <a:off x="5105400" y="1054100"/>
            <a:ext cx="254000" cy="203200"/>
          </a:xfrm>
          <a:prstGeom prst="can">
            <a:avLst/>
          </a:prstGeom>
          <a:solidFill>
            <a:srgbClr val="05966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8C9C552-F543-C947-7E9E-BB686F8F4EC8}"/>
              </a:ext>
            </a:extLst>
          </p:cNvPr>
          <p:cNvSpPr/>
          <p:nvPr/>
        </p:nvSpPr>
        <p:spPr>
          <a:xfrm>
            <a:off x="5486400" y="863600"/>
            <a:ext cx="6286500" cy="635000"/>
          </a:xfrm>
          <a:prstGeom prst="roundRect">
            <a:avLst/>
          </a:prstGeom>
          <a:solidFill>
            <a:srgbClr val="F0F9FF"/>
          </a:solidFill>
          <a:ln w="15240">
            <a:solidFill>
              <a:srgbClr val="0284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950" b="1">
                <a:solidFill>
                  <a:srgbClr val="0284C7"/>
                </a:solidFill>
              </a:rPr>
              <a:t>🛡️ ARIES ENGINEERING MITIGATION:</a:t>
            </a:r>
          </a:p>
          <a:p>
            <a:pPr algn="ctr"/>
            <a:r>
              <a:rPr lang="en-IN" sz="850">
                <a:solidFill>
                  <a:srgbClr val="1E3347"/>
                </a:solidFill>
              </a:rPr>
              <a:t>5 km Sub-GHz LoRa Mesh (868MHz) + SIM800L GSM SMS fallback.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D4E951E-0558-8573-F1B0-9A054FBC5107}"/>
              </a:ext>
            </a:extLst>
          </p:cNvPr>
          <p:cNvSpPr/>
          <p:nvPr/>
        </p:nvSpPr>
        <p:spPr>
          <a:xfrm>
            <a:off x="254000" y="1727200"/>
            <a:ext cx="11684000" cy="889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A580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F42C675-DB34-E6D8-0E6B-2CA53F04C7F6}"/>
              </a:ext>
            </a:extLst>
          </p:cNvPr>
          <p:cNvSpPr/>
          <p:nvPr/>
        </p:nvSpPr>
        <p:spPr>
          <a:xfrm>
            <a:off x="381000" y="1854200"/>
            <a:ext cx="4572000" cy="635000"/>
          </a:xfrm>
          <a:prstGeom prst="roundRect">
            <a:avLst/>
          </a:prstGeom>
          <a:solidFill>
            <a:srgbClr val="F2F2FE"/>
          </a:solidFill>
          <a:ln w="12700">
            <a:solidFill>
              <a:srgbClr val="A5A5F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50" b="1">
                <a:solidFill>
                  <a:srgbClr val="DC2626"/>
                </a:solidFill>
              </a:rPr>
              <a:t>⚠️ CHALLENGE: Cliffs &amp; Trench Trap</a:t>
            </a:r>
          </a:p>
          <a:p>
            <a:pPr algn="ctr"/>
            <a:r>
              <a:rPr lang="en-US" sz="800">
                <a:solidFill>
                  <a:srgbClr val="475569"/>
                </a:solidFill>
              </a:rPr>
              <a:t>Rover gets trapped in sudden drop-offs.</a:t>
            </a:r>
            <a:endParaRPr lang="en-IN" sz="800">
              <a:solidFill>
                <a:srgbClr val="475569"/>
              </a:solidFill>
            </a:endParaRPr>
          </a:p>
        </p:txBody>
      </p:sp>
      <p:sp>
        <p:nvSpPr>
          <p:cNvPr id="14" name="Cylinder 13">
            <a:extLst>
              <a:ext uri="{FF2B5EF4-FFF2-40B4-BE49-F238E27FC236}">
                <a16:creationId xmlns:a16="http://schemas.microsoft.com/office/drawing/2014/main" id="{FD027D3A-FD79-0A34-24A3-85E837B0B42D}"/>
              </a:ext>
            </a:extLst>
          </p:cNvPr>
          <p:cNvSpPr/>
          <p:nvPr/>
        </p:nvSpPr>
        <p:spPr>
          <a:xfrm>
            <a:off x="5105400" y="2044700"/>
            <a:ext cx="254000" cy="203200"/>
          </a:xfrm>
          <a:prstGeom prst="can">
            <a:avLst/>
          </a:prstGeom>
          <a:solidFill>
            <a:srgbClr val="05966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0B0596B-F433-7D58-CE74-5AA1EFCF315A}"/>
              </a:ext>
            </a:extLst>
          </p:cNvPr>
          <p:cNvSpPr/>
          <p:nvPr/>
        </p:nvSpPr>
        <p:spPr>
          <a:xfrm>
            <a:off x="5486400" y="1854200"/>
            <a:ext cx="6286500" cy="635000"/>
          </a:xfrm>
          <a:prstGeom prst="roundRect">
            <a:avLst/>
          </a:prstGeom>
          <a:solidFill>
            <a:srgbClr val="FFF7ED"/>
          </a:solidFill>
          <a:ln w="15240">
            <a:solidFill>
              <a:srgbClr val="EA580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50" b="1">
                <a:solidFill>
                  <a:srgbClr val="EA580C"/>
                </a:solidFill>
              </a:rPr>
              <a:t>🛡️ ARIES ENGINEERING MITIGATION:</a:t>
            </a:r>
          </a:p>
          <a:p>
            <a:pPr algn="ctr"/>
            <a:r>
              <a:rPr lang="en-US" sz="850">
                <a:solidFill>
                  <a:srgbClr val="1E3347"/>
                </a:solidFill>
              </a:rPr>
              <a:t>Integrated 8-Rotor Octocopter automatically lifts chassis across.</a:t>
            </a:r>
            <a:endParaRPr lang="en-IN" sz="850">
              <a:solidFill>
                <a:srgbClr val="1E3347"/>
              </a:solidFill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F3E815B2-243B-D367-64D0-20A05FCEF4C5}"/>
              </a:ext>
            </a:extLst>
          </p:cNvPr>
          <p:cNvSpPr/>
          <p:nvPr/>
        </p:nvSpPr>
        <p:spPr>
          <a:xfrm>
            <a:off x="254000" y="2717800"/>
            <a:ext cx="11684000" cy="889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223D6F3-5241-CC31-B607-0F46B721A048}"/>
              </a:ext>
            </a:extLst>
          </p:cNvPr>
          <p:cNvSpPr/>
          <p:nvPr/>
        </p:nvSpPr>
        <p:spPr>
          <a:xfrm>
            <a:off x="381000" y="2844800"/>
            <a:ext cx="4572000" cy="635000"/>
          </a:xfrm>
          <a:prstGeom prst="roundRect">
            <a:avLst/>
          </a:prstGeom>
          <a:solidFill>
            <a:srgbClr val="F2F2FE"/>
          </a:solidFill>
          <a:ln w="12700">
            <a:solidFill>
              <a:srgbClr val="A5A5F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50" b="1">
                <a:solidFill>
                  <a:srgbClr val="DC2626"/>
                </a:solidFill>
              </a:rPr>
              <a:t>⚠️ CHALLENGE: 500°C Industrial Fire</a:t>
            </a:r>
          </a:p>
          <a:p>
            <a:pPr algn="ctr"/>
            <a:r>
              <a:rPr lang="en-US" sz="800">
                <a:solidFill>
                  <a:srgbClr val="475569"/>
                </a:solidFill>
              </a:rPr>
              <a:t>Extreme heat fries sensitive microcontrollers.</a:t>
            </a:r>
            <a:endParaRPr lang="en-IN" sz="800">
              <a:solidFill>
                <a:srgbClr val="475569"/>
              </a:solidFill>
            </a:endParaRPr>
          </a:p>
        </p:txBody>
      </p:sp>
      <p:sp>
        <p:nvSpPr>
          <p:cNvPr id="18" name="Cylinder 17">
            <a:extLst>
              <a:ext uri="{FF2B5EF4-FFF2-40B4-BE49-F238E27FC236}">
                <a16:creationId xmlns:a16="http://schemas.microsoft.com/office/drawing/2014/main" id="{6476A197-591F-90C3-4713-85FA9BFCCE57}"/>
              </a:ext>
            </a:extLst>
          </p:cNvPr>
          <p:cNvSpPr/>
          <p:nvPr/>
        </p:nvSpPr>
        <p:spPr>
          <a:xfrm>
            <a:off x="5105400" y="3035300"/>
            <a:ext cx="254000" cy="203200"/>
          </a:xfrm>
          <a:prstGeom prst="can">
            <a:avLst/>
          </a:prstGeom>
          <a:solidFill>
            <a:srgbClr val="05966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C8753E6B-75A2-A638-D0E8-DAC30F0F9136}"/>
              </a:ext>
            </a:extLst>
          </p:cNvPr>
          <p:cNvSpPr/>
          <p:nvPr/>
        </p:nvSpPr>
        <p:spPr>
          <a:xfrm>
            <a:off x="5486400" y="2844800"/>
            <a:ext cx="6286500" cy="635000"/>
          </a:xfrm>
          <a:prstGeom prst="roundRect">
            <a:avLst/>
          </a:prstGeom>
          <a:solidFill>
            <a:srgbClr val="FEF2F2"/>
          </a:solidFill>
          <a:ln w="15240">
            <a:solidFill>
              <a:srgbClr val="DC26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950" b="1">
                <a:solidFill>
                  <a:srgbClr val="DC2626"/>
                </a:solidFill>
              </a:rPr>
              <a:t>🛡️ ARIES ENGINEERING MITIGATION:</a:t>
            </a:r>
          </a:p>
          <a:p>
            <a:pPr algn="ctr"/>
            <a:r>
              <a:rPr lang="en-IN" sz="850">
                <a:solidFill>
                  <a:srgbClr val="1E3347"/>
                </a:solidFill>
              </a:rPr>
              <a:t>Silica Aerogel Heat Shield (1000°C block) + Nitrogen cold purge.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7A954996-FBA4-F7C6-DA8E-612F947BAD87}"/>
              </a:ext>
            </a:extLst>
          </p:cNvPr>
          <p:cNvSpPr/>
          <p:nvPr/>
        </p:nvSpPr>
        <p:spPr>
          <a:xfrm>
            <a:off x="254000" y="3708400"/>
            <a:ext cx="11684000" cy="889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9FE405C1-9596-19BF-966F-E2FBF7F0E7CB}"/>
              </a:ext>
            </a:extLst>
          </p:cNvPr>
          <p:cNvSpPr/>
          <p:nvPr/>
        </p:nvSpPr>
        <p:spPr>
          <a:xfrm>
            <a:off x="381000" y="3835400"/>
            <a:ext cx="4572000" cy="635000"/>
          </a:xfrm>
          <a:prstGeom prst="roundRect">
            <a:avLst/>
          </a:prstGeom>
          <a:solidFill>
            <a:srgbClr val="F2F2FE"/>
          </a:solidFill>
          <a:ln w="12700">
            <a:solidFill>
              <a:srgbClr val="A5A5F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950" b="1">
                <a:solidFill>
                  <a:srgbClr val="DC2626"/>
                </a:solidFill>
              </a:rPr>
              <a:t>⚠️ CHALLENGE: False Alarms &amp; Blind Entry</a:t>
            </a:r>
          </a:p>
          <a:p>
            <a:pPr algn="ctr"/>
            <a:r>
              <a:rPr lang="en-IN" sz="800">
                <a:solidFill>
                  <a:srgbClr val="475569"/>
                </a:solidFill>
              </a:rPr>
              <a:t>Embers/pipes flag false human heat; rescuers blind.</a:t>
            </a:r>
          </a:p>
        </p:txBody>
      </p:sp>
      <p:sp>
        <p:nvSpPr>
          <p:cNvPr id="22" name="Cylinder 21">
            <a:extLst>
              <a:ext uri="{FF2B5EF4-FFF2-40B4-BE49-F238E27FC236}">
                <a16:creationId xmlns:a16="http://schemas.microsoft.com/office/drawing/2014/main" id="{F975E04E-8AE6-9CB7-C157-09547687B885}"/>
              </a:ext>
            </a:extLst>
          </p:cNvPr>
          <p:cNvSpPr/>
          <p:nvPr/>
        </p:nvSpPr>
        <p:spPr>
          <a:xfrm>
            <a:off x="5105400" y="4025900"/>
            <a:ext cx="254000" cy="203200"/>
          </a:xfrm>
          <a:prstGeom prst="can">
            <a:avLst/>
          </a:prstGeom>
          <a:solidFill>
            <a:srgbClr val="05966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93AB68EE-C1F6-0AF7-4935-638F7B7C5EA2}"/>
              </a:ext>
            </a:extLst>
          </p:cNvPr>
          <p:cNvSpPr/>
          <p:nvPr/>
        </p:nvSpPr>
        <p:spPr>
          <a:xfrm>
            <a:off x="5486400" y="3835400"/>
            <a:ext cx="6286500" cy="635000"/>
          </a:xfrm>
          <a:prstGeom prst="roundRect">
            <a:avLst/>
          </a:prstGeom>
          <a:solidFill>
            <a:srgbClr val="F5F3FF"/>
          </a:solidFill>
          <a:ln w="15240">
            <a:solidFill>
              <a:srgbClr val="7C3A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50" b="1">
                <a:solidFill>
                  <a:srgbClr val="7C3AED"/>
                </a:solidFill>
              </a:rPr>
              <a:t>🛡️ ARIES ENGINEERING MITIGATION:</a:t>
            </a:r>
          </a:p>
          <a:p>
            <a:pPr algn="ctr"/>
            <a:r>
              <a:rPr lang="en-US" sz="850">
                <a:solidFill>
                  <a:srgbClr val="1E3347"/>
                </a:solidFill>
              </a:rPr>
              <a:t>MAX30102 SpO2 &amp; pulse check + 3D Tactical Extraction Blueprint.</a:t>
            </a:r>
            <a:endParaRPr lang="en-IN" sz="850">
              <a:solidFill>
                <a:srgbClr val="1E3347"/>
              </a:solidFill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2F9E0DBA-12FC-A6C9-D784-7B1A6086DBBC}"/>
              </a:ext>
            </a:extLst>
          </p:cNvPr>
          <p:cNvSpPr/>
          <p:nvPr/>
        </p:nvSpPr>
        <p:spPr>
          <a:xfrm>
            <a:off x="254000" y="4826000"/>
            <a:ext cx="5715000" cy="120650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D977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b="1">
                <a:solidFill>
                  <a:srgbClr val="D97706"/>
                </a:solidFill>
              </a:rPr>
              <a:t>💰 ECONOMIC VIABILITY &amp; 10x COST ADVANTAGE:</a:t>
            </a:r>
          </a:p>
          <a:p>
            <a:pPr algn="ctr"/>
            <a:r>
              <a:rPr lang="en-IN" sz="850">
                <a:solidFill>
                  <a:srgbClr val="1E3347"/>
                </a:solidFill>
              </a:rPr>
              <a:t>• Commercial target under ₹50,000 INR vs ₹25-40 Lakhs imported military robots.</a:t>
            </a:r>
          </a:p>
          <a:p>
            <a:pPr algn="ctr"/>
            <a:r>
              <a:rPr lang="en-IN" sz="850">
                <a:solidFill>
                  <a:srgbClr val="1E3347"/>
                </a:solidFill>
              </a:rPr>
              <a:t>• Built on modular COTS hardware, eliminating expensive overseas maintenance.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5FE9C27B-8B7B-ED52-E1F5-5B05FC4C09D2}"/>
              </a:ext>
            </a:extLst>
          </p:cNvPr>
          <p:cNvSpPr/>
          <p:nvPr/>
        </p:nvSpPr>
        <p:spPr>
          <a:xfrm>
            <a:off x="6223000" y="4826000"/>
            <a:ext cx="5715000" cy="120650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0284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rgbClr val="0284C7"/>
                </a:solidFill>
              </a:rPr>
              <a:t>🔬 WORKING PROOF OF CONCEPT (PoC) VALIDATION:</a:t>
            </a:r>
          </a:p>
          <a:p>
            <a:pPr algn="ctr"/>
            <a:r>
              <a:rPr lang="en-US" sz="850">
                <a:solidFill>
                  <a:srgbClr val="1E3347"/>
                </a:solidFill>
              </a:rPr>
              <a:t>• Scaled prototype validated on dual-microcontrollers with L293D shield.</a:t>
            </a:r>
          </a:p>
          <a:p>
            <a:pPr algn="ctr"/>
            <a:r>
              <a:rPr lang="en-US" sz="850">
                <a:solidFill>
                  <a:srgbClr val="1E3347"/>
                </a:solidFill>
              </a:rPr>
              <a:t>• Tested with live gas telemetry, sonar auto-stop, OLED display &amp; Web Serial Hub.</a:t>
            </a:r>
            <a:endParaRPr lang="en-IN" sz="850">
              <a:solidFill>
                <a:srgbClr val="1E3347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866684F-C0D9-0EEB-71BE-28D27121AB9F}"/>
              </a:ext>
            </a:extLst>
          </p:cNvPr>
          <p:cNvSpPr/>
          <p:nvPr/>
        </p:nvSpPr>
        <p:spPr>
          <a:xfrm>
            <a:off x="0" y="6159500"/>
            <a:ext cx="12192000" cy="698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0E8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1CEA524-134D-2247-9497-CF7C71F23A67}"/>
              </a:ext>
            </a:extLst>
          </p:cNvPr>
          <p:cNvSpPr txBox="1"/>
          <p:nvPr/>
        </p:nvSpPr>
        <p:spPr>
          <a:xfrm>
            <a:off x="254000" y="6248400"/>
            <a:ext cx="1168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 b="1">
                <a:solidFill>
                  <a:srgbClr val="0F172A"/>
                </a:solidFill>
              </a:rPr>
              <a:t>Zero False-Alarm Architecture: Two-tier validation combines physiological SpO2 pulse verification with Incident Commander HUD confirmation.</a:t>
            </a:r>
            <a:endParaRPr lang="en-IN" sz="1000" b="1">
              <a:solidFill>
                <a:srgbClr val="0F172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26558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B432D98-3687-0EE1-0C2E-CB09BDB0DF0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68416B7-CC42-3769-05B1-B6359E8BB75B}"/>
              </a:ext>
            </a:extLst>
          </p:cNvPr>
          <p:cNvSpPr/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0E8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58E03D6-2DEB-B74C-7DBD-8B29AFF77910}"/>
              </a:ext>
            </a:extLst>
          </p:cNvPr>
          <p:cNvSpPr/>
          <p:nvPr/>
        </p:nvSpPr>
        <p:spPr>
          <a:xfrm>
            <a:off x="254000" y="114300"/>
            <a:ext cx="1778000" cy="381000"/>
          </a:xfrm>
          <a:prstGeom prst="roundRect">
            <a:avLst/>
          </a:prstGeom>
          <a:solidFill>
            <a:srgbClr val="EA580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50" b="1">
                <a:solidFill>
                  <a:srgbClr val="FFFFFF"/>
                </a:solidFill>
              </a:rPr>
              <a:t>ALPHA-X | SIH_1186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1596BA-EDAF-5143-25E1-97136295D7ED}"/>
              </a:ext>
            </a:extLst>
          </p:cNvPr>
          <p:cNvSpPr txBox="1"/>
          <p:nvPr/>
        </p:nvSpPr>
        <p:spPr>
          <a:xfrm>
            <a:off x="2133600" y="101600"/>
            <a:ext cx="6096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400" b="1">
                <a:solidFill>
                  <a:srgbClr val="0F172A"/>
                </a:solidFill>
              </a:rPr>
              <a:t>MULTI-DIMENSIONAL IMPACT &amp; TARGET BENEFICIARIES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88E8378-5ACB-00D2-C78D-51471C6EE74F}"/>
              </a:ext>
            </a:extLst>
          </p:cNvPr>
          <p:cNvSpPr/>
          <p:nvPr/>
        </p:nvSpPr>
        <p:spPr>
          <a:xfrm>
            <a:off x="8318500" y="114300"/>
            <a:ext cx="2667000" cy="381000"/>
          </a:xfrm>
          <a:prstGeom prst="roundRect">
            <a:avLst/>
          </a:prstGeom>
          <a:solidFill>
            <a:srgbClr val="F0F9FF"/>
          </a:solidFill>
          <a:ln w="15240">
            <a:solidFill>
              <a:srgbClr val="0284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b="1">
                <a:solidFill>
                  <a:srgbClr val="0284C7"/>
                </a:solidFill>
              </a:rPr>
              <a:t>SIH26223 | NATIONAL IMPACT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9CD862A-063D-9148-8222-66EB3D51A066}"/>
              </a:ext>
            </a:extLst>
          </p:cNvPr>
          <p:cNvSpPr/>
          <p:nvPr/>
        </p:nvSpPr>
        <p:spPr>
          <a:xfrm>
            <a:off x="11112500" y="88900"/>
            <a:ext cx="825500" cy="43180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D977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800" b="1">
                <a:solidFill>
                  <a:srgbClr val="D97706"/>
                </a:solidFill>
              </a:rPr>
              <a:t>[SIH LOGO]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988E8ED-3017-06DA-58C0-DDE49E58C588}"/>
              </a:ext>
            </a:extLst>
          </p:cNvPr>
          <p:cNvSpPr/>
          <p:nvPr/>
        </p:nvSpPr>
        <p:spPr>
          <a:xfrm>
            <a:off x="254000" y="736600"/>
            <a:ext cx="6096000" cy="1193800"/>
          </a:xfrm>
          <a:prstGeom prst="roundRect">
            <a:avLst/>
          </a:prstGeom>
          <a:solidFill>
            <a:srgbClr val="FFF1F2"/>
          </a:solidFill>
          <a:ln w="19050">
            <a:solidFill>
              <a:srgbClr val="E11D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72FAE1B-7D5F-C255-BD31-D37E21A5E6BE}"/>
              </a:ext>
            </a:extLst>
          </p:cNvPr>
          <p:cNvSpPr txBox="1"/>
          <p:nvPr/>
        </p:nvSpPr>
        <p:spPr>
          <a:xfrm>
            <a:off x="355600" y="787400"/>
            <a:ext cx="5892800" cy="6617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150" b="1">
                <a:solidFill>
                  <a:srgbClr val="E11D48"/>
                </a:solidFill>
              </a:rPr>
              <a:t>❤️ Social &amp; Life-Saving</a:t>
            </a:r>
          </a:p>
          <a:p>
            <a:r>
              <a:rPr lang="en-IN" sz="850">
                <a:solidFill>
                  <a:srgbClr val="1E3347"/>
                </a:solidFill>
              </a:rPr>
              <a:t>• Zero First-Responder Loss: Eliminates sniffer dog &amp; rescuer hazards.</a:t>
            </a:r>
          </a:p>
          <a:p>
            <a:r>
              <a:rPr lang="en-IN" sz="850">
                <a:solidFill>
                  <a:srgbClr val="1E3347"/>
                </a:solidFill>
              </a:rPr>
              <a:t>• Golden Hour Acceleration: Spots trapped survivors in minutes via thermal vision.</a:t>
            </a:r>
          </a:p>
          <a:p>
            <a:r>
              <a:rPr lang="en-IN" sz="850">
                <a:solidFill>
                  <a:srgbClr val="1E3347"/>
                </a:solidFill>
              </a:rPr>
              <a:t>• Pre-Staged Medical Triage: Medics receive SpO2 &amp; pulse before physical entry.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FB8F9CF-128A-56B4-8A91-A28295384EFE}"/>
              </a:ext>
            </a:extLst>
          </p:cNvPr>
          <p:cNvSpPr/>
          <p:nvPr/>
        </p:nvSpPr>
        <p:spPr>
          <a:xfrm>
            <a:off x="254000" y="2032000"/>
            <a:ext cx="6096000" cy="119380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D977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9443D46-4E10-90DF-EFB9-FAB81274B957}"/>
              </a:ext>
            </a:extLst>
          </p:cNvPr>
          <p:cNvSpPr txBox="1"/>
          <p:nvPr/>
        </p:nvSpPr>
        <p:spPr>
          <a:xfrm>
            <a:off x="355600" y="2082800"/>
            <a:ext cx="5892800" cy="6617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150" b="1">
                <a:solidFill>
                  <a:srgbClr val="D97706"/>
                </a:solidFill>
              </a:rPr>
              <a:t>💰 Economic Democratization</a:t>
            </a:r>
          </a:p>
          <a:p>
            <a:r>
              <a:rPr lang="en-IN" sz="850">
                <a:solidFill>
                  <a:srgbClr val="1E3347"/>
                </a:solidFill>
              </a:rPr>
              <a:t>• 10x-20x Cost Reduction: Under ₹50,000 INR vs ₹25-40 Lakhs imported robots.</a:t>
            </a:r>
          </a:p>
          <a:p>
            <a:r>
              <a:rPr lang="en-IN" sz="850">
                <a:solidFill>
                  <a:srgbClr val="1E3347"/>
                </a:solidFill>
              </a:rPr>
              <a:t>• COTS Modular Maintenance: Standard parts, zero foreign service lock-in.</a:t>
            </a:r>
          </a:p>
          <a:p>
            <a:r>
              <a:rPr lang="en-IN" sz="850">
                <a:solidFill>
                  <a:srgbClr val="1E3347"/>
                </a:solidFill>
              </a:rPr>
              <a:t>• Scalable Pan-India Outreach: Affordable for every municipal fire station.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1099044-332E-0033-6570-5FA551F3CE5C}"/>
              </a:ext>
            </a:extLst>
          </p:cNvPr>
          <p:cNvSpPr/>
          <p:nvPr/>
        </p:nvSpPr>
        <p:spPr>
          <a:xfrm>
            <a:off x="254000" y="3327400"/>
            <a:ext cx="6096000" cy="119380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0596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9FCE2B7-D925-1691-040E-4934CC18E7FD}"/>
              </a:ext>
            </a:extLst>
          </p:cNvPr>
          <p:cNvSpPr txBox="1"/>
          <p:nvPr/>
        </p:nvSpPr>
        <p:spPr>
          <a:xfrm>
            <a:off x="355600" y="3378200"/>
            <a:ext cx="5892800" cy="6617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150" b="1">
                <a:solidFill>
                  <a:srgbClr val="059669"/>
                </a:solidFill>
              </a:rPr>
              <a:t>🌱 Environmental &amp; Mine Safety</a:t>
            </a:r>
          </a:p>
          <a:p>
            <a:r>
              <a:rPr lang="en-IN" sz="850">
                <a:solidFill>
                  <a:srgbClr val="1E3347"/>
                </a:solidFill>
              </a:rPr>
              <a:t>• Real-Time Hazard Containment: MQ-135 tracks gas diffusion before civilian impact.</a:t>
            </a:r>
          </a:p>
          <a:p>
            <a:r>
              <a:rPr lang="en-IN" sz="850">
                <a:solidFill>
                  <a:srgbClr val="1E3347"/>
                </a:solidFill>
              </a:rPr>
              <a:t>• Zero-Emission Electric Locomotion: Safe in combustible &amp; low-oxygen shafts.</a:t>
            </a:r>
          </a:p>
          <a:p>
            <a:r>
              <a:rPr lang="en-IN" sz="850">
                <a:solidFill>
                  <a:srgbClr val="1E3347"/>
                </a:solidFill>
              </a:rPr>
              <a:t>• Deep Underground Recon: Safe for subterranean tunnels and coal mines.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786D0F3-EB6A-09BE-2404-4D4E94AEC6DA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0500" y="736600"/>
            <a:ext cx="5397500" cy="3810000"/>
          </a:xfrm>
          <a:prstGeom prst="rect">
            <a:avLst/>
          </a:prstGeom>
          <a:ln w="25400">
            <a:solidFill>
              <a:schemeClr val="tx1"/>
            </a:solidFill>
          </a:ln>
        </p:spPr>
      </p:pic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77403B8B-5412-8418-02F9-1B3525597598}"/>
              </a:ext>
            </a:extLst>
          </p:cNvPr>
          <p:cNvSpPr/>
          <p:nvPr/>
        </p:nvSpPr>
        <p:spPr>
          <a:xfrm>
            <a:off x="254000" y="4699000"/>
            <a:ext cx="2819400" cy="133350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0284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>
                <a:solidFill>
                  <a:srgbClr val="0284C7"/>
                </a:solidFill>
              </a:rPr>
              <a:t>🏛️ NDRF &amp; State SDRF</a:t>
            </a:r>
          </a:p>
          <a:p>
            <a:pPr algn="ctr"/>
            <a:r>
              <a:rPr lang="en-US" sz="850">
                <a:solidFill>
                  <a:srgbClr val="1E3347"/>
                </a:solidFill>
              </a:rPr>
              <a:t>Earthquake &amp; building collapses</a:t>
            </a:r>
            <a:endParaRPr lang="en-IN" sz="850">
              <a:solidFill>
                <a:srgbClr val="1E3347"/>
              </a:solidFill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5C4EBCC8-1303-E46A-80B6-F75F94FC876B}"/>
              </a:ext>
            </a:extLst>
          </p:cNvPr>
          <p:cNvSpPr/>
          <p:nvPr/>
        </p:nvSpPr>
        <p:spPr>
          <a:xfrm>
            <a:off x="3200400" y="4699000"/>
            <a:ext cx="2819400" cy="133350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DC26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>
                <a:solidFill>
                  <a:srgbClr val="DC2626"/>
                </a:solidFill>
              </a:rPr>
              <a:t>🚒 Fire &amp; Emergency</a:t>
            </a:r>
          </a:p>
          <a:p>
            <a:pPr algn="ctr"/>
            <a:r>
              <a:rPr lang="en-US" sz="850">
                <a:solidFill>
                  <a:srgbClr val="1E3347"/>
                </a:solidFill>
              </a:rPr>
              <a:t>Basement fires &amp; chemical leaks</a:t>
            </a:r>
            <a:endParaRPr lang="en-IN" sz="850">
              <a:solidFill>
                <a:srgbClr val="1E3347"/>
              </a:solidFill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A2EBD739-88D9-6FAB-5AFD-7E7F485B81BE}"/>
              </a:ext>
            </a:extLst>
          </p:cNvPr>
          <p:cNvSpPr/>
          <p:nvPr/>
        </p:nvSpPr>
        <p:spPr>
          <a:xfrm>
            <a:off x="6146800" y="4699000"/>
            <a:ext cx="2819400" cy="133350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D977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>
                <a:solidFill>
                  <a:srgbClr val="D97706"/>
                </a:solidFill>
              </a:rPr>
              <a:t>⛏️ Mining Authorities</a:t>
            </a:r>
          </a:p>
          <a:p>
            <a:pPr algn="ctr"/>
            <a:r>
              <a:rPr lang="en-US" sz="850">
                <a:solidFill>
                  <a:srgbClr val="1E3347"/>
                </a:solidFill>
              </a:rPr>
              <a:t>Deep coal mine &amp; tunnel collapse</a:t>
            </a:r>
            <a:endParaRPr lang="en-IN" sz="850">
              <a:solidFill>
                <a:srgbClr val="1E3347"/>
              </a:solidFill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9A845662-7DD0-DCEE-A0A0-4613F3ACAC97}"/>
              </a:ext>
            </a:extLst>
          </p:cNvPr>
          <p:cNvSpPr/>
          <p:nvPr/>
        </p:nvSpPr>
        <p:spPr>
          <a:xfrm>
            <a:off x="9093200" y="4699000"/>
            <a:ext cx="2819400" cy="1333500"/>
          </a:xfrm>
          <a:prstGeom prst="roundRect">
            <a:avLst/>
          </a:prstGeom>
          <a:solidFill>
            <a:srgbClr val="F5F3FF"/>
          </a:solidFill>
          <a:ln w="19050">
            <a:solidFill>
              <a:srgbClr val="7C3A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50" b="1">
                <a:solidFill>
                  <a:srgbClr val="7C3AED"/>
                </a:solidFill>
              </a:rPr>
              <a:t>🏭 Industrial Plants</a:t>
            </a:r>
          </a:p>
          <a:p>
            <a:pPr algn="ctr"/>
            <a:r>
              <a:rPr lang="en-IN" sz="850">
                <a:solidFill>
                  <a:srgbClr val="1E3347"/>
                </a:solidFill>
              </a:rPr>
              <a:t>Hazardous industrial plant scouts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9FF4D41-2FA4-4A3A-CC6E-F3D05E62D2B6}"/>
              </a:ext>
            </a:extLst>
          </p:cNvPr>
          <p:cNvSpPr/>
          <p:nvPr/>
        </p:nvSpPr>
        <p:spPr>
          <a:xfrm>
            <a:off x="0" y="6159500"/>
            <a:ext cx="12192000" cy="698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0E8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E5EB6C6-0DB5-6CD4-EC0F-279D6CC691D7}"/>
              </a:ext>
            </a:extLst>
          </p:cNvPr>
          <p:cNvSpPr txBox="1"/>
          <p:nvPr/>
        </p:nvSpPr>
        <p:spPr>
          <a:xfrm>
            <a:off x="254000" y="6248400"/>
            <a:ext cx="1168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 b="1">
                <a:solidFill>
                  <a:srgbClr val="0F172A"/>
                </a:solidFill>
              </a:rPr>
              <a:t>Humanitarian Impact: Aligned with National Disaster Management Plan (NDMP) benchmarks to save lives during critical Golden Hour extractions.</a:t>
            </a:r>
            <a:endParaRPr lang="en-IN" sz="1000" b="1">
              <a:solidFill>
                <a:srgbClr val="0F172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31018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41D28D4-632B-DBF5-AEB5-77897738AB5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E4AF228-068A-E0F1-8051-4506C774F9AB}"/>
              </a:ext>
            </a:extLst>
          </p:cNvPr>
          <p:cNvSpPr/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0E8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AF8A4E9-B619-1D36-6E25-F6CE296BD414}"/>
              </a:ext>
            </a:extLst>
          </p:cNvPr>
          <p:cNvSpPr/>
          <p:nvPr/>
        </p:nvSpPr>
        <p:spPr>
          <a:xfrm>
            <a:off x="254000" y="114300"/>
            <a:ext cx="1778000" cy="381000"/>
          </a:xfrm>
          <a:prstGeom prst="roundRect">
            <a:avLst/>
          </a:prstGeom>
          <a:solidFill>
            <a:srgbClr val="EA580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50" b="1">
                <a:solidFill>
                  <a:srgbClr val="FFFFFF"/>
                </a:solidFill>
              </a:rPr>
              <a:t>ALPHA-X | SIH_1186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7D794A-F989-E4C3-A652-CB7347AE73C9}"/>
              </a:ext>
            </a:extLst>
          </p:cNvPr>
          <p:cNvSpPr txBox="1"/>
          <p:nvPr/>
        </p:nvSpPr>
        <p:spPr>
          <a:xfrm>
            <a:off x="2133600" y="101600"/>
            <a:ext cx="6096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400" b="1">
                <a:solidFill>
                  <a:srgbClr val="0F172A"/>
                </a:solidFill>
              </a:rPr>
              <a:t>BILL OF MATERIALS, NATIONAL STANDARDS &amp; REPO</a:t>
            </a:r>
            <a:endParaRPr lang="en-IN" sz="1400" b="1">
              <a:solidFill>
                <a:srgbClr val="0F172A"/>
              </a:solidFill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F199952-97F6-D368-2747-26B7917237B7}"/>
              </a:ext>
            </a:extLst>
          </p:cNvPr>
          <p:cNvSpPr/>
          <p:nvPr/>
        </p:nvSpPr>
        <p:spPr>
          <a:xfrm>
            <a:off x="8318500" y="114300"/>
            <a:ext cx="2667000" cy="381000"/>
          </a:xfrm>
          <a:prstGeom prst="roundRect">
            <a:avLst/>
          </a:prstGeom>
          <a:solidFill>
            <a:srgbClr val="F0F9FF"/>
          </a:solidFill>
          <a:ln w="15240">
            <a:solidFill>
              <a:srgbClr val="0284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b="1">
                <a:solidFill>
                  <a:srgbClr val="0284C7"/>
                </a:solidFill>
              </a:rPr>
              <a:t>SIH26223 | STANDARDS &amp; REPO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4924C84-6E6C-2D0A-CDEC-2802234E24BC}"/>
              </a:ext>
            </a:extLst>
          </p:cNvPr>
          <p:cNvSpPr/>
          <p:nvPr/>
        </p:nvSpPr>
        <p:spPr>
          <a:xfrm>
            <a:off x="11112500" y="88900"/>
            <a:ext cx="825500" cy="43180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D977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800" b="1">
                <a:solidFill>
                  <a:srgbClr val="D97706"/>
                </a:solidFill>
              </a:rPr>
              <a:t>[SIH LOGO]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C074134-92EC-AE66-59D3-82468FE626A3}"/>
              </a:ext>
            </a:extLst>
          </p:cNvPr>
          <p:cNvSpPr/>
          <p:nvPr/>
        </p:nvSpPr>
        <p:spPr>
          <a:xfrm>
            <a:off x="254000" y="711200"/>
            <a:ext cx="5715000" cy="2006600"/>
          </a:xfrm>
          <a:prstGeom prst="roundRect">
            <a:avLst/>
          </a:prstGeom>
          <a:solidFill>
            <a:srgbClr val="FFFBEB"/>
          </a:solidFill>
          <a:ln w="22860">
            <a:solidFill>
              <a:srgbClr val="D977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9292D7-75E6-0C1B-FC4E-843B98A38C5B}"/>
              </a:ext>
            </a:extLst>
          </p:cNvPr>
          <p:cNvSpPr txBox="1"/>
          <p:nvPr/>
        </p:nvSpPr>
        <p:spPr>
          <a:xfrm>
            <a:off x="406400" y="787400"/>
            <a:ext cx="5410200" cy="79252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150" b="1">
                <a:solidFill>
                  <a:srgbClr val="D97706"/>
                </a:solidFill>
              </a:rPr>
              <a:t>💰 Bill of Materials &amp; Cost Disruption</a:t>
            </a:r>
          </a:p>
          <a:p>
            <a:r>
              <a:rPr lang="en-IN" sz="850">
                <a:solidFill>
                  <a:srgbClr val="1E3347"/>
                </a:solidFill>
              </a:rPr>
              <a:t>• Basic Working Prototype (Table Model): Under ₹8,000 INR.</a:t>
            </a:r>
          </a:p>
          <a:p>
            <a:r>
              <a:rPr lang="en-IN" sz="850">
                <a:solidFill>
                  <a:srgbClr val="1E3347"/>
                </a:solidFill>
              </a:rPr>
              <a:t>• ARIES 2.0 Enterprise Tri-Phibian Model: Under ₹50,000 INR.</a:t>
            </a:r>
          </a:p>
          <a:p>
            <a:r>
              <a:rPr lang="en-IN" sz="850">
                <a:solidFill>
                  <a:srgbClr val="1E3347"/>
                </a:solidFill>
              </a:rPr>
              <a:t>• Imported Military Competitors: ₹25,00,000 to ₹40,00,000 INR.</a:t>
            </a:r>
          </a:p>
          <a:p>
            <a:r>
              <a:rPr lang="en-IN" sz="850">
                <a:solidFill>
                  <a:srgbClr val="1E3347"/>
                </a:solidFill>
              </a:rPr>
              <a:t>• Result: 10x to 40x Unprecedented Cost Democratization!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491E3B3-9AAF-439D-C87A-5CDF48B74E90}"/>
              </a:ext>
            </a:extLst>
          </p:cNvPr>
          <p:cNvSpPr/>
          <p:nvPr/>
        </p:nvSpPr>
        <p:spPr>
          <a:xfrm>
            <a:off x="6223000" y="711200"/>
            <a:ext cx="5715000" cy="2006600"/>
          </a:xfrm>
          <a:prstGeom prst="roundRect">
            <a:avLst/>
          </a:prstGeom>
          <a:solidFill>
            <a:srgbClr val="F0F9FF"/>
          </a:solidFill>
          <a:ln w="22860">
            <a:solidFill>
              <a:srgbClr val="0284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DE38308-0DAA-CC66-D602-9A0C14EAC9FA}"/>
              </a:ext>
            </a:extLst>
          </p:cNvPr>
          <p:cNvSpPr txBox="1"/>
          <p:nvPr/>
        </p:nvSpPr>
        <p:spPr>
          <a:xfrm>
            <a:off x="6375400" y="787400"/>
            <a:ext cx="5410200" cy="79252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150" b="1">
                <a:solidFill>
                  <a:srgbClr val="0284C7"/>
                </a:solidFill>
              </a:rPr>
              <a:t>🏛️ National Guidelines (Govt. of India)</a:t>
            </a:r>
          </a:p>
          <a:p>
            <a:r>
              <a:rPr lang="en-IN" sz="850">
                <a:solidFill>
                  <a:srgbClr val="1E3347"/>
                </a:solidFill>
              </a:rPr>
              <a:t>• NDMA Guidelines on Urban Search &amp; Rescue (USAR) Equipment Standards.</a:t>
            </a:r>
          </a:p>
          <a:p>
            <a:r>
              <a:rPr lang="en-IN" sz="850">
                <a:solidFill>
                  <a:srgbClr val="1E3347"/>
                </a:solidFill>
              </a:rPr>
              <a:t>• NDRF Standard Operating Procedures (SOP) for Confined Space Hazards.</a:t>
            </a:r>
          </a:p>
          <a:p>
            <a:r>
              <a:rPr lang="en-IN" sz="850">
                <a:solidFill>
                  <a:srgbClr val="1E3347"/>
                </a:solidFill>
              </a:rPr>
              <a:t>• Aligned with National Disaster Management Plan (NDMP 2019).</a:t>
            </a:r>
          </a:p>
          <a:p>
            <a:r>
              <a:rPr lang="en-IN" sz="850">
                <a:solidFill>
                  <a:srgbClr val="1E3347"/>
                </a:solidFill>
              </a:rPr>
              <a:t>• Hazardous gas threshold compliance (MQ/PID Standards).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09A4393-918E-A32B-7E3A-107A881C0C7B}"/>
              </a:ext>
            </a:extLst>
          </p:cNvPr>
          <p:cNvSpPr/>
          <p:nvPr/>
        </p:nvSpPr>
        <p:spPr>
          <a:xfrm>
            <a:off x="254000" y="2870200"/>
            <a:ext cx="5715000" cy="2006600"/>
          </a:xfrm>
          <a:prstGeom prst="roundRect">
            <a:avLst/>
          </a:prstGeom>
          <a:solidFill>
            <a:srgbClr val="F5F3FF"/>
          </a:solidFill>
          <a:ln w="22860">
            <a:solidFill>
              <a:srgbClr val="7C3A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2A4A16A-ECDA-AF22-4B11-41CE3A6357DE}"/>
              </a:ext>
            </a:extLst>
          </p:cNvPr>
          <p:cNvSpPr txBox="1"/>
          <p:nvPr/>
        </p:nvSpPr>
        <p:spPr>
          <a:xfrm>
            <a:off x="406400" y="2946400"/>
            <a:ext cx="5410200" cy="79252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150" b="1">
                <a:solidFill>
                  <a:srgbClr val="7C3AED"/>
                </a:solidFill>
              </a:rPr>
              <a:t>📚 Academic USAR Robotics Literature</a:t>
            </a:r>
          </a:p>
          <a:p>
            <a:r>
              <a:rPr lang="en-IN" sz="850">
                <a:solidFill>
                  <a:srgbClr val="1E3347"/>
                </a:solidFill>
              </a:rPr>
              <a:t>• Murphy, R. R. (2014) Disaster Robotics, MIT Press / IEEE Transactions.</a:t>
            </a:r>
          </a:p>
          <a:p>
            <a:r>
              <a:rPr lang="en-IN" sz="850">
                <a:solidFill>
                  <a:srgbClr val="1E3347"/>
                </a:solidFill>
              </a:rPr>
              <a:t>• Kumar &amp; Sharma (2022) IoT USAR Ground Vehicles, IEEE Xplore / ICRA.</a:t>
            </a:r>
          </a:p>
          <a:p>
            <a:r>
              <a:rPr lang="en-IN" sz="850">
                <a:solidFill>
                  <a:srgbClr val="1E3347"/>
                </a:solidFill>
              </a:rPr>
              <a:t>• IEEE IoT Journal: Sub-GHz Wireless Mesh for Deep-Rubble Disaster Telemetry.</a:t>
            </a:r>
          </a:p>
          <a:p>
            <a:r>
              <a:rPr lang="en-IN" sz="850">
                <a:solidFill>
                  <a:srgbClr val="1E3347"/>
                </a:solidFill>
              </a:rPr>
              <a:t>• Journal of Field Robotics: Multi-Spectral Thermal Fusion in Fire Zones.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3F54840-5C82-09EE-943C-C2F978AA527C}"/>
              </a:ext>
            </a:extLst>
          </p:cNvPr>
          <p:cNvSpPr/>
          <p:nvPr/>
        </p:nvSpPr>
        <p:spPr>
          <a:xfrm>
            <a:off x="6223000" y="2870200"/>
            <a:ext cx="5715000" cy="2006600"/>
          </a:xfrm>
          <a:prstGeom prst="roundRect">
            <a:avLst/>
          </a:prstGeom>
          <a:solidFill>
            <a:srgbClr val="ECFDF5"/>
          </a:solidFill>
          <a:ln w="22860">
            <a:solidFill>
              <a:srgbClr val="0596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C9008F7-F6F1-4B97-B842-596D43480D60}"/>
              </a:ext>
            </a:extLst>
          </p:cNvPr>
          <p:cNvSpPr txBox="1"/>
          <p:nvPr/>
        </p:nvSpPr>
        <p:spPr>
          <a:xfrm>
            <a:off x="6375400" y="2946400"/>
            <a:ext cx="5410200" cy="79252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150" b="1">
                <a:solidFill>
                  <a:srgbClr val="059669"/>
                </a:solidFill>
              </a:rPr>
              <a:t>💻 Open-Source Repositories &amp; Live Hubs</a:t>
            </a:r>
          </a:p>
          <a:p>
            <a:r>
              <a:rPr lang="en-IN" sz="850">
                <a:solidFill>
                  <a:srgbClr val="1E3347"/>
                </a:solidFill>
              </a:rPr>
              <a:t>• GitHub Repo: github.com/harshitsharma120109-web/ARIES-Search-Rescue-Rover</a:t>
            </a:r>
          </a:p>
          <a:p>
            <a:r>
              <a:rPr lang="en-IN" sz="850">
                <a:solidFill>
                  <a:srgbClr val="1E3347"/>
                </a:solidFill>
              </a:rPr>
              <a:t>• Live Web Mission Hub: melodic-halva-b0fa56.netlify.app</a:t>
            </a:r>
          </a:p>
          <a:p>
            <a:r>
              <a:rPr lang="en-IN" sz="850">
                <a:solidFill>
                  <a:srgbClr val="1E3347"/>
                </a:solidFill>
              </a:rPr>
              <a:t>• Full Dual-MCU Firmware, Schematics &amp; Web Serial telemetry open-sourced.</a:t>
            </a:r>
          </a:p>
          <a:p>
            <a:r>
              <a:rPr lang="en-IN" sz="850">
                <a:solidFill>
                  <a:srgbClr val="1E3347"/>
                </a:solidFill>
              </a:rPr>
              <a:t>• Validated on functional scaled embedded prototype.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CCC8D79A-37DC-8291-76EB-B20EE731FCDB}"/>
              </a:ext>
            </a:extLst>
          </p:cNvPr>
          <p:cNvSpPr/>
          <p:nvPr/>
        </p:nvSpPr>
        <p:spPr>
          <a:xfrm>
            <a:off x="254000" y="5130800"/>
            <a:ext cx="11684000" cy="914400"/>
          </a:xfrm>
          <a:prstGeom prst="roundRect">
            <a:avLst/>
          </a:prstGeom>
          <a:solidFill>
            <a:srgbClr val="FFF7ED"/>
          </a:solidFill>
          <a:ln w="22860">
            <a:solidFill>
              <a:srgbClr val="EA580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472E4D4-1994-BCCA-4A13-30118390BB79}"/>
              </a:ext>
            </a:extLst>
          </p:cNvPr>
          <p:cNvSpPr txBox="1"/>
          <p:nvPr/>
        </p:nvSpPr>
        <p:spPr>
          <a:xfrm>
            <a:off x="330200" y="5156200"/>
            <a:ext cx="115316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50" b="1">
                <a:solidFill>
                  <a:srgbClr val="EA580C"/>
                </a:solidFill>
              </a:rPr>
              <a:t>OFFICIAL PROJECT REPOSITORY &amp; LIVE WEB MISSION HUB:</a:t>
            </a:r>
          </a:p>
          <a:p>
            <a:r>
              <a:rPr lang="en-US" sz="850">
                <a:solidFill>
                  <a:srgbClr val="0F172A"/>
                </a:solidFill>
              </a:rPr>
              <a:t>• GitHub: https://github.com/harshitsharma120109-web/ARIES-Search-Rescue-Rover  |  Live Hub: https://melodic-halva-b0fa56.netlify.app/</a:t>
            </a:r>
          </a:p>
          <a:p>
            <a:r>
              <a:rPr lang="en-US" sz="1100" b="1">
                <a:solidFill>
                  <a:srgbClr val="EA580C"/>
                </a:solidFill>
              </a:rPr>
              <a:t>'WE DON'T JUST BUILD ROBOTS, WE BUILD HOPE.' — Team ALPHA-X (SIH_1186)</a:t>
            </a:r>
            <a:endParaRPr lang="en-IN" sz="1100" b="1">
              <a:solidFill>
                <a:srgbClr val="EA580C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21F1AE9-05FB-4FDC-B31E-3CE7759F9362}"/>
              </a:ext>
            </a:extLst>
          </p:cNvPr>
          <p:cNvSpPr/>
          <p:nvPr/>
        </p:nvSpPr>
        <p:spPr>
          <a:xfrm>
            <a:off x="0" y="6159500"/>
            <a:ext cx="12192000" cy="698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0E8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F67F483-D1BF-9650-036B-EB76275D339F}"/>
              </a:ext>
            </a:extLst>
          </p:cNvPr>
          <p:cNvSpPr txBox="1"/>
          <p:nvPr/>
        </p:nvSpPr>
        <p:spPr>
          <a:xfrm>
            <a:off x="254000" y="6248400"/>
            <a:ext cx="1168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000" b="1">
                <a:solidFill>
                  <a:srgbClr val="0F172A"/>
                </a:solidFill>
              </a:rPr>
              <a:t>Poornima University Finalist (Team ALPHA-X | SIH_1186)   •   Problem Statement: SIH26223   •   Hardware &amp; Edge AI</a:t>
            </a:r>
          </a:p>
        </p:txBody>
      </p:sp>
    </p:spTree>
    <p:extLst>
      <p:ext uri="{BB962C8B-B14F-4D97-AF65-F5344CB8AC3E}">
        <p14:creationId xmlns:p14="http://schemas.microsoft.com/office/powerpoint/2010/main" val="16604509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1447</Words>
  <Application>Microsoft Office PowerPoint</Application>
  <PresentationFormat>Custom</PresentationFormat>
  <Paragraphs>163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nandiastram.1201hs@gmail.com</dc:creator>
  <cp:lastModifiedBy>nandiastram.1201hs@gmail.com</cp:lastModifiedBy>
  <cp:revision>1</cp:revision>
  <dcterms:created xsi:type="dcterms:W3CDTF">2026-09-24T03:28:14Z</dcterms:created>
  <dcterms:modified xsi:type="dcterms:W3CDTF">2026-09-24T03:28:14Z</dcterms:modified>
</cp:coreProperties>
</file>