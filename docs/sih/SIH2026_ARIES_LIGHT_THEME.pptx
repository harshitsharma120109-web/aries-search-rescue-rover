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56813-A2A1-A31A-52FA-3C5BB09395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B52E97-1918-199B-EB31-53BE2B0B08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A81B54-F183-2B68-BE3E-A08BBB35A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35322-04FB-414F-B5C5-B62F9051266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58A82A-E3D7-3F7B-6D09-19A2E6850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AA81C7-4DEE-1F93-FE37-C4F7C12CC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54770-DAD8-4BD1-9C12-9EA3D5037C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41638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D6CD1-445C-7C1B-FA11-18B99EACD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144AF-CF16-298E-3E7E-4BBD536FC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63DEB4-2008-05A4-A476-155319013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35322-04FB-414F-B5C5-B62F9051266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A88012-EA5B-25F1-0594-B2929B248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52F43A-37CC-2D55-97CC-B6BBE0E1F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54770-DAD8-4BD1-9C12-9EA3D5037C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2463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B9FFF-EC26-0997-45C6-E6C353B36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90EC45-71FF-D688-7F22-A6B15D1C25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8F593-5A7F-E63B-80F5-721D4627C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35322-04FB-414F-B5C5-B62F9051266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0EC9A4-4597-FDAC-D266-52E957FF3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BF1BDF-8E34-4956-B720-B9DFEA05D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54770-DAD8-4BD1-9C12-9EA3D5037C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320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B9672-A845-DF25-9C91-D7D59D791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AAFBE-BC8D-839B-B581-C62A9E32C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4050F3-16EC-139A-099B-9A2AFBD57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8B1169-5D05-656D-36F0-39BD4F312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35322-04FB-414F-B5C5-B62F9051266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6CCA0-8803-BBBE-3564-DFB1AF3AB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41E4B3-2F40-A1F6-8188-87380655D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54770-DAD8-4BD1-9C12-9EA3D5037C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024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F1435-5B39-F8DE-65DB-042DDE5FE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8EF54A-F4BC-649E-95C3-EE24574F8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E9499C-247A-AAFF-F491-70A755E4C8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3AA694-78C7-FC99-D3EC-1C105C0048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728749-4358-9D34-44AE-3BAE7674D1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F51246-92D8-F2CA-7402-6E1A286C0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35322-04FB-414F-B5C5-B62F9051266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5FC62B-F68C-9F58-1526-D651269DE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841CBD-6030-ED14-B43E-13BCA9F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54770-DAD8-4BD1-9C12-9EA3D5037C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8434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9C6F3-13C6-AAD9-50FF-897F254D4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B15934-08CC-666A-3976-599A65ED0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35322-04FB-414F-B5C5-B62F9051266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5CE7E0-7EDB-2E04-76DC-E4E32A7C1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E2718E-D4A7-28B6-BEED-D77C6220A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54770-DAD8-4BD1-9C12-9EA3D5037C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1052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ED16F7-26E1-07A4-7089-83117546B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35322-04FB-414F-B5C5-B62F9051266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68252D-66F8-2DE4-9F16-E87BBBC99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9DDA5-60F2-FB63-04EC-DEB1E5CBE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54770-DAD8-4BD1-9C12-9EA3D5037C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6473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9B15E-602A-0C0D-2C39-254F0CD71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71044-A5F2-5A53-FF2C-505218BCB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BA24A1-271A-FF71-FAE4-9936678D78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4CA3-6C30-FA14-14DF-0CF3E9477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35322-04FB-414F-B5C5-B62F9051266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C8206-9410-0175-BEBD-20C234526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711C8F-A55D-6796-F59C-509B01D69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54770-DAD8-4BD1-9C12-9EA3D5037C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8091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80452-9170-DF22-8F51-E00DE98D8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09ED3F-FE10-037A-4D35-E518523D9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1D22EA-EAFB-571A-323E-83C1CD763C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3362CB-4034-6A96-5244-AB327D517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35322-04FB-414F-B5C5-B62F9051266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2DC5F-5C7C-FFA1-B154-B6A7EBA0C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57920C-7174-9C77-DE69-A5C4C1A9F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54770-DAD8-4BD1-9C12-9EA3D5037C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654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9C4DB-3A2C-2B18-AFE6-EB90448DD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347469-F341-1AAC-EECB-C38422AC57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CC343-D772-3A1E-36BC-4E9FAF83A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35322-04FB-414F-B5C5-B62F9051266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CCA1FC-CAB8-E7FD-CD1C-146915318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0C771-2B6F-408C-CB11-77312F764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54770-DAD8-4BD1-9C12-9EA3D5037C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3643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9544CC-0C8E-19D2-198E-35E87250F1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EAE2D0-6330-80E5-EBDB-2620FA11EE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C2DA01-09D1-6564-3844-DF60602E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35322-04FB-414F-B5C5-B62F9051266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FED82-4E27-827B-6B01-3B0EE88D3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81005-561E-A65B-EA53-2B610F7C5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54770-DAD8-4BD1-9C12-9EA3D5037C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7134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B5FBA0-DEBC-80D5-061A-8DC59561C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52527C-1F68-49B0-A07F-D0B9066193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8CF8BC-23C0-42AC-C21A-29E1705D0C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335322-04FB-414F-B5C5-B62F9051266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F37BFB-EA66-E6B6-88C6-DB60465961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B1881E-9C56-7E5A-7B7D-AA2EFB042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54770-DAD8-4BD1-9C12-9EA3D5037C3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1996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B0A52A-17C0-01AB-33BC-3B5178174C2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3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F7FEE2-1971-D3D9-CEB9-6927E916FE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5B77DD-0924-034F-AE11-163C1DA3D5B7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8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B72BEF-F928-CCD7-727A-286726F57E32}"/>
              </a:ext>
            </a:extLst>
          </p:cNvPr>
          <p:cNvSpPr/>
          <p:nvPr/>
        </p:nvSpPr>
        <p:spPr>
          <a:xfrm>
            <a:off x="254000" y="114300"/>
            <a:ext cx="1778000" cy="381000"/>
          </a:xfrm>
          <a:prstGeom prst="round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150" b="1">
                <a:solidFill>
                  <a:srgbClr val="FFFFFF"/>
                </a:solidFill>
              </a:rPr>
              <a:t>ALPHA-X | SIH_1186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4ADECA-1338-A49D-2FDC-48A677A3047F}"/>
              </a:ext>
            </a:extLst>
          </p:cNvPr>
          <p:cNvSpPr txBox="1"/>
          <p:nvPr/>
        </p:nvSpPr>
        <p:spPr>
          <a:xfrm>
            <a:off x="2133600" y="101600"/>
            <a:ext cx="6096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0F172A"/>
                </a:solidFill>
              </a:rPr>
              <a:t>PROPOSED SOLUTION &amp; AUTONOMOUS RESCUE PATHWAY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8CF6D71-6057-DF16-22FC-DDF33C2CED3E}"/>
              </a:ext>
            </a:extLst>
          </p:cNvPr>
          <p:cNvSpPr/>
          <p:nvPr/>
        </p:nvSpPr>
        <p:spPr>
          <a:xfrm>
            <a:off x="8318500" y="114300"/>
            <a:ext cx="2667000" cy="38100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b="1">
                <a:solidFill>
                  <a:srgbClr val="0284C7"/>
                </a:solidFill>
              </a:rPr>
              <a:t>SIH26223 | MISSION WORKFLOW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1DE833-A238-BCF7-0BF6-C6D6EC53F04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3600" y="76200"/>
            <a:ext cx="965200" cy="457200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77BC9A0-A2FA-A756-CFC1-C9E31EF2C143}"/>
              </a:ext>
            </a:extLst>
          </p:cNvPr>
          <p:cNvSpPr/>
          <p:nvPr/>
        </p:nvSpPr>
        <p:spPr>
          <a:xfrm>
            <a:off x="254000" y="711200"/>
            <a:ext cx="2819400" cy="863600"/>
          </a:xfrm>
          <a:prstGeom prst="roundRect">
            <a:avLst/>
          </a:prstGeom>
          <a:solidFill>
            <a:srgbClr val="FFF7ED"/>
          </a:solidFill>
          <a:ln w="2286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EA580C"/>
                </a:solidFill>
              </a:rPr>
              <a:t>10x-20x  Cost Disruption</a:t>
            </a:r>
          </a:p>
          <a:p>
            <a:pPr algn="ctr"/>
            <a:r>
              <a:rPr lang="en-US" sz="850">
                <a:solidFill>
                  <a:srgbClr val="1E3347"/>
                </a:solidFill>
              </a:rPr>
              <a:t>₹50,000 vs ₹25L imported</a:t>
            </a:r>
            <a:endParaRPr lang="en-IN" sz="850">
              <a:solidFill>
                <a:srgbClr val="1E3347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C9D6044-FF71-F278-B7C5-A318DEFFE588}"/>
              </a:ext>
            </a:extLst>
          </p:cNvPr>
          <p:cNvSpPr/>
          <p:nvPr/>
        </p:nvSpPr>
        <p:spPr>
          <a:xfrm>
            <a:off x="3200400" y="711200"/>
            <a:ext cx="2819400" cy="863600"/>
          </a:xfrm>
          <a:prstGeom prst="roundRect">
            <a:avLst/>
          </a:prstGeom>
          <a:solidFill>
            <a:srgbClr val="F0F9FF"/>
          </a:solidFill>
          <a:ln w="22860">
            <a:solidFill>
              <a:srgbClr val="0284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b="1">
                <a:solidFill>
                  <a:srgbClr val="0284C7"/>
                </a:solidFill>
              </a:rPr>
              <a:t>5 km  Deep Rubble LoRa</a:t>
            </a:r>
          </a:p>
          <a:p>
            <a:pPr algn="ctr"/>
            <a:r>
              <a:rPr lang="it-IT" sz="850">
                <a:solidFill>
                  <a:srgbClr val="1E3347"/>
                </a:solidFill>
              </a:rPr>
              <a:t>Sub-GHz concrete mesh</a:t>
            </a:r>
            <a:endParaRPr lang="en-IN" sz="850">
              <a:solidFill>
                <a:srgbClr val="1E3347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87B7E4-BE69-8498-EC3D-EE0C68439E07}"/>
              </a:ext>
            </a:extLst>
          </p:cNvPr>
          <p:cNvSpPr/>
          <p:nvPr/>
        </p:nvSpPr>
        <p:spPr>
          <a:xfrm>
            <a:off x="6146800" y="711200"/>
            <a:ext cx="2819400" cy="863600"/>
          </a:xfrm>
          <a:prstGeom prst="roundRect">
            <a:avLst/>
          </a:prstGeom>
          <a:solidFill>
            <a:srgbClr val="FEF2F2"/>
          </a:solidFill>
          <a:ln w="22860">
            <a:solidFill>
              <a:srgbClr val="DC26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DC2626"/>
                </a:solidFill>
              </a:rPr>
              <a:t>1000°C  Fire Armor Shield</a:t>
            </a:r>
          </a:p>
          <a:p>
            <a:pPr algn="ctr"/>
            <a:r>
              <a:rPr lang="en-US" sz="850">
                <a:solidFill>
                  <a:srgbClr val="1E3347"/>
                </a:solidFill>
              </a:rPr>
              <a:t>Silica Aerogel insulation</a:t>
            </a:r>
            <a:endParaRPr lang="en-IN" sz="850">
              <a:solidFill>
                <a:srgbClr val="1E3347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EC743B2-1FEA-CACD-6E59-3315272D09D5}"/>
              </a:ext>
            </a:extLst>
          </p:cNvPr>
          <p:cNvSpPr/>
          <p:nvPr/>
        </p:nvSpPr>
        <p:spPr>
          <a:xfrm>
            <a:off x="9093200" y="711200"/>
            <a:ext cx="2819400" cy="863600"/>
          </a:xfrm>
          <a:prstGeom prst="roundRect">
            <a:avLst/>
          </a:prstGeom>
          <a:solidFill>
            <a:srgbClr val="F5F3FF"/>
          </a:solidFill>
          <a:ln w="22860">
            <a:solidFill>
              <a:srgbClr val="7C3A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7C3AED"/>
                </a:solidFill>
              </a:rPr>
              <a:t>3D Blueprint  Tactical NDRF Map</a:t>
            </a:r>
          </a:p>
          <a:p>
            <a:pPr algn="ctr"/>
            <a:r>
              <a:rPr lang="en-US" sz="850">
                <a:solidFill>
                  <a:srgbClr val="1E3347"/>
                </a:solidFill>
              </a:rPr>
              <a:t>Triage severity &amp; safe path</a:t>
            </a:r>
            <a:endParaRPr lang="en-IN" sz="850">
              <a:solidFill>
                <a:srgbClr val="1E3347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F48826B-F1D1-1EDC-39CA-48BA608D98E8}"/>
              </a:ext>
            </a:extLst>
          </p:cNvPr>
          <p:cNvSpPr/>
          <p:nvPr/>
        </p:nvSpPr>
        <p:spPr>
          <a:xfrm>
            <a:off x="254000" y="1676400"/>
            <a:ext cx="6159500" cy="43815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0E8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33AC97-E27F-2223-66BD-CE0C7FA80243}"/>
              </a:ext>
            </a:extLst>
          </p:cNvPr>
          <p:cNvSpPr txBox="1"/>
          <p:nvPr/>
        </p:nvSpPr>
        <p:spPr>
          <a:xfrm>
            <a:off x="355600" y="1727200"/>
            <a:ext cx="59690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50" b="1">
                <a:solidFill>
                  <a:srgbClr val="0F172A"/>
                </a:solidFill>
              </a:rPr>
              <a:t>AUTONOMOUS OPERATIONAL PATHWAY (HOW ARIES EXECUTES RESCUE):</a:t>
            </a:r>
            <a:endParaRPr lang="en-IN" sz="950" b="1">
              <a:solidFill>
                <a:srgbClr val="0F172A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0003712-ECFE-CEFF-B1C2-7D9099A26387}"/>
              </a:ext>
            </a:extLst>
          </p:cNvPr>
          <p:cNvSpPr/>
          <p:nvPr/>
        </p:nvSpPr>
        <p:spPr>
          <a:xfrm>
            <a:off x="355600" y="2057400"/>
            <a:ext cx="5943600" cy="71120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7A41084-7B02-615D-E110-AE82CC4FA18D}"/>
              </a:ext>
            </a:extLst>
          </p:cNvPr>
          <p:cNvSpPr/>
          <p:nvPr/>
        </p:nvSpPr>
        <p:spPr>
          <a:xfrm>
            <a:off x="457200" y="2159000"/>
            <a:ext cx="457200" cy="254000"/>
          </a:xfrm>
          <a:prstGeom prst="roundRect">
            <a:avLst/>
          </a:prstGeom>
          <a:solidFill>
            <a:srgbClr val="0596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9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FCC16-10D1-6C1E-4EDE-ECE5A5D2D8F5}"/>
              </a:ext>
            </a:extLst>
          </p:cNvPr>
          <p:cNvSpPr txBox="1"/>
          <p:nvPr/>
        </p:nvSpPr>
        <p:spPr>
          <a:xfrm>
            <a:off x="1016000" y="2095500"/>
            <a:ext cx="5207000" cy="3662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 b="1">
                <a:solidFill>
                  <a:srgbClr val="059669"/>
                </a:solidFill>
              </a:rPr>
              <a:t>🚜 Autonomous Rubble Ingress &amp; SLAM</a:t>
            </a:r>
          </a:p>
          <a:p>
            <a:r>
              <a:rPr lang="en-IN" sz="780">
                <a:solidFill>
                  <a:srgbClr val="1E3347"/>
                </a:solidFill>
              </a:rPr>
              <a:t>Deployed to disaster zone -&gt; Rover navigates ruins autonomously; LiDAR &amp; sonar map safe ingress path.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93D1ECB-34D5-09DB-728C-EAD429108BB8}"/>
              </a:ext>
            </a:extLst>
          </p:cNvPr>
          <p:cNvSpPr/>
          <p:nvPr/>
        </p:nvSpPr>
        <p:spPr>
          <a:xfrm>
            <a:off x="355600" y="2832100"/>
            <a:ext cx="5943600" cy="71120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B2D8EE7-258F-AFB8-F124-C6F3272DCA54}"/>
              </a:ext>
            </a:extLst>
          </p:cNvPr>
          <p:cNvSpPr/>
          <p:nvPr/>
        </p:nvSpPr>
        <p:spPr>
          <a:xfrm>
            <a:off x="457200" y="2933700"/>
            <a:ext cx="457200" cy="254000"/>
          </a:xfrm>
          <a:prstGeom prst="roundRect">
            <a:avLst/>
          </a:prstGeom>
          <a:solidFill>
            <a:srgbClr val="0284C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9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DEE35D-52AA-A4C4-6345-D5026476393B}"/>
              </a:ext>
            </a:extLst>
          </p:cNvPr>
          <p:cNvSpPr txBox="1"/>
          <p:nvPr/>
        </p:nvSpPr>
        <p:spPr>
          <a:xfrm>
            <a:off x="1016000" y="2870200"/>
            <a:ext cx="5207000" cy="3662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0284C7"/>
                </a:solidFill>
              </a:rPr>
              <a:t>🚁 Auto-Trench Air-Hop &amp; Flood Float</a:t>
            </a:r>
          </a:p>
          <a:p>
            <a:r>
              <a:rPr lang="en-US" sz="780">
                <a:solidFill>
                  <a:srgbClr val="1E3347"/>
                </a:solidFill>
              </a:rPr>
              <a:t>If deep chasm/trench met -&gt; 8-rotor octocopter lifts chassis across; pontoon hull floats over flood.</a:t>
            </a:r>
            <a:endParaRPr lang="en-IN" sz="780">
              <a:solidFill>
                <a:srgbClr val="1E3347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1D04669-62AE-616F-27EF-B215A487291B}"/>
              </a:ext>
            </a:extLst>
          </p:cNvPr>
          <p:cNvSpPr/>
          <p:nvPr/>
        </p:nvSpPr>
        <p:spPr>
          <a:xfrm>
            <a:off x="355600" y="3606800"/>
            <a:ext cx="5943600" cy="71120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E11D4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6E9AA74-87E6-F8CF-7CF8-53EC2355FE9A}"/>
              </a:ext>
            </a:extLst>
          </p:cNvPr>
          <p:cNvSpPr/>
          <p:nvPr/>
        </p:nvSpPr>
        <p:spPr>
          <a:xfrm>
            <a:off x="457200" y="3708400"/>
            <a:ext cx="457200" cy="254000"/>
          </a:xfrm>
          <a:prstGeom prst="round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9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6D1688-098F-438E-0A2E-3B67ECFC3297}"/>
              </a:ext>
            </a:extLst>
          </p:cNvPr>
          <p:cNvSpPr txBox="1"/>
          <p:nvPr/>
        </p:nvSpPr>
        <p:spPr>
          <a:xfrm>
            <a:off x="1016000" y="3644900"/>
            <a:ext cx="5207000" cy="3662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 b="1">
                <a:solidFill>
                  <a:srgbClr val="E11D48"/>
                </a:solidFill>
              </a:rPr>
              <a:t>🦾 Bionic Arm Crevice Probe &amp; Vitals Exam</a:t>
            </a:r>
          </a:p>
          <a:p>
            <a:r>
              <a:rPr lang="en-IN" sz="780">
                <a:solidFill>
                  <a:srgbClr val="1E3347"/>
                </a:solidFill>
              </a:rPr>
              <a:t>Spots heat signature -&gt; 4-DOF arm enters 10cm crevice to scan survivor pulse &amp; SpO2 at tip.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EE36107-C1EE-95CF-A340-BB3F7B55694C}"/>
              </a:ext>
            </a:extLst>
          </p:cNvPr>
          <p:cNvSpPr/>
          <p:nvPr/>
        </p:nvSpPr>
        <p:spPr>
          <a:xfrm>
            <a:off x="355600" y="4381500"/>
            <a:ext cx="5943600" cy="711200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64A61E9-EADF-4FBA-3F41-2F2F31523C7E}"/>
              </a:ext>
            </a:extLst>
          </p:cNvPr>
          <p:cNvSpPr/>
          <p:nvPr/>
        </p:nvSpPr>
        <p:spPr>
          <a:xfrm>
            <a:off x="457200" y="4483100"/>
            <a:ext cx="457200" cy="254000"/>
          </a:xfrm>
          <a:prstGeom prst="round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9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64C6BB-9DC4-7F55-383D-886C277EDEBD}"/>
              </a:ext>
            </a:extLst>
          </p:cNvPr>
          <p:cNvSpPr txBox="1"/>
          <p:nvPr/>
        </p:nvSpPr>
        <p:spPr>
          <a:xfrm>
            <a:off x="1016000" y="4419600"/>
            <a:ext cx="5207000" cy="3662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 b="1">
                <a:solidFill>
                  <a:srgbClr val="EA580C"/>
                </a:solidFill>
              </a:rPr>
              <a:t>📡 Instant LoRa &amp; GSM Telemetry to NDRF</a:t>
            </a:r>
          </a:p>
          <a:p>
            <a:r>
              <a:rPr lang="en-IN" sz="780">
                <a:solidFill>
                  <a:srgbClr val="1E3347"/>
                </a:solidFill>
              </a:rPr>
              <a:t>Transmits physiological vitals + toxic gas report instantly via 5km Sub-GHz LoRa mesh to command.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EE48E7B-86ED-3FAD-5592-74129086CA0E}"/>
              </a:ext>
            </a:extLst>
          </p:cNvPr>
          <p:cNvSpPr/>
          <p:nvPr/>
        </p:nvSpPr>
        <p:spPr>
          <a:xfrm>
            <a:off x="355600" y="5156200"/>
            <a:ext cx="5943600" cy="711200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7C3A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D10D29-0633-01E8-E5FD-2637BE5ACFFB}"/>
              </a:ext>
            </a:extLst>
          </p:cNvPr>
          <p:cNvSpPr/>
          <p:nvPr/>
        </p:nvSpPr>
        <p:spPr>
          <a:xfrm>
            <a:off x="457200" y="5257800"/>
            <a:ext cx="457200" cy="254000"/>
          </a:xfrm>
          <a:prstGeom prst="roundRect">
            <a:avLst/>
          </a:prstGeom>
          <a:solidFill>
            <a:srgbClr val="7C3AE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9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5F57D64-6DB2-87B9-9B5B-3F83879608BF}"/>
              </a:ext>
            </a:extLst>
          </p:cNvPr>
          <p:cNvSpPr txBox="1"/>
          <p:nvPr/>
        </p:nvSpPr>
        <p:spPr>
          <a:xfrm>
            <a:off x="1016000" y="5194300"/>
            <a:ext cx="5207000" cy="3662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7C3AED"/>
                </a:solidFill>
              </a:rPr>
              <a:t>🗺️ NDRF 3D Tactical Rescue Blueprint</a:t>
            </a:r>
          </a:p>
          <a:p>
            <a:r>
              <a:rPr lang="en-US" sz="780">
                <a:solidFill>
                  <a:srgbClr val="1E3347"/>
                </a:solidFill>
              </a:rPr>
              <a:t>Generates 3D Map for NDRF: exact victim locations, triage injury priority, and safe rescuer corridor!</a:t>
            </a:r>
            <a:endParaRPr lang="en-IN" sz="780">
              <a:solidFill>
                <a:srgbClr val="1E3347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C722DB0-F2E4-2224-CD27-A77D2DA8C04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0" y="1676400"/>
            <a:ext cx="5334000" cy="298450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8CBABF71-67AB-DC96-DBC9-375AA987E8BA}"/>
              </a:ext>
            </a:extLst>
          </p:cNvPr>
          <p:cNvSpPr/>
          <p:nvPr/>
        </p:nvSpPr>
        <p:spPr>
          <a:xfrm>
            <a:off x="6604000" y="4762500"/>
            <a:ext cx="5334000" cy="1295400"/>
          </a:xfrm>
          <a:prstGeom prst="roundRect">
            <a:avLst/>
          </a:prstGeom>
          <a:solidFill>
            <a:srgbClr val="F5F3FF"/>
          </a:solidFill>
          <a:ln w="22860">
            <a:solidFill>
              <a:srgbClr val="7C3A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950" b="1">
                <a:solidFill>
                  <a:srgbClr val="7C3AED"/>
                </a:solidFill>
              </a:rPr>
              <a:t>🗺️ THE NDRF TACTICAL EXTRACTION BLUEPRINT (RESCUER SAFETY):</a:t>
            </a:r>
          </a:p>
          <a:p>
            <a:pPr algn="ctr"/>
            <a:r>
              <a:rPr lang="en-IN" sz="800">
                <a:solidFill>
                  <a:srgbClr val="1E3347"/>
                </a:solidFill>
              </a:rPr>
              <a:t>• Pinpointed Locations: Exact 3D coordinates &amp; depth of every trapped survivor.</a:t>
            </a:r>
          </a:p>
          <a:p>
            <a:pPr algn="ctr"/>
            <a:r>
              <a:rPr lang="en-IN" sz="800">
                <a:solidFill>
                  <a:srgbClr val="1E3347"/>
                </a:solidFill>
              </a:rPr>
              <a:t>• Smart Triage Severity: 🔴 Critical (&lt;90% SpO2 extract 1st) vs 🟡 Urgent vs 🟢 Stable.</a:t>
            </a:r>
          </a:p>
          <a:p>
            <a:pPr algn="ctr"/>
            <a:r>
              <a:rPr lang="en-IN" sz="800">
                <a:solidFill>
                  <a:srgbClr val="1E3347"/>
                </a:solidFill>
              </a:rPr>
              <a:t>• Safe Rescuer Corridor: Safe path avoiding secondary wall collapse &amp; chasms.</a:t>
            </a:r>
          </a:p>
          <a:p>
            <a:pPr algn="ctr"/>
            <a:r>
              <a:rPr lang="en-IN" sz="800">
                <a:solidFill>
                  <a:srgbClr val="1E3347"/>
                </a:solidFill>
              </a:rPr>
              <a:t>• Hazard Overlay: Flags MQ-135 toxic gas pockets &amp; 500°C fire zones before entry.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94ECB85-AF54-45BD-38DC-E56A60A43C6D}"/>
              </a:ext>
            </a:extLst>
          </p:cNvPr>
          <p:cNvSpPr/>
          <p:nvPr/>
        </p:nvSpPr>
        <p:spPr>
          <a:xfrm>
            <a:off x="0" y="6159500"/>
            <a:ext cx="12192000" cy="69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8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7536ECD-91DF-98F7-EBC5-E0964E47C980}"/>
              </a:ext>
            </a:extLst>
          </p:cNvPr>
          <p:cNvSpPr txBox="1"/>
          <p:nvPr/>
        </p:nvSpPr>
        <p:spPr>
          <a:xfrm>
            <a:off x="254000" y="6248400"/>
            <a:ext cx="1168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</a:rPr>
              <a:t>Mission Value: Complete autonomous loop from ingress to survivor vitals triage and final NDRF Tactical Blueprint generation.</a:t>
            </a:r>
            <a:endParaRPr lang="en-IN" sz="1000" b="1">
              <a:solidFill>
                <a:srgbClr val="0F172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84906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F7333A2-B01F-0D09-59CE-B167C60218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7C1179-5DDA-BEE3-44A8-7093FB1A22A5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8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40CF04F-9775-EE45-7B5B-847EEACFC25B}"/>
              </a:ext>
            </a:extLst>
          </p:cNvPr>
          <p:cNvSpPr/>
          <p:nvPr/>
        </p:nvSpPr>
        <p:spPr>
          <a:xfrm>
            <a:off x="254000" y="114300"/>
            <a:ext cx="1778000" cy="381000"/>
          </a:xfrm>
          <a:prstGeom prst="round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150" b="1">
                <a:solidFill>
                  <a:srgbClr val="FFFFFF"/>
                </a:solidFill>
              </a:rPr>
              <a:t>ALPHA-X | SIH_1186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CD6433-64E9-92DE-9DCA-070A38DF5FD5}"/>
              </a:ext>
            </a:extLst>
          </p:cNvPr>
          <p:cNvSpPr txBox="1"/>
          <p:nvPr/>
        </p:nvSpPr>
        <p:spPr>
          <a:xfrm>
            <a:off x="2133600" y="101600"/>
            <a:ext cx="6096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0F172A"/>
                </a:solidFill>
              </a:rPr>
              <a:t>TECHNICAL APPROACH &amp; DUAL-MCU ARCHITECTURE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DA503D1-2642-E33E-AFEA-E92AAB0A5DBD}"/>
              </a:ext>
            </a:extLst>
          </p:cNvPr>
          <p:cNvSpPr/>
          <p:nvPr/>
        </p:nvSpPr>
        <p:spPr>
          <a:xfrm>
            <a:off x="8318500" y="114300"/>
            <a:ext cx="2667000" cy="38100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b="1">
                <a:solidFill>
                  <a:srgbClr val="0284C7"/>
                </a:solidFill>
              </a:rPr>
              <a:t>SIH26223 | HARDWARE &amp; AI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B4CEC91-9071-A377-E0E3-461D295640C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3600" y="76200"/>
            <a:ext cx="965200" cy="457200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0367D8-9C8A-5C53-8F40-DF37AFB78284}"/>
              </a:ext>
            </a:extLst>
          </p:cNvPr>
          <p:cNvSpPr/>
          <p:nvPr/>
        </p:nvSpPr>
        <p:spPr>
          <a:xfrm>
            <a:off x="254000" y="736600"/>
            <a:ext cx="3759200" cy="3683000"/>
          </a:xfrm>
          <a:prstGeom prst="roundRect">
            <a:avLst/>
          </a:prstGeom>
          <a:solidFill>
            <a:srgbClr val="FFF7ED"/>
          </a:solidFill>
          <a:ln w="2286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192A28-2CE9-53D9-E0A6-59A62400A02E}"/>
              </a:ext>
            </a:extLst>
          </p:cNvPr>
          <p:cNvSpPr txBox="1"/>
          <p:nvPr/>
        </p:nvSpPr>
        <p:spPr>
          <a:xfrm>
            <a:off x="381000" y="863600"/>
            <a:ext cx="3505200" cy="117724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350" b="1">
                <a:solidFill>
                  <a:srgbClr val="EA580C"/>
                </a:solidFill>
              </a:rPr>
              <a:t>🚜 Tri-Phibian Mobility</a:t>
            </a:r>
          </a:p>
          <a:p>
            <a:endParaRPr lang="en-IN" sz="950">
              <a:solidFill>
                <a:srgbClr val="1E3347"/>
              </a:solidFill>
            </a:endParaRPr>
          </a:p>
          <a:p>
            <a:r>
              <a:rPr lang="en-IN" sz="950">
                <a:solidFill>
                  <a:srgbClr val="1E3347"/>
                </a:solidFill>
              </a:rPr>
              <a:t>• Land: Kevlar caterpillar tank tracks with high-torque DC planetary gearmotors (climbs 45° debris).</a:t>
            </a:r>
          </a:p>
          <a:p>
            <a:r>
              <a:rPr lang="en-IN" sz="950">
                <a:solidFill>
                  <a:srgbClr val="1E3347"/>
                </a:solidFill>
              </a:rPr>
              <a:t>• Water: IP68 sealed carbon boat hull + twin submersible waterjets.</a:t>
            </a:r>
          </a:p>
          <a:p>
            <a:r>
              <a:rPr lang="en-IN" sz="950">
                <a:solidFill>
                  <a:srgbClr val="1E3347"/>
                </a:solidFill>
              </a:rPr>
              <a:t>• Air: 8x heavy-lift carbon-fiber outrigger rotors (lifts full 15kg chassis over trenches).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0F9D8BF-01BF-7FA4-5684-D21F5DA43275}"/>
              </a:ext>
            </a:extLst>
          </p:cNvPr>
          <p:cNvSpPr/>
          <p:nvPr/>
        </p:nvSpPr>
        <p:spPr>
          <a:xfrm>
            <a:off x="4216400" y="736600"/>
            <a:ext cx="3759200" cy="3683000"/>
          </a:xfrm>
          <a:prstGeom prst="roundRect">
            <a:avLst/>
          </a:prstGeom>
          <a:solidFill>
            <a:srgbClr val="FFF1F2"/>
          </a:solidFill>
          <a:ln w="22860">
            <a:solidFill>
              <a:srgbClr val="E11D4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101E50-4FD1-7BD9-3124-F7D68E874E2D}"/>
              </a:ext>
            </a:extLst>
          </p:cNvPr>
          <p:cNvSpPr txBox="1"/>
          <p:nvPr/>
        </p:nvSpPr>
        <p:spPr>
          <a:xfrm>
            <a:off x="4343400" y="863600"/>
            <a:ext cx="3505200" cy="132343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350" b="1">
                <a:solidFill>
                  <a:srgbClr val="E11D48"/>
                </a:solidFill>
              </a:rPr>
              <a:t>🦾 Perception &amp; Bionic Arm</a:t>
            </a:r>
          </a:p>
          <a:p>
            <a:endParaRPr lang="en-IN" sz="950">
              <a:solidFill>
                <a:srgbClr val="1E3347"/>
              </a:solidFill>
            </a:endParaRPr>
          </a:p>
          <a:p>
            <a:r>
              <a:rPr lang="en-IN" sz="950">
                <a:solidFill>
                  <a:srgbClr val="1E3347"/>
                </a:solidFill>
              </a:rPr>
              <a:t>• Bionic Arm: 4-DOF carbon manipulator (1m reach inside 10cm crevice voids).</a:t>
            </a:r>
          </a:p>
          <a:p>
            <a:r>
              <a:rPr lang="en-IN" sz="950">
                <a:solidFill>
                  <a:srgbClr val="1E3347"/>
                </a:solidFill>
              </a:rPr>
              <a:t>• Biosensor Tip: MAX30102 pulse oximeter (BPM &amp; SpO2) + BMP280 depth probe.</a:t>
            </a:r>
          </a:p>
          <a:p>
            <a:r>
              <a:rPr lang="en-IN" sz="950">
                <a:solidFill>
                  <a:srgbClr val="1E3347"/>
                </a:solidFill>
              </a:rPr>
              <a:t>• Vision Core: FLIR radiometric LWIR thermal core + 3D LiDAR SLAM.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8884802-D97D-5F12-0A12-885F24A97248}"/>
              </a:ext>
            </a:extLst>
          </p:cNvPr>
          <p:cNvSpPr/>
          <p:nvPr/>
        </p:nvSpPr>
        <p:spPr>
          <a:xfrm>
            <a:off x="8178800" y="736600"/>
            <a:ext cx="3759200" cy="3683000"/>
          </a:xfrm>
          <a:prstGeom prst="roundRect">
            <a:avLst/>
          </a:prstGeom>
          <a:solidFill>
            <a:srgbClr val="ECFDF5"/>
          </a:solidFill>
          <a:ln w="22860">
            <a:solidFill>
              <a:srgbClr val="0596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D809D1-CD90-1090-9C8E-B8E797B97B34}"/>
              </a:ext>
            </a:extLst>
          </p:cNvPr>
          <p:cNvSpPr txBox="1"/>
          <p:nvPr/>
        </p:nvSpPr>
        <p:spPr>
          <a:xfrm>
            <a:off x="8305800" y="863600"/>
            <a:ext cx="3505200" cy="132343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350" b="1">
                <a:solidFill>
                  <a:srgbClr val="059669"/>
                </a:solidFill>
              </a:rPr>
              <a:t>⚡ Dual-MCU &amp; Fire Shield</a:t>
            </a:r>
          </a:p>
          <a:p>
            <a:endParaRPr lang="en-IN" sz="950">
              <a:solidFill>
                <a:srgbClr val="1E3347"/>
              </a:solidFill>
            </a:endParaRPr>
          </a:p>
          <a:p>
            <a:r>
              <a:rPr lang="en-IN" sz="950">
                <a:solidFill>
                  <a:srgbClr val="1E3347"/>
                </a:solidFill>
              </a:rPr>
              <a:t>• Dual-MCU: Arduino #1 (Drive) + Arduino #2 (Sensors) - Zero EMF freeze!</a:t>
            </a:r>
          </a:p>
          <a:p>
            <a:r>
              <a:rPr lang="en-IN" sz="950">
                <a:solidFill>
                  <a:srgbClr val="1E3347"/>
                </a:solidFill>
              </a:rPr>
              <a:t>• Comms: 5 km Sub-GHz LoRa Mesh (868MHz) + Wi-Fi 6 + SIM800L GSM.</a:t>
            </a:r>
          </a:p>
          <a:p>
            <a:r>
              <a:rPr lang="en-IN" sz="950">
                <a:solidFill>
                  <a:srgbClr val="1E3347"/>
                </a:solidFill>
              </a:rPr>
              <a:t>• Fire Armor: 10mm Silica Aerogel (blocks 1000°C) + Nitrogen cold purge.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55D5806-C3EA-DBC9-E75E-32C264166338}"/>
              </a:ext>
            </a:extLst>
          </p:cNvPr>
          <p:cNvSpPr/>
          <p:nvPr/>
        </p:nvSpPr>
        <p:spPr>
          <a:xfrm>
            <a:off x="254000" y="4572000"/>
            <a:ext cx="11684000" cy="14605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0E8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9DB9BC-B829-5D43-DB2D-DDBD3CD155AE}"/>
              </a:ext>
            </a:extLst>
          </p:cNvPr>
          <p:cNvSpPr txBox="1"/>
          <p:nvPr/>
        </p:nvSpPr>
        <p:spPr>
          <a:xfrm>
            <a:off x="381000" y="46228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</a:rPr>
              <a:t>SYSTEM ARCHITECTURE &amp; END-TO-END DATAFLOW PIPELINE:</a:t>
            </a:r>
            <a:endParaRPr lang="en-IN" sz="1000" b="1">
              <a:solidFill>
                <a:srgbClr val="0F172A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334E204-7BA0-CA93-269B-CCA38163D022}"/>
              </a:ext>
            </a:extLst>
          </p:cNvPr>
          <p:cNvSpPr/>
          <p:nvPr/>
        </p:nvSpPr>
        <p:spPr>
          <a:xfrm>
            <a:off x="406400" y="4953000"/>
            <a:ext cx="2413000" cy="86360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E11D4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>
                <a:solidFill>
                  <a:srgbClr val="E11D48"/>
                </a:solidFill>
              </a:rPr>
              <a:t>1. SENSING &amp; ARM</a:t>
            </a:r>
          </a:p>
          <a:p>
            <a:pPr algn="ctr"/>
            <a:r>
              <a:rPr lang="en-IN" sz="850">
                <a:solidFill>
                  <a:srgbClr val="1E3347"/>
                </a:solidFill>
              </a:rPr>
              <a:t>MQ-135, FLIR, SpO2, Sonar</a:t>
            </a:r>
          </a:p>
        </p:txBody>
      </p:sp>
      <p:sp>
        <p:nvSpPr>
          <p:cNvPr id="18" name="Cylinder 17">
            <a:extLst>
              <a:ext uri="{FF2B5EF4-FFF2-40B4-BE49-F238E27FC236}">
                <a16:creationId xmlns:a16="http://schemas.microsoft.com/office/drawing/2014/main" id="{EE92322F-E89F-9067-0D53-915DDB8059C2}"/>
              </a:ext>
            </a:extLst>
          </p:cNvPr>
          <p:cNvSpPr/>
          <p:nvPr/>
        </p:nvSpPr>
        <p:spPr>
          <a:xfrm>
            <a:off x="2895600" y="5270500"/>
            <a:ext cx="254000" cy="177800"/>
          </a:xfrm>
          <a:prstGeom prst="can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009953D-B641-5ED0-ED14-811DFF04941B}"/>
              </a:ext>
            </a:extLst>
          </p:cNvPr>
          <p:cNvSpPr/>
          <p:nvPr/>
        </p:nvSpPr>
        <p:spPr>
          <a:xfrm>
            <a:off x="3251200" y="4953000"/>
            <a:ext cx="2413000" cy="8636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>
                <a:solidFill>
                  <a:srgbClr val="059669"/>
                </a:solidFill>
              </a:rPr>
              <a:t>2. DUAL-MCU CORE</a:t>
            </a:r>
          </a:p>
          <a:p>
            <a:pPr algn="ctr"/>
            <a:r>
              <a:rPr lang="en-US" sz="850">
                <a:solidFill>
                  <a:srgbClr val="1E3347"/>
                </a:solidFill>
              </a:rPr>
              <a:t>Arduino #1 &amp; #2 Isolated Bus</a:t>
            </a:r>
            <a:endParaRPr lang="en-IN" sz="850">
              <a:solidFill>
                <a:srgbClr val="1E3347"/>
              </a:solidFill>
            </a:endParaRPr>
          </a:p>
        </p:txBody>
      </p:sp>
      <p:sp>
        <p:nvSpPr>
          <p:cNvPr id="20" name="Cylinder 19">
            <a:extLst>
              <a:ext uri="{FF2B5EF4-FFF2-40B4-BE49-F238E27FC236}">
                <a16:creationId xmlns:a16="http://schemas.microsoft.com/office/drawing/2014/main" id="{3D43097C-A994-412A-E3E5-340E8FA0FB26}"/>
              </a:ext>
            </a:extLst>
          </p:cNvPr>
          <p:cNvSpPr/>
          <p:nvPr/>
        </p:nvSpPr>
        <p:spPr>
          <a:xfrm>
            <a:off x="5740400" y="5270500"/>
            <a:ext cx="254000" cy="177800"/>
          </a:xfrm>
          <a:prstGeom prst="can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49ED2DF-9234-D115-F2A5-2BF0B0BECD4A}"/>
              </a:ext>
            </a:extLst>
          </p:cNvPr>
          <p:cNvSpPr/>
          <p:nvPr/>
        </p:nvSpPr>
        <p:spPr>
          <a:xfrm>
            <a:off x="6096000" y="4953000"/>
            <a:ext cx="2413000" cy="86360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>
                <a:solidFill>
                  <a:srgbClr val="0284C7"/>
                </a:solidFill>
              </a:rPr>
              <a:t>3. RESILIENT COMMS</a:t>
            </a:r>
          </a:p>
          <a:p>
            <a:pPr algn="ctr"/>
            <a:r>
              <a:rPr lang="en-US" sz="850">
                <a:solidFill>
                  <a:srgbClr val="1E3347"/>
                </a:solidFill>
              </a:rPr>
              <a:t>5 km LoRa Mesh + GSM SMS</a:t>
            </a:r>
            <a:endParaRPr lang="en-IN" sz="850">
              <a:solidFill>
                <a:srgbClr val="1E3347"/>
              </a:solidFill>
            </a:endParaRPr>
          </a:p>
        </p:txBody>
      </p:sp>
      <p:sp>
        <p:nvSpPr>
          <p:cNvPr id="22" name="Cylinder 21">
            <a:extLst>
              <a:ext uri="{FF2B5EF4-FFF2-40B4-BE49-F238E27FC236}">
                <a16:creationId xmlns:a16="http://schemas.microsoft.com/office/drawing/2014/main" id="{9D7F81EE-36D8-4F4A-829B-A792912F040A}"/>
              </a:ext>
            </a:extLst>
          </p:cNvPr>
          <p:cNvSpPr/>
          <p:nvPr/>
        </p:nvSpPr>
        <p:spPr>
          <a:xfrm>
            <a:off x="8585200" y="5270500"/>
            <a:ext cx="254000" cy="177800"/>
          </a:xfrm>
          <a:prstGeom prst="can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DFC7883-A17C-2549-2A8C-9E080CE3E2FC}"/>
              </a:ext>
            </a:extLst>
          </p:cNvPr>
          <p:cNvSpPr/>
          <p:nvPr/>
        </p:nvSpPr>
        <p:spPr>
          <a:xfrm>
            <a:off x="8940800" y="4953000"/>
            <a:ext cx="2413000" cy="86360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C3A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>
                <a:solidFill>
                  <a:srgbClr val="7C3AED"/>
                </a:solidFill>
              </a:rPr>
              <a:t>4. NDRF TACTICAL HUB</a:t>
            </a:r>
          </a:p>
          <a:p>
            <a:pPr algn="ctr"/>
            <a:r>
              <a:rPr lang="en-IN" sz="850">
                <a:solidFill>
                  <a:srgbClr val="1E3347"/>
                </a:solidFill>
              </a:rPr>
              <a:t>3D Blueprint &amp; Triage Console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DADD03-73BD-519B-D147-30B496670405}"/>
              </a:ext>
            </a:extLst>
          </p:cNvPr>
          <p:cNvSpPr/>
          <p:nvPr/>
        </p:nvSpPr>
        <p:spPr>
          <a:xfrm>
            <a:off x="0" y="6159500"/>
            <a:ext cx="12192000" cy="69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8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0D122A-2F0B-1036-B22E-498433F0F288}"/>
              </a:ext>
            </a:extLst>
          </p:cNvPr>
          <p:cNvSpPr txBox="1"/>
          <p:nvPr/>
        </p:nvSpPr>
        <p:spPr>
          <a:xfrm>
            <a:off x="254000" y="6248400"/>
            <a:ext cx="1168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 b="1">
                <a:solidFill>
                  <a:srgbClr val="0F172A"/>
                </a:solidFill>
              </a:rPr>
              <a:t>Zero-Lockup Guarantee: Dedicated Dual-MCU domain isolation prevents high-current motor EMF noise from disrupting mission-critical gas &amp; vital sensors.</a:t>
            </a:r>
          </a:p>
        </p:txBody>
      </p:sp>
    </p:spTree>
    <p:extLst>
      <p:ext uri="{BB962C8B-B14F-4D97-AF65-F5344CB8AC3E}">
        <p14:creationId xmlns:p14="http://schemas.microsoft.com/office/powerpoint/2010/main" val="4079586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CFDC805-2774-C6E7-BDBD-995BB3F4867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26F493-173A-1599-F8F5-60ECE8A65581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8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89CE31F-F88E-E1BA-4C45-2703BA2B489C}"/>
              </a:ext>
            </a:extLst>
          </p:cNvPr>
          <p:cNvSpPr/>
          <p:nvPr/>
        </p:nvSpPr>
        <p:spPr>
          <a:xfrm>
            <a:off x="254000" y="114300"/>
            <a:ext cx="1778000" cy="381000"/>
          </a:xfrm>
          <a:prstGeom prst="round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150" b="1">
                <a:solidFill>
                  <a:srgbClr val="FFFFFF"/>
                </a:solidFill>
              </a:rPr>
              <a:t>ALPHA-X | SIH_1186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20F810-02DF-208E-2E79-BDCFFF27FC7C}"/>
              </a:ext>
            </a:extLst>
          </p:cNvPr>
          <p:cNvSpPr txBox="1"/>
          <p:nvPr/>
        </p:nvSpPr>
        <p:spPr>
          <a:xfrm>
            <a:off x="2133600" y="101600"/>
            <a:ext cx="6096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b="1">
                <a:solidFill>
                  <a:srgbClr val="0F172A"/>
                </a:solidFill>
              </a:rPr>
              <a:t>RISK MITIGATION MATRIX &amp; FEASIBILITY ANALYSIS</a:t>
            </a:r>
            <a:endParaRPr lang="en-IN" sz="1400" b="1">
              <a:solidFill>
                <a:srgbClr val="0F172A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BC7192-1BBB-9C83-BA93-4EDC070A8D2A}"/>
              </a:ext>
            </a:extLst>
          </p:cNvPr>
          <p:cNvSpPr/>
          <p:nvPr/>
        </p:nvSpPr>
        <p:spPr>
          <a:xfrm>
            <a:off x="8318500" y="114300"/>
            <a:ext cx="2667000" cy="38100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b="1">
                <a:solidFill>
                  <a:srgbClr val="0284C7"/>
                </a:solidFill>
              </a:rPr>
              <a:t>SIH26223 | FEASIBILITY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5A0755-7CB4-E94C-973B-5EB72A9970B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3600" y="76200"/>
            <a:ext cx="965200" cy="457200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634764A-028F-FA95-9017-BB68667C8928}"/>
              </a:ext>
            </a:extLst>
          </p:cNvPr>
          <p:cNvSpPr/>
          <p:nvPr/>
        </p:nvSpPr>
        <p:spPr>
          <a:xfrm>
            <a:off x="254000" y="736600"/>
            <a:ext cx="11684000" cy="889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3AAB0F6-28C3-5BC9-4F9E-EED06712391D}"/>
              </a:ext>
            </a:extLst>
          </p:cNvPr>
          <p:cNvSpPr/>
          <p:nvPr/>
        </p:nvSpPr>
        <p:spPr>
          <a:xfrm>
            <a:off x="381000" y="863600"/>
            <a:ext cx="4572000" cy="635000"/>
          </a:xfrm>
          <a:prstGeom prst="roundRect">
            <a:avLst/>
          </a:prstGeom>
          <a:solidFill>
            <a:srgbClr val="F2F2FE"/>
          </a:solidFill>
          <a:ln w="12700">
            <a:solidFill>
              <a:srgbClr val="A5A5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50" b="1">
                <a:solidFill>
                  <a:srgbClr val="DC2626"/>
                </a:solidFill>
              </a:rPr>
              <a:t>⚠️ CHALLENGE: Deep Rubble Signal Loss</a:t>
            </a:r>
          </a:p>
          <a:p>
            <a:pPr algn="ctr"/>
            <a:r>
              <a:rPr lang="en-US" sz="800">
                <a:solidFill>
                  <a:srgbClr val="475569"/>
                </a:solidFill>
              </a:rPr>
              <a:t>2.4GHz Wi-Fi drops through 2m concrete.</a:t>
            </a:r>
            <a:endParaRPr lang="en-IN" sz="800">
              <a:solidFill>
                <a:srgbClr val="475569"/>
              </a:solidFill>
            </a:endParaRPr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E6EA5D75-D581-1578-9FB5-D7CA5D1CF0A8}"/>
              </a:ext>
            </a:extLst>
          </p:cNvPr>
          <p:cNvSpPr/>
          <p:nvPr/>
        </p:nvSpPr>
        <p:spPr>
          <a:xfrm>
            <a:off x="5105400" y="1054100"/>
            <a:ext cx="254000" cy="203200"/>
          </a:xfrm>
          <a:prstGeom prst="can">
            <a:avLst/>
          </a:prstGeom>
          <a:solidFill>
            <a:srgbClr val="0596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EE2423A-2272-E2C6-6DCE-967ECC5DFC35}"/>
              </a:ext>
            </a:extLst>
          </p:cNvPr>
          <p:cNvSpPr/>
          <p:nvPr/>
        </p:nvSpPr>
        <p:spPr>
          <a:xfrm>
            <a:off x="5486400" y="863600"/>
            <a:ext cx="6286500" cy="63500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950" b="1">
                <a:solidFill>
                  <a:srgbClr val="0284C7"/>
                </a:solidFill>
              </a:rPr>
              <a:t>🛡️ ARIES ENGINEERING MITIGATION:</a:t>
            </a:r>
          </a:p>
          <a:p>
            <a:pPr algn="ctr"/>
            <a:r>
              <a:rPr lang="en-IN" sz="850">
                <a:solidFill>
                  <a:srgbClr val="1E3347"/>
                </a:solidFill>
              </a:rPr>
              <a:t>5 km Sub-GHz LoRa Mesh (868MHz) + SIM800L GSM SMS fallback.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DBA560F-3EA9-AB3B-E4F3-897A0B7F5DF9}"/>
              </a:ext>
            </a:extLst>
          </p:cNvPr>
          <p:cNvSpPr/>
          <p:nvPr/>
        </p:nvSpPr>
        <p:spPr>
          <a:xfrm>
            <a:off x="254000" y="1727200"/>
            <a:ext cx="11684000" cy="889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509520-81BA-D70C-5E0B-AE86AD7F0BB6}"/>
              </a:ext>
            </a:extLst>
          </p:cNvPr>
          <p:cNvSpPr/>
          <p:nvPr/>
        </p:nvSpPr>
        <p:spPr>
          <a:xfrm>
            <a:off x="381000" y="1854200"/>
            <a:ext cx="4572000" cy="635000"/>
          </a:xfrm>
          <a:prstGeom prst="roundRect">
            <a:avLst/>
          </a:prstGeom>
          <a:solidFill>
            <a:srgbClr val="F2F2FE"/>
          </a:solidFill>
          <a:ln w="12700">
            <a:solidFill>
              <a:srgbClr val="A5A5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50" b="1">
                <a:solidFill>
                  <a:srgbClr val="DC2626"/>
                </a:solidFill>
              </a:rPr>
              <a:t>⚠️ CHALLENGE: Cliffs &amp; Trench Trap</a:t>
            </a:r>
          </a:p>
          <a:p>
            <a:pPr algn="ctr"/>
            <a:r>
              <a:rPr lang="en-US" sz="800">
                <a:solidFill>
                  <a:srgbClr val="475569"/>
                </a:solidFill>
              </a:rPr>
              <a:t>Rover gets trapped in sudden drop-offs.</a:t>
            </a:r>
            <a:endParaRPr lang="en-IN" sz="800">
              <a:solidFill>
                <a:srgbClr val="475569"/>
              </a:solidFill>
            </a:endParaRPr>
          </a:p>
        </p:txBody>
      </p:sp>
      <p:sp>
        <p:nvSpPr>
          <p:cNvPr id="15" name="Cylinder 14">
            <a:extLst>
              <a:ext uri="{FF2B5EF4-FFF2-40B4-BE49-F238E27FC236}">
                <a16:creationId xmlns:a16="http://schemas.microsoft.com/office/drawing/2014/main" id="{663A4935-CFF9-C572-B587-CBAD52236C61}"/>
              </a:ext>
            </a:extLst>
          </p:cNvPr>
          <p:cNvSpPr/>
          <p:nvPr/>
        </p:nvSpPr>
        <p:spPr>
          <a:xfrm>
            <a:off x="5105400" y="2044700"/>
            <a:ext cx="254000" cy="203200"/>
          </a:xfrm>
          <a:prstGeom prst="can">
            <a:avLst/>
          </a:prstGeom>
          <a:solidFill>
            <a:srgbClr val="0596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737D5C7-95D6-B3B1-9223-FC81C443D933}"/>
              </a:ext>
            </a:extLst>
          </p:cNvPr>
          <p:cNvSpPr/>
          <p:nvPr/>
        </p:nvSpPr>
        <p:spPr>
          <a:xfrm>
            <a:off x="5486400" y="1854200"/>
            <a:ext cx="6286500" cy="635000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50" b="1">
                <a:solidFill>
                  <a:srgbClr val="EA580C"/>
                </a:solidFill>
              </a:rPr>
              <a:t>🛡️ ARIES ENGINEERING MITIGATION:</a:t>
            </a:r>
          </a:p>
          <a:p>
            <a:pPr algn="ctr"/>
            <a:r>
              <a:rPr lang="en-US" sz="850">
                <a:solidFill>
                  <a:srgbClr val="1E3347"/>
                </a:solidFill>
              </a:rPr>
              <a:t>Integrated 8-Rotor Octocopter automatically lifts chassis across.</a:t>
            </a:r>
            <a:endParaRPr lang="en-IN" sz="850">
              <a:solidFill>
                <a:srgbClr val="1E3347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4DB9A95-0121-89EA-EF8A-5BBDF1EBC6C3}"/>
              </a:ext>
            </a:extLst>
          </p:cNvPr>
          <p:cNvSpPr/>
          <p:nvPr/>
        </p:nvSpPr>
        <p:spPr>
          <a:xfrm>
            <a:off x="254000" y="2717800"/>
            <a:ext cx="11684000" cy="889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CF0E516-C89A-4C68-68DC-5FEAC2671ABA}"/>
              </a:ext>
            </a:extLst>
          </p:cNvPr>
          <p:cNvSpPr/>
          <p:nvPr/>
        </p:nvSpPr>
        <p:spPr>
          <a:xfrm>
            <a:off x="381000" y="2844800"/>
            <a:ext cx="4572000" cy="635000"/>
          </a:xfrm>
          <a:prstGeom prst="roundRect">
            <a:avLst/>
          </a:prstGeom>
          <a:solidFill>
            <a:srgbClr val="F2F2FE"/>
          </a:solidFill>
          <a:ln w="12700">
            <a:solidFill>
              <a:srgbClr val="A5A5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50" b="1">
                <a:solidFill>
                  <a:srgbClr val="DC2626"/>
                </a:solidFill>
              </a:rPr>
              <a:t>⚠️ CHALLENGE: 500°C Industrial Fire</a:t>
            </a:r>
          </a:p>
          <a:p>
            <a:pPr algn="ctr"/>
            <a:r>
              <a:rPr lang="en-US" sz="800">
                <a:solidFill>
                  <a:srgbClr val="475569"/>
                </a:solidFill>
              </a:rPr>
              <a:t>Extreme heat fries sensitive microcontrollers.</a:t>
            </a:r>
            <a:endParaRPr lang="en-IN" sz="800">
              <a:solidFill>
                <a:srgbClr val="475569"/>
              </a:solidFill>
            </a:endParaRPr>
          </a:p>
        </p:txBody>
      </p:sp>
      <p:sp>
        <p:nvSpPr>
          <p:cNvPr id="19" name="Cylinder 18">
            <a:extLst>
              <a:ext uri="{FF2B5EF4-FFF2-40B4-BE49-F238E27FC236}">
                <a16:creationId xmlns:a16="http://schemas.microsoft.com/office/drawing/2014/main" id="{12680A62-411E-C63D-BE6B-B48DF168E997}"/>
              </a:ext>
            </a:extLst>
          </p:cNvPr>
          <p:cNvSpPr/>
          <p:nvPr/>
        </p:nvSpPr>
        <p:spPr>
          <a:xfrm>
            <a:off x="5105400" y="3035300"/>
            <a:ext cx="254000" cy="203200"/>
          </a:xfrm>
          <a:prstGeom prst="can">
            <a:avLst/>
          </a:prstGeom>
          <a:solidFill>
            <a:srgbClr val="0596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2530AE8-59ED-73B0-12BD-356B85725FCD}"/>
              </a:ext>
            </a:extLst>
          </p:cNvPr>
          <p:cNvSpPr/>
          <p:nvPr/>
        </p:nvSpPr>
        <p:spPr>
          <a:xfrm>
            <a:off x="5486400" y="2844800"/>
            <a:ext cx="6286500" cy="6350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950" b="1">
                <a:solidFill>
                  <a:srgbClr val="DC2626"/>
                </a:solidFill>
              </a:rPr>
              <a:t>🛡️ ARIES ENGINEERING MITIGATION:</a:t>
            </a:r>
          </a:p>
          <a:p>
            <a:pPr algn="ctr"/>
            <a:r>
              <a:rPr lang="en-IN" sz="850">
                <a:solidFill>
                  <a:srgbClr val="1E3347"/>
                </a:solidFill>
              </a:rPr>
              <a:t>Silica Aerogel Heat Shield (1000°C block) + Nitrogen cold purge.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CCE21BE-1358-FF39-FBFC-D5750E7C74B8}"/>
              </a:ext>
            </a:extLst>
          </p:cNvPr>
          <p:cNvSpPr/>
          <p:nvPr/>
        </p:nvSpPr>
        <p:spPr>
          <a:xfrm>
            <a:off x="254000" y="3708400"/>
            <a:ext cx="11684000" cy="889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C077B59-662E-5A27-DA34-E8E5072E3BB4}"/>
              </a:ext>
            </a:extLst>
          </p:cNvPr>
          <p:cNvSpPr/>
          <p:nvPr/>
        </p:nvSpPr>
        <p:spPr>
          <a:xfrm>
            <a:off x="381000" y="3835400"/>
            <a:ext cx="4572000" cy="635000"/>
          </a:xfrm>
          <a:prstGeom prst="roundRect">
            <a:avLst/>
          </a:prstGeom>
          <a:solidFill>
            <a:srgbClr val="F2F2FE"/>
          </a:solidFill>
          <a:ln w="12700">
            <a:solidFill>
              <a:srgbClr val="A5A5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950" b="1">
                <a:solidFill>
                  <a:srgbClr val="DC2626"/>
                </a:solidFill>
              </a:rPr>
              <a:t>⚠️ CHALLENGE: False Alarms &amp; Blind Entry</a:t>
            </a:r>
          </a:p>
          <a:p>
            <a:pPr algn="ctr"/>
            <a:r>
              <a:rPr lang="en-IN" sz="800">
                <a:solidFill>
                  <a:srgbClr val="475569"/>
                </a:solidFill>
              </a:rPr>
              <a:t>Embers/pipes flag false human heat; rescuers blind.</a:t>
            </a:r>
          </a:p>
        </p:txBody>
      </p:sp>
      <p:sp>
        <p:nvSpPr>
          <p:cNvPr id="23" name="Cylinder 22">
            <a:extLst>
              <a:ext uri="{FF2B5EF4-FFF2-40B4-BE49-F238E27FC236}">
                <a16:creationId xmlns:a16="http://schemas.microsoft.com/office/drawing/2014/main" id="{91CB2F28-C8FD-0E08-3367-11B67D6E57BD}"/>
              </a:ext>
            </a:extLst>
          </p:cNvPr>
          <p:cNvSpPr/>
          <p:nvPr/>
        </p:nvSpPr>
        <p:spPr>
          <a:xfrm>
            <a:off x="5105400" y="4025900"/>
            <a:ext cx="254000" cy="203200"/>
          </a:xfrm>
          <a:prstGeom prst="can">
            <a:avLst/>
          </a:prstGeom>
          <a:solidFill>
            <a:srgbClr val="0596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6DF1E37-C3F5-9958-6940-794887F59B62}"/>
              </a:ext>
            </a:extLst>
          </p:cNvPr>
          <p:cNvSpPr/>
          <p:nvPr/>
        </p:nvSpPr>
        <p:spPr>
          <a:xfrm>
            <a:off x="5486400" y="3835400"/>
            <a:ext cx="6286500" cy="635000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7C3A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50" b="1">
                <a:solidFill>
                  <a:srgbClr val="7C3AED"/>
                </a:solidFill>
              </a:rPr>
              <a:t>🛡️ ARIES ENGINEERING MITIGATION:</a:t>
            </a:r>
          </a:p>
          <a:p>
            <a:pPr algn="ctr"/>
            <a:r>
              <a:rPr lang="en-US" sz="850">
                <a:solidFill>
                  <a:srgbClr val="1E3347"/>
                </a:solidFill>
              </a:rPr>
              <a:t>MAX30102 SpO2 &amp; pulse check + 3D Tactical Extraction Blueprint.</a:t>
            </a:r>
            <a:endParaRPr lang="en-IN" sz="850">
              <a:solidFill>
                <a:srgbClr val="1E3347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7FA68BD-0F6A-824C-3D8F-F3A57B5083BB}"/>
              </a:ext>
            </a:extLst>
          </p:cNvPr>
          <p:cNvSpPr/>
          <p:nvPr/>
        </p:nvSpPr>
        <p:spPr>
          <a:xfrm>
            <a:off x="254000" y="4826000"/>
            <a:ext cx="5715000" cy="120650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b="1">
                <a:solidFill>
                  <a:srgbClr val="D97706"/>
                </a:solidFill>
              </a:rPr>
              <a:t>💰 ECONOMIC VIABILITY &amp; 10x COST ADVANTAGE:</a:t>
            </a:r>
          </a:p>
          <a:p>
            <a:pPr algn="ctr"/>
            <a:r>
              <a:rPr lang="en-IN" sz="850">
                <a:solidFill>
                  <a:srgbClr val="1E3347"/>
                </a:solidFill>
              </a:rPr>
              <a:t>• Commercial target under ₹50,000 INR vs ₹25-40 Lakhs imported military robots.</a:t>
            </a:r>
          </a:p>
          <a:p>
            <a:pPr algn="ctr"/>
            <a:r>
              <a:rPr lang="en-IN" sz="850">
                <a:solidFill>
                  <a:srgbClr val="1E3347"/>
                </a:solidFill>
              </a:rPr>
              <a:t>• Built on modular COTS hardware, eliminating expensive overseas maintenance.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379B5D8-7388-C7D3-1BE1-1B853418A9FE}"/>
              </a:ext>
            </a:extLst>
          </p:cNvPr>
          <p:cNvSpPr/>
          <p:nvPr/>
        </p:nvSpPr>
        <p:spPr>
          <a:xfrm>
            <a:off x="6223000" y="4826000"/>
            <a:ext cx="5715000" cy="120650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0284C7"/>
                </a:solidFill>
              </a:rPr>
              <a:t>🔬 WORKING PROOF OF CONCEPT (PoC) VALIDATION:</a:t>
            </a:r>
          </a:p>
          <a:p>
            <a:pPr algn="ctr"/>
            <a:r>
              <a:rPr lang="en-US" sz="850">
                <a:solidFill>
                  <a:srgbClr val="1E3347"/>
                </a:solidFill>
              </a:rPr>
              <a:t>• Scaled prototype validated on dual-microcontrollers with L293D shield.</a:t>
            </a:r>
          </a:p>
          <a:p>
            <a:pPr algn="ctr"/>
            <a:r>
              <a:rPr lang="en-US" sz="850">
                <a:solidFill>
                  <a:srgbClr val="1E3347"/>
                </a:solidFill>
              </a:rPr>
              <a:t>• Tested with live gas telemetry, sonar auto-stop, OLED display &amp; Web Serial Hub.</a:t>
            </a:r>
            <a:endParaRPr lang="en-IN" sz="850">
              <a:solidFill>
                <a:srgbClr val="1E3347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22099E-E256-E89E-F027-B4DDC118A854}"/>
              </a:ext>
            </a:extLst>
          </p:cNvPr>
          <p:cNvSpPr/>
          <p:nvPr/>
        </p:nvSpPr>
        <p:spPr>
          <a:xfrm>
            <a:off x="0" y="6159500"/>
            <a:ext cx="12192000" cy="69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8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AED1EA-F808-7AC4-8528-DD43824B7606}"/>
              </a:ext>
            </a:extLst>
          </p:cNvPr>
          <p:cNvSpPr txBox="1"/>
          <p:nvPr/>
        </p:nvSpPr>
        <p:spPr>
          <a:xfrm>
            <a:off x="254000" y="6248400"/>
            <a:ext cx="1168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</a:rPr>
              <a:t>Zero False-Alarm Architecture: Two-tier validation combines physiological SpO2 pulse verification with Incident Commander HUD confirmation.</a:t>
            </a:r>
            <a:endParaRPr lang="en-IN" sz="1000" b="1">
              <a:solidFill>
                <a:srgbClr val="0F172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332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B000028-9567-9C27-C29D-B3FE2C122D4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72B947-C8C3-5EE4-9980-A73CD53A554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8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AEA2B46-AFA0-B3DD-A22E-0DF6B47F654C}"/>
              </a:ext>
            </a:extLst>
          </p:cNvPr>
          <p:cNvSpPr/>
          <p:nvPr/>
        </p:nvSpPr>
        <p:spPr>
          <a:xfrm>
            <a:off x="254000" y="114300"/>
            <a:ext cx="1778000" cy="381000"/>
          </a:xfrm>
          <a:prstGeom prst="round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150" b="1">
                <a:solidFill>
                  <a:srgbClr val="FFFFFF"/>
                </a:solidFill>
              </a:rPr>
              <a:t>ALPHA-X | SIH_1186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2B272A-C59E-032B-B36D-D8EE3630F923}"/>
              </a:ext>
            </a:extLst>
          </p:cNvPr>
          <p:cNvSpPr txBox="1"/>
          <p:nvPr/>
        </p:nvSpPr>
        <p:spPr>
          <a:xfrm>
            <a:off x="2133600" y="101600"/>
            <a:ext cx="6096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0F172A"/>
                </a:solidFill>
              </a:rPr>
              <a:t>MULTI-DIMENSIONAL IMPACT &amp; TARGET BENEFICIARIES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04FE68B-3966-FE5A-BF82-5CDAAC44887A}"/>
              </a:ext>
            </a:extLst>
          </p:cNvPr>
          <p:cNvSpPr/>
          <p:nvPr/>
        </p:nvSpPr>
        <p:spPr>
          <a:xfrm>
            <a:off x="8318500" y="114300"/>
            <a:ext cx="2667000" cy="38100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b="1">
                <a:solidFill>
                  <a:srgbClr val="0284C7"/>
                </a:solidFill>
              </a:rPr>
              <a:t>SIH26223 | NATIONAL IMPACT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BCFF95-9A2E-7346-28DD-D66AA406FCD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3600" y="76200"/>
            <a:ext cx="965200" cy="457200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297A401-89C6-FDEC-793D-B7AC0BED86ED}"/>
              </a:ext>
            </a:extLst>
          </p:cNvPr>
          <p:cNvSpPr/>
          <p:nvPr/>
        </p:nvSpPr>
        <p:spPr>
          <a:xfrm>
            <a:off x="254000" y="736600"/>
            <a:ext cx="6096000" cy="119380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E11D4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8D6279-246B-561D-8632-43BC70CD935A}"/>
              </a:ext>
            </a:extLst>
          </p:cNvPr>
          <p:cNvSpPr txBox="1"/>
          <p:nvPr/>
        </p:nvSpPr>
        <p:spPr>
          <a:xfrm>
            <a:off x="355600" y="787400"/>
            <a:ext cx="5892800" cy="6617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50" b="1">
                <a:solidFill>
                  <a:srgbClr val="E11D48"/>
                </a:solidFill>
              </a:rPr>
              <a:t>❤️ Social &amp; Life-Saving</a:t>
            </a:r>
          </a:p>
          <a:p>
            <a:r>
              <a:rPr lang="en-IN" sz="850">
                <a:solidFill>
                  <a:srgbClr val="1E3347"/>
                </a:solidFill>
              </a:rPr>
              <a:t>• Zero First-Responder Loss: Eliminates sniffer dog &amp; rescuer hazards.</a:t>
            </a:r>
          </a:p>
          <a:p>
            <a:r>
              <a:rPr lang="en-IN" sz="850">
                <a:solidFill>
                  <a:srgbClr val="1E3347"/>
                </a:solidFill>
              </a:rPr>
              <a:t>• Golden Hour Acceleration: Spots trapped survivors in minutes via thermal vision.</a:t>
            </a:r>
          </a:p>
          <a:p>
            <a:r>
              <a:rPr lang="en-IN" sz="850">
                <a:solidFill>
                  <a:srgbClr val="1E3347"/>
                </a:solidFill>
              </a:rPr>
              <a:t>• Pre-Staged Medical Triage: Medics receive SpO2 &amp; pulse before physical entry.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46C3F12-C936-CA98-1AB6-9BE31FC00160}"/>
              </a:ext>
            </a:extLst>
          </p:cNvPr>
          <p:cNvSpPr/>
          <p:nvPr/>
        </p:nvSpPr>
        <p:spPr>
          <a:xfrm>
            <a:off x="254000" y="2032000"/>
            <a:ext cx="6096000" cy="119380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845202-25E8-5704-A11E-CC1C2AB4D460}"/>
              </a:ext>
            </a:extLst>
          </p:cNvPr>
          <p:cNvSpPr txBox="1"/>
          <p:nvPr/>
        </p:nvSpPr>
        <p:spPr>
          <a:xfrm>
            <a:off x="355600" y="2082800"/>
            <a:ext cx="5892800" cy="6617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50" b="1">
                <a:solidFill>
                  <a:srgbClr val="D97706"/>
                </a:solidFill>
              </a:rPr>
              <a:t>💰 Economic Democratization</a:t>
            </a:r>
          </a:p>
          <a:p>
            <a:r>
              <a:rPr lang="en-IN" sz="850">
                <a:solidFill>
                  <a:srgbClr val="1E3347"/>
                </a:solidFill>
              </a:rPr>
              <a:t>• 10x-20x Cost Reduction: Under ₹50,000 INR vs ₹25-40 Lakhs imported robots.</a:t>
            </a:r>
          </a:p>
          <a:p>
            <a:r>
              <a:rPr lang="en-IN" sz="850">
                <a:solidFill>
                  <a:srgbClr val="1E3347"/>
                </a:solidFill>
              </a:rPr>
              <a:t>• COTS Modular Maintenance: Standard parts, zero foreign service lock-in.</a:t>
            </a:r>
          </a:p>
          <a:p>
            <a:r>
              <a:rPr lang="en-IN" sz="850">
                <a:solidFill>
                  <a:srgbClr val="1E3347"/>
                </a:solidFill>
              </a:rPr>
              <a:t>• Scalable Pan-India Outreach: Affordable for every municipal fire station.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897CF09-2489-320C-1B2D-043A942CF065}"/>
              </a:ext>
            </a:extLst>
          </p:cNvPr>
          <p:cNvSpPr/>
          <p:nvPr/>
        </p:nvSpPr>
        <p:spPr>
          <a:xfrm>
            <a:off x="254000" y="3327400"/>
            <a:ext cx="6096000" cy="11938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0E44B1-053F-D60B-3EB2-F37BF2F39648}"/>
              </a:ext>
            </a:extLst>
          </p:cNvPr>
          <p:cNvSpPr txBox="1"/>
          <p:nvPr/>
        </p:nvSpPr>
        <p:spPr>
          <a:xfrm>
            <a:off x="355600" y="3378200"/>
            <a:ext cx="5892800" cy="6617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50" b="1">
                <a:solidFill>
                  <a:srgbClr val="059669"/>
                </a:solidFill>
              </a:rPr>
              <a:t>🌱 Environmental &amp; Mine Safety</a:t>
            </a:r>
          </a:p>
          <a:p>
            <a:r>
              <a:rPr lang="en-IN" sz="850">
                <a:solidFill>
                  <a:srgbClr val="1E3347"/>
                </a:solidFill>
              </a:rPr>
              <a:t>• Real-Time Hazard Containment: MQ-135 tracks gas diffusion before civilian impact.</a:t>
            </a:r>
          </a:p>
          <a:p>
            <a:r>
              <a:rPr lang="en-IN" sz="850">
                <a:solidFill>
                  <a:srgbClr val="1E3347"/>
                </a:solidFill>
              </a:rPr>
              <a:t>• Zero-Emission Electric Locomotion: Safe in combustible &amp; low-oxygen shafts.</a:t>
            </a:r>
          </a:p>
          <a:p>
            <a:r>
              <a:rPr lang="en-IN" sz="850">
                <a:solidFill>
                  <a:srgbClr val="1E3347"/>
                </a:solidFill>
              </a:rPr>
              <a:t>• Deep Underground Recon: Safe for subterranean tunnels and coal mines.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03A2C86-2A95-5D5B-FC8C-D6847519D64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0500" y="736600"/>
            <a:ext cx="5397500" cy="3810000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EF2AFE5-C9E5-51B6-48B1-D330A75BE3DA}"/>
              </a:ext>
            </a:extLst>
          </p:cNvPr>
          <p:cNvSpPr/>
          <p:nvPr/>
        </p:nvSpPr>
        <p:spPr>
          <a:xfrm>
            <a:off x="254000" y="4699000"/>
            <a:ext cx="2819400" cy="133350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>
                <a:solidFill>
                  <a:srgbClr val="0284C7"/>
                </a:solidFill>
              </a:rPr>
              <a:t>🏛️ NDRF &amp; State SDRF</a:t>
            </a:r>
          </a:p>
          <a:p>
            <a:pPr algn="ctr"/>
            <a:r>
              <a:rPr lang="en-US" sz="850">
                <a:solidFill>
                  <a:srgbClr val="1E3347"/>
                </a:solidFill>
              </a:rPr>
              <a:t>Earthquake &amp; building collapses</a:t>
            </a:r>
            <a:endParaRPr lang="en-IN" sz="850">
              <a:solidFill>
                <a:srgbClr val="1E3347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FEDB085-7A41-3348-53F3-3BFDCF70A1D5}"/>
              </a:ext>
            </a:extLst>
          </p:cNvPr>
          <p:cNvSpPr/>
          <p:nvPr/>
        </p:nvSpPr>
        <p:spPr>
          <a:xfrm>
            <a:off x="3200400" y="4699000"/>
            <a:ext cx="2819400" cy="13335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>
                <a:solidFill>
                  <a:srgbClr val="DC2626"/>
                </a:solidFill>
              </a:rPr>
              <a:t>🚒 Fire &amp; Emergency</a:t>
            </a:r>
          </a:p>
          <a:p>
            <a:pPr algn="ctr"/>
            <a:r>
              <a:rPr lang="en-US" sz="850">
                <a:solidFill>
                  <a:srgbClr val="1E3347"/>
                </a:solidFill>
              </a:rPr>
              <a:t>Basement fires &amp; chemical leaks</a:t>
            </a:r>
            <a:endParaRPr lang="en-IN" sz="850">
              <a:solidFill>
                <a:srgbClr val="1E3347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CB3D0BE-6B3C-84E3-967A-EC06D554CBC8}"/>
              </a:ext>
            </a:extLst>
          </p:cNvPr>
          <p:cNvSpPr/>
          <p:nvPr/>
        </p:nvSpPr>
        <p:spPr>
          <a:xfrm>
            <a:off x="6146800" y="4699000"/>
            <a:ext cx="2819400" cy="133350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>
                <a:solidFill>
                  <a:srgbClr val="D97706"/>
                </a:solidFill>
              </a:rPr>
              <a:t>⛏️ Mining Authorities</a:t>
            </a:r>
          </a:p>
          <a:p>
            <a:pPr algn="ctr"/>
            <a:r>
              <a:rPr lang="en-US" sz="850">
                <a:solidFill>
                  <a:srgbClr val="1E3347"/>
                </a:solidFill>
              </a:rPr>
              <a:t>Deep coal mine &amp; tunnel collapse</a:t>
            </a:r>
            <a:endParaRPr lang="en-IN" sz="850">
              <a:solidFill>
                <a:srgbClr val="1E3347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D726934-4752-3C2C-A1A4-C5C125743BE4}"/>
              </a:ext>
            </a:extLst>
          </p:cNvPr>
          <p:cNvSpPr/>
          <p:nvPr/>
        </p:nvSpPr>
        <p:spPr>
          <a:xfrm>
            <a:off x="9093200" y="4699000"/>
            <a:ext cx="2819400" cy="133350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C3A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>
                <a:solidFill>
                  <a:srgbClr val="7C3AED"/>
                </a:solidFill>
              </a:rPr>
              <a:t>🏭 Industrial Plants</a:t>
            </a:r>
          </a:p>
          <a:p>
            <a:pPr algn="ctr"/>
            <a:r>
              <a:rPr lang="en-IN" sz="850">
                <a:solidFill>
                  <a:srgbClr val="1E3347"/>
                </a:solidFill>
              </a:rPr>
              <a:t>Hazardous industrial plant scouts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0CE386-2348-1837-827C-35E494062E95}"/>
              </a:ext>
            </a:extLst>
          </p:cNvPr>
          <p:cNvSpPr/>
          <p:nvPr/>
        </p:nvSpPr>
        <p:spPr>
          <a:xfrm>
            <a:off x="0" y="6159500"/>
            <a:ext cx="12192000" cy="69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8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886A8A-F672-11DF-D030-748B59661A60}"/>
              </a:ext>
            </a:extLst>
          </p:cNvPr>
          <p:cNvSpPr txBox="1"/>
          <p:nvPr/>
        </p:nvSpPr>
        <p:spPr>
          <a:xfrm>
            <a:off x="254000" y="6248400"/>
            <a:ext cx="1168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</a:rPr>
              <a:t>Humanitarian Impact: Aligned with National Disaster Management Plan (NDMP) benchmarks to save lives during critical Golden Hour extractions.</a:t>
            </a:r>
            <a:endParaRPr lang="en-IN" sz="1000" b="1">
              <a:solidFill>
                <a:srgbClr val="0F172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7329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DC5344-BE9F-9FD4-C49D-04C2920C2AD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6D3F2F-DCA7-2942-8031-92C4931D356A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8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194B7A8-F91E-A828-D178-73AC6847FE84}"/>
              </a:ext>
            </a:extLst>
          </p:cNvPr>
          <p:cNvSpPr/>
          <p:nvPr/>
        </p:nvSpPr>
        <p:spPr>
          <a:xfrm>
            <a:off x="254000" y="114300"/>
            <a:ext cx="1778000" cy="381000"/>
          </a:xfrm>
          <a:prstGeom prst="round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150" b="1">
                <a:solidFill>
                  <a:srgbClr val="FFFFFF"/>
                </a:solidFill>
              </a:rPr>
              <a:t>ALPHA-X | SIH_1186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5748B4-7AE4-00F9-E477-F7FE2AC8AB1E}"/>
              </a:ext>
            </a:extLst>
          </p:cNvPr>
          <p:cNvSpPr txBox="1"/>
          <p:nvPr/>
        </p:nvSpPr>
        <p:spPr>
          <a:xfrm>
            <a:off x="2133600" y="101600"/>
            <a:ext cx="6096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b="1">
                <a:solidFill>
                  <a:srgbClr val="0F172A"/>
                </a:solidFill>
              </a:rPr>
              <a:t>BILL OF MATERIALS, NATIONAL STANDARDS &amp; REPO</a:t>
            </a:r>
            <a:endParaRPr lang="en-IN" sz="1400" b="1">
              <a:solidFill>
                <a:srgbClr val="0F172A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A3B905D-A3C8-546B-9BEB-0852E146AEC7}"/>
              </a:ext>
            </a:extLst>
          </p:cNvPr>
          <p:cNvSpPr/>
          <p:nvPr/>
        </p:nvSpPr>
        <p:spPr>
          <a:xfrm>
            <a:off x="8318500" y="114300"/>
            <a:ext cx="2667000" cy="38100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b="1">
                <a:solidFill>
                  <a:srgbClr val="0284C7"/>
                </a:solidFill>
              </a:rPr>
              <a:t>SIH26223 | STANDARDS &amp; REPO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6CB183-07CC-AA54-284D-587F969C0CD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3600" y="76200"/>
            <a:ext cx="965200" cy="457200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8D0E093-E8F8-5DF0-D6BF-9CE1CE5BCD85}"/>
              </a:ext>
            </a:extLst>
          </p:cNvPr>
          <p:cNvSpPr/>
          <p:nvPr/>
        </p:nvSpPr>
        <p:spPr>
          <a:xfrm>
            <a:off x="254000" y="711200"/>
            <a:ext cx="5715000" cy="2006600"/>
          </a:xfrm>
          <a:prstGeom prst="roundRect">
            <a:avLst/>
          </a:prstGeom>
          <a:solidFill>
            <a:srgbClr val="FFFBEB"/>
          </a:solidFill>
          <a:ln w="2286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21499-136C-0D80-CDD3-20B94DC0D7A6}"/>
              </a:ext>
            </a:extLst>
          </p:cNvPr>
          <p:cNvSpPr txBox="1"/>
          <p:nvPr/>
        </p:nvSpPr>
        <p:spPr>
          <a:xfrm>
            <a:off x="406400" y="787400"/>
            <a:ext cx="5410200" cy="79252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50" b="1">
                <a:solidFill>
                  <a:srgbClr val="D97706"/>
                </a:solidFill>
              </a:rPr>
              <a:t>💰 Bill of Materials &amp; Cost Disruption</a:t>
            </a:r>
          </a:p>
          <a:p>
            <a:r>
              <a:rPr lang="en-IN" sz="850">
                <a:solidFill>
                  <a:srgbClr val="1E3347"/>
                </a:solidFill>
              </a:rPr>
              <a:t>• Basic Working Prototype (Table Model): Under ₹8,000 INR.</a:t>
            </a:r>
          </a:p>
          <a:p>
            <a:r>
              <a:rPr lang="en-IN" sz="850">
                <a:solidFill>
                  <a:srgbClr val="1E3347"/>
                </a:solidFill>
              </a:rPr>
              <a:t>• ARIES 2.0 Enterprise Tri-Phibian Model: Under ₹50,000 INR.</a:t>
            </a:r>
          </a:p>
          <a:p>
            <a:r>
              <a:rPr lang="en-IN" sz="850">
                <a:solidFill>
                  <a:srgbClr val="1E3347"/>
                </a:solidFill>
              </a:rPr>
              <a:t>• Imported Military Competitors: ₹25,00,000 to ₹40,00,000 INR.</a:t>
            </a:r>
          </a:p>
          <a:p>
            <a:r>
              <a:rPr lang="en-IN" sz="850">
                <a:solidFill>
                  <a:srgbClr val="1E3347"/>
                </a:solidFill>
              </a:rPr>
              <a:t>• Result: 10x to 40x Unprecedented Cost Democratization!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A629932-754B-6C64-B4CC-73B3D86532BC}"/>
              </a:ext>
            </a:extLst>
          </p:cNvPr>
          <p:cNvSpPr/>
          <p:nvPr/>
        </p:nvSpPr>
        <p:spPr>
          <a:xfrm>
            <a:off x="6223000" y="711200"/>
            <a:ext cx="5715000" cy="2006600"/>
          </a:xfrm>
          <a:prstGeom prst="roundRect">
            <a:avLst/>
          </a:prstGeom>
          <a:solidFill>
            <a:srgbClr val="F0F9FF"/>
          </a:solidFill>
          <a:ln w="22860">
            <a:solidFill>
              <a:srgbClr val="0284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D9E380-98CA-F9AC-1160-437BF2C1AC96}"/>
              </a:ext>
            </a:extLst>
          </p:cNvPr>
          <p:cNvSpPr txBox="1"/>
          <p:nvPr/>
        </p:nvSpPr>
        <p:spPr>
          <a:xfrm>
            <a:off x="6375400" y="787400"/>
            <a:ext cx="5410200" cy="79252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50" b="1">
                <a:solidFill>
                  <a:srgbClr val="0284C7"/>
                </a:solidFill>
              </a:rPr>
              <a:t>🏛️ National Guidelines (Govt. of India)</a:t>
            </a:r>
          </a:p>
          <a:p>
            <a:r>
              <a:rPr lang="en-IN" sz="850">
                <a:solidFill>
                  <a:srgbClr val="1E3347"/>
                </a:solidFill>
              </a:rPr>
              <a:t>• NDMA Guidelines on Urban Search &amp; Rescue (USAR) Equipment Standards.</a:t>
            </a:r>
          </a:p>
          <a:p>
            <a:r>
              <a:rPr lang="en-IN" sz="850">
                <a:solidFill>
                  <a:srgbClr val="1E3347"/>
                </a:solidFill>
              </a:rPr>
              <a:t>• NDRF Standard Operating Procedures (SOP) for Confined Space Hazards.</a:t>
            </a:r>
          </a:p>
          <a:p>
            <a:r>
              <a:rPr lang="en-IN" sz="850">
                <a:solidFill>
                  <a:srgbClr val="1E3347"/>
                </a:solidFill>
              </a:rPr>
              <a:t>• Aligned with National Disaster Management Plan (NDMP 2019).</a:t>
            </a:r>
          </a:p>
          <a:p>
            <a:r>
              <a:rPr lang="en-IN" sz="850">
                <a:solidFill>
                  <a:srgbClr val="1E3347"/>
                </a:solidFill>
              </a:rPr>
              <a:t>• Hazardous gas threshold compliance (MQ/PID Standards).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D2DE0CB-4046-87CE-3099-8AEA7058A401}"/>
              </a:ext>
            </a:extLst>
          </p:cNvPr>
          <p:cNvSpPr/>
          <p:nvPr/>
        </p:nvSpPr>
        <p:spPr>
          <a:xfrm>
            <a:off x="254000" y="2870200"/>
            <a:ext cx="5715000" cy="2006600"/>
          </a:xfrm>
          <a:prstGeom prst="roundRect">
            <a:avLst/>
          </a:prstGeom>
          <a:solidFill>
            <a:srgbClr val="F5F3FF"/>
          </a:solidFill>
          <a:ln w="22860">
            <a:solidFill>
              <a:srgbClr val="7C3A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AA07B3-BD4B-D8AE-17F3-F138FAF0959F}"/>
              </a:ext>
            </a:extLst>
          </p:cNvPr>
          <p:cNvSpPr txBox="1"/>
          <p:nvPr/>
        </p:nvSpPr>
        <p:spPr>
          <a:xfrm>
            <a:off x="406400" y="2946400"/>
            <a:ext cx="5410200" cy="79252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50" b="1">
                <a:solidFill>
                  <a:srgbClr val="7C3AED"/>
                </a:solidFill>
              </a:rPr>
              <a:t>📚 Academic USAR Robotics Literature</a:t>
            </a:r>
          </a:p>
          <a:p>
            <a:r>
              <a:rPr lang="en-IN" sz="850">
                <a:solidFill>
                  <a:srgbClr val="1E3347"/>
                </a:solidFill>
              </a:rPr>
              <a:t>• Murphy, R. R. (2014) Disaster Robotics, MIT Press / IEEE Transactions.</a:t>
            </a:r>
          </a:p>
          <a:p>
            <a:r>
              <a:rPr lang="en-IN" sz="850">
                <a:solidFill>
                  <a:srgbClr val="1E3347"/>
                </a:solidFill>
              </a:rPr>
              <a:t>• Kumar &amp; Sharma (2022) IoT USAR Ground Vehicles, IEEE Xplore / ICRA.</a:t>
            </a:r>
          </a:p>
          <a:p>
            <a:r>
              <a:rPr lang="en-IN" sz="850">
                <a:solidFill>
                  <a:srgbClr val="1E3347"/>
                </a:solidFill>
              </a:rPr>
              <a:t>• IEEE IoT Journal: Sub-GHz Wireless Mesh for Deep-Rubble Disaster Telemetry.</a:t>
            </a:r>
          </a:p>
          <a:p>
            <a:r>
              <a:rPr lang="en-IN" sz="850">
                <a:solidFill>
                  <a:srgbClr val="1E3347"/>
                </a:solidFill>
              </a:rPr>
              <a:t>• Journal of Field Robotics: Multi-Spectral Thermal Fusion in Fire Zones.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692EF52-4A42-2391-D73C-15FA3C9F608A}"/>
              </a:ext>
            </a:extLst>
          </p:cNvPr>
          <p:cNvSpPr/>
          <p:nvPr/>
        </p:nvSpPr>
        <p:spPr>
          <a:xfrm>
            <a:off x="6223000" y="2870200"/>
            <a:ext cx="5715000" cy="2006600"/>
          </a:xfrm>
          <a:prstGeom prst="roundRect">
            <a:avLst/>
          </a:prstGeom>
          <a:solidFill>
            <a:srgbClr val="ECFDF5"/>
          </a:solidFill>
          <a:ln w="22860">
            <a:solidFill>
              <a:srgbClr val="0596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06FCC4-D59F-95F3-CCFE-957D52D4B2BA}"/>
              </a:ext>
            </a:extLst>
          </p:cNvPr>
          <p:cNvSpPr txBox="1"/>
          <p:nvPr/>
        </p:nvSpPr>
        <p:spPr>
          <a:xfrm>
            <a:off x="6375400" y="2946400"/>
            <a:ext cx="5410200" cy="79252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50" b="1">
                <a:solidFill>
                  <a:srgbClr val="059669"/>
                </a:solidFill>
              </a:rPr>
              <a:t>💻 Open-Source Repositories &amp; Live Hubs</a:t>
            </a:r>
          </a:p>
          <a:p>
            <a:r>
              <a:rPr lang="en-IN" sz="850">
                <a:solidFill>
                  <a:srgbClr val="1E3347"/>
                </a:solidFill>
              </a:rPr>
              <a:t>• GitHub Repo: github.com/harshitsharma120109-web/ARIES-Search-Rescue-Rover</a:t>
            </a:r>
          </a:p>
          <a:p>
            <a:r>
              <a:rPr lang="en-IN" sz="850">
                <a:solidFill>
                  <a:srgbClr val="1E3347"/>
                </a:solidFill>
              </a:rPr>
              <a:t>• Live Web Mission Hub: melodic-halva-b0fa56.netlify.app</a:t>
            </a:r>
          </a:p>
          <a:p>
            <a:r>
              <a:rPr lang="en-IN" sz="850">
                <a:solidFill>
                  <a:srgbClr val="1E3347"/>
                </a:solidFill>
              </a:rPr>
              <a:t>• Full Dual-MCU Firmware, Schematics &amp; Web Serial telemetry open-sourced.</a:t>
            </a:r>
          </a:p>
          <a:p>
            <a:r>
              <a:rPr lang="en-IN" sz="850">
                <a:solidFill>
                  <a:srgbClr val="1E3347"/>
                </a:solidFill>
              </a:rPr>
              <a:t>• Validated on functional scaled embedded prototype.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953360F-BEFD-D2CC-25C6-D4A3CCA89682}"/>
              </a:ext>
            </a:extLst>
          </p:cNvPr>
          <p:cNvSpPr/>
          <p:nvPr/>
        </p:nvSpPr>
        <p:spPr>
          <a:xfrm>
            <a:off x="254000" y="5130800"/>
            <a:ext cx="11684000" cy="914400"/>
          </a:xfrm>
          <a:prstGeom prst="roundRect">
            <a:avLst/>
          </a:prstGeom>
          <a:solidFill>
            <a:srgbClr val="FFF7ED"/>
          </a:solidFill>
          <a:ln w="2286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7EA0AF-4578-8111-DEBA-7E4168BE42E6}"/>
              </a:ext>
            </a:extLst>
          </p:cNvPr>
          <p:cNvSpPr txBox="1"/>
          <p:nvPr/>
        </p:nvSpPr>
        <p:spPr>
          <a:xfrm>
            <a:off x="330200" y="5156200"/>
            <a:ext cx="115316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50" b="1">
                <a:solidFill>
                  <a:srgbClr val="EA580C"/>
                </a:solidFill>
              </a:rPr>
              <a:t>OFFICIAL PROJECT REPOSITORY &amp; LIVE WEB MISSION HUB:</a:t>
            </a:r>
          </a:p>
          <a:p>
            <a:r>
              <a:rPr lang="en-US" sz="850">
                <a:solidFill>
                  <a:srgbClr val="0F172A"/>
                </a:solidFill>
              </a:rPr>
              <a:t>• GitHub: https://github.com/harshitsharma120109-web/ARIES-Search-Rescue-Rover  |  Live Hub: https://melodic-halva-b0fa56.netlify.app/</a:t>
            </a:r>
          </a:p>
          <a:p>
            <a:r>
              <a:rPr lang="en-US" sz="1100" b="1">
                <a:solidFill>
                  <a:srgbClr val="EA580C"/>
                </a:solidFill>
              </a:rPr>
              <a:t>'WE DON'T JUST BUILD ROBOTS, WE BUILD HOPE.' — Team ALPHA-X (SIH_1186)</a:t>
            </a:r>
            <a:endParaRPr lang="en-IN" sz="1100" b="1">
              <a:solidFill>
                <a:srgbClr val="EA580C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60A833E-4620-BBE4-637D-8FBA8287FF49}"/>
              </a:ext>
            </a:extLst>
          </p:cNvPr>
          <p:cNvSpPr/>
          <p:nvPr/>
        </p:nvSpPr>
        <p:spPr>
          <a:xfrm>
            <a:off x="0" y="6159500"/>
            <a:ext cx="12192000" cy="69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8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70D525-0EFF-12B6-B9BF-894F123F29AA}"/>
              </a:ext>
            </a:extLst>
          </p:cNvPr>
          <p:cNvSpPr txBox="1"/>
          <p:nvPr/>
        </p:nvSpPr>
        <p:spPr>
          <a:xfrm>
            <a:off x="254000" y="6248400"/>
            <a:ext cx="1168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 b="1">
                <a:solidFill>
                  <a:srgbClr val="0F172A"/>
                </a:solidFill>
              </a:rPr>
              <a:t>Poornima University Finalist (Team ALPHA-X | SIH_1186)   •   Problem Statement: SIH26223   •   Hardware &amp; Edge AI</a:t>
            </a:r>
          </a:p>
        </p:txBody>
      </p:sp>
    </p:spTree>
    <p:extLst>
      <p:ext uri="{BB962C8B-B14F-4D97-AF65-F5344CB8AC3E}">
        <p14:creationId xmlns:p14="http://schemas.microsoft.com/office/powerpoint/2010/main" val="3542036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1285</Words>
  <Application>Microsoft Office PowerPoint</Application>
  <PresentationFormat>Custom</PresentationFormat>
  <Paragraphs>138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nandiastram.1201hs@gmail.com</dc:creator>
  <cp:lastModifiedBy>nandiastram.1201hs@gmail.com</cp:lastModifiedBy>
  <cp:revision>1</cp:revision>
  <dcterms:created xsi:type="dcterms:W3CDTF">2026-09-24T03:57:18Z</dcterms:created>
  <dcterms:modified xsi:type="dcterms:W3CDTF">2026-09-24T03:57:18Z</dcterms:modified>
</cp:coreProperties>
</file>