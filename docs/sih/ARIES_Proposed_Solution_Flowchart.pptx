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67D8-CE68-C9C7-626D-A7C5AD9C4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8743C-6C4B-61BC-D693-B0269C586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EDF87-92A6-0A8E-05FC-7919C10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64804-6929-ED8F-BA33-17557441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47196-BF57-61BE-11D2-690314E2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78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DCAB-C5F5-A839-8E7C-894FD9D2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58411-3FD1-E782-0CFD-4B449E55B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EB077-9235-EE7A-1CDE-CAFC0844F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04B6-4757-0881-4494-2F017EBA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F6D0D-C13C-3DD6-37AB-1652592F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92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AE78-FA74-2CAC-0804-193399DC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A2DE9-4E91-C2A3-9670-3E96114A8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2EF42-CD38-CB9C-4C07-DEDBF9CE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A9E96-6E8B-D951-A86B-6F17099E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EB7BE-C263-A387-1636-C6A2DC380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78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000F-F4D4-BE61-D833-D956B2B1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FDC8-8EFA-0AE6-DC55-2F4F95F64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EAD12-30E0-4C0D-8D01-C9821EEBC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7E4FB-0861-AA35-AFDB-6F963ED4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DB6EA-B7C0-DCE4-0387-AD7EB2B8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4ED8C-D431-C0FB-5E15-CE8DDADA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279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A1171-2544-DDCC-5A45-4CDADC6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EAAFB-777B-4C16-8804-7BE9050D0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89EBE-FE52-8A84-994C-FE8C36203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DF57-C30F-4105-3F1C-9ACB2D2E1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AF4F9-922E-6D8E-8149-E50DAE2C1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A3196-BE35-A337-55C9-810CCF68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FA13F-8E43-D87B-9F91-48FD16B8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12579-3823-B6A1-D4E2-BA41E6E6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6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E762-A1E4-6C26-1A6E-691853FF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10483-FECA-6094-63A2-0920FA8C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832A8-63CA-CD9A-32D8-2423917F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E1232-ED75-3E92-8E5C-0FB8DB2D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06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DD54A-B482-573A-8718-7FF9E9E05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15A32-BDAE-F679-3119-70DAD6113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5EA3E-7F0F-1C86-962A-D993DD93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0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E93D-69DC-6879-BD4B-617FA7E4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92A0-F2C4-6816-05B6-7E4A679EC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DB5B2-FF9F-8780-0FE5-8C88B9165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A6DA1-4A34-5252-90C8-D404C33A2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90A14-90B2-893C-DFB3-648F82AD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62039-919C-9E6D-87E9-3D166E89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77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CF16-2435-904A-23CC-C64C92CB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79659-7CF6-8FC2-3280-50422FF45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F5923-45F5-D064-5D58-B58FA0F4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75509-2D30-1702-574E-90E538FB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E409E-6240-2443-69D3-3D6882A8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F2FCD-3C5C-0244-2DC5-57661AF9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54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90277-36B0-1A16-0A4A-DF5D86FF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EA969-1B12-900A-C549-7A0E74DF6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EDA7D-403B-519B-09B4-FD9B48461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D2F9D-5B31-1CBE-5622-630D112E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B5F31-46A7-A734-431D-2CF14B40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978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92B4A3-F0D8-B7FB-AD3D-936525738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68C0D-B4C1-4A49-F704-E506F4221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A9CBF-B5F3-6F6F-01C3-C33CA80F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51A1-DDE4-6421-96FC-7CE9F4961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41F0A-E3F9-FB36-989C-4123B9FD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79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B67CD-8DFA-1F83-61D2-8F6C1E0F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89BD8-9D9C-9D76-00DC-BA7C095D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0DD4-8D5D-A2DF-5A71-31F5C1570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DC49E-B17E-4C6D-B9FF-8AD6CD64965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98605-592F-3B03-ECDF-DE6879FC2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9C3A0-E76D-384C-61B5-2AB7C1765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DBF53-AF81-4592-88CD-64D6A5830C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92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D7AD6D-ED92-6029-5D59-0429F6A8A4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D6919A-A70C-0D61-803F-827545715E52}"/>
              </a:ext>
            </a:extLst>
          </p:cNvPr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F15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42A32D-2F1A-C76B-A020-53F04A4E0F0E}"/>
              </a:ext>
            </a:extLst>
          </p:cNvPr>
          <p:cNvSpPr/>
          <p:nvPr/>
        </p:nvSpPr>
        <p:spPr>
          <a:xfrm>
            <a:off x="254000" y="101600"/>
            <a:ext cx="1397000" cy="406400"/>
          </a:xfrm>
          <a:prstGeom prst="roundRect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</a:rPr>
              <a:t>ALPHA-X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56195-8C6A-0270-F7F3-713333B62AE6}"/>
              </a:ext>
            </a:extLst>
          </p:cNvPr>
          <p:cNvSpPr txBox="1"/>
          <p:nvPr/>
        </p:nvSpPr>
        <p:spPr>
          <a:xfrm>
            <a:off x="1778000" y="101600"/>
            <a:ext cx="685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B300"/>
                </a:solidFill>
              </a:rPr>
              <a:t>ARIES RESCUE &amp; EXPLORATION OPERATIONAL FLOWCHART</a:t>
            </a:r>
            <a:endParaRPr lang="en-IN" sz="1400" b="1">
              <a:solidFill>
                <a:srgbClr val="FFB3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CD1330-2034-2579-1A19-82546A382473}"/>
              </a:ext>
            </a:extLst>
          </p:cNvPr>
          <p:cNvSpPr/>
          <p:nvPr/>
        </p:nvSpPr>
        <p:spPr>
          <a:xfrm>
            <a:off x="8763000" y="101600"/>
            <a:ext cx="3175000" cy="406400"/>
          </a:xfrm>
          <a:prstGeom prst="roundRect">
            <a:avLst/>
          </a:prstGeom>
          <a:solidFill>
            <a:srgbClr val="192335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rgbClr val="FFFFFF"/>
                </a:solidFill>
              </a:rPr>
              <a:t>SIH26223 | PROPOSED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6D480-CF57-2215-B751-415495BEE930}"/>
              </a:ext>
            </a:extLst>
          </p:cNvPr>
          <p:cNvSpPr txBox="1"/>
          <p:nvPr/>
        </p:nvSpPr>
        <p:spPr>
          <a:xfrm>
            <a:off x="254000" y="660400"/>
            <a:ext cx="6350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50" b="1">
                <a:solidFill>
                  <a:srgbClr val="00E5FF"/>
                </a:solidFill>
              </a:rPr>
              <a:t>LAYER 1: HAZARD INGRESS &amp; MULTI-MODAL RECONNAISSANCE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1E304B-4A40-B8B4-B01E-02157C9695F2}"/>
              </a:ext>
            </a:extLst>
          </p:cNvPr>
          <p:cNvSpPr/>
          <p:nvPr/>
        </p:nvSpPr>
        <p:spPr>
          <a:xfrm>
            <a:off x="254000" y="91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28CAFB-CF23-F21F-870F-A6653502CB04}"/>
              </a:ext>
            </a:extLst>
          </p:cNvPr>
          <p:cNvSpPr/>
          <p:nvPr/>
        </p:nvSpPr>
        <p:spPr>
          <a:xfrm>
            <a:off x="381000" y="990600"/>
            <a:ext cx="8636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STEP 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280370-D88E-DE8F-3F45-1DE74D001C3F}"/>
              </a:ext>
            </a:extLst>
          </p:cNvPr>
          <p:cNvSpPr txBox="1"/>
          <p:nvPr/>
        </p:nvSpPr>
        <p:spPr>
          <a:xfrm>
            <a:off x="355600" y="129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🚨 Hazard Ingress &amp; First-In Recon</a:t>
            </a:r>
          </a:p>
          <a:p>
            <a:r>
              <a:rPr lang="en-US" sz="950">
                <a:solidFill>
                  <a:srgbClr val="D4E0ED"/>
                </a:solidFill>
              </a:rPr>
              <a:t>• First-In scout into rubble, mines, chemical fires.</a:t>
            </a:r>
          </a:p>
          <a:p>
            <a:r>
              <a:rPr lang="en-US" sz="950">
                <a:solidFill>
                  <a:srgbClr val="D4E0ED"/>
                </a:solidFill>
              </a:rPr>
              <a:t>• 4WD all-terrain drive with anti-fall IR radars.</a:t>
            </a:r>
          </a:p>
          <a:p>
            <a:r>
              <a:rPr lang="en-US" sz="950">
                <a:solidFill>
                  <a:srgbClr val="D4E0ED"/>
                </a:solidFill>
              </a:rPr>
              <a:t>• Zero-Human-Risk entry during the Golden Hour.</a:t>
            </a:r>
            <a:endParaRPr lang="en-IN" sz="950">
              <a:solidFill>
                <a:srgbClr val="D4E0ED"/>
              </a:solidFill>
            </a:endParaRP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53B00461-856C-61BB-985D-858B16702067}"/>
              </a:ext>
            </a:extLst>
          </p:cNvPr>
          <p:cNvSpPr/>
          <p:nvPr/>
        </p:nvSpPr>
        <p:spPr>
          <a:xfrm>
            <a:off x="3949700" y="1905000"/>
            <a:ext cx="254000" cy="190500"/>
          </a:xfrm>
          <a:prstGeom prst="can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2BFFFD-CA93-6CD4-410A-E07B7D9939C9}"/>
              </a:ext>
            </a:extLst>
          </p:cNvPr>
          <p:cNvSpPr/>
          <p:nvPr/>
        </p:nvSpPr>
        <p:spPr>
          <a:xfrm>
            <a:off x="4267200" y="91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3ACE82-B8CE-BE36-5279-0498188FFFC5}"/>
              </a:ext>
            </a:extLst>
          </p:cNvPr>
          <p:cNvSpPr/>
          <p:nvPr/>
        </p:nvSpPr>
        <p:spPr>
          <a:xfrm>
            <a:off x="4394200" y="990600"/>
            <a:ext cx="8636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STEP 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B9EB6A-CDA9-B26C-259B-9D524BFDC7A0}"/>
              </a:ext>
            </a:extLst>
          </p:cNvPr>
          <p:cNvSpPr txBox="1"/>
          <p:nvPr/>
        </p:nvSpPr>
        <p:spPr>
          <a:xfrm>
            <a:off x="4368800" y="129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🔍 Multi-Modal Threat Scanning</a:t>
            </a:r>
          </a:p>
          <a:p>
            <a:r>
              <a:rPr lang="en-IN" sz="950">
                <a:solidFill>
                  <a:srgbClr val="D4E0ED"/>
                </a:solidFill>
              </a:rPr>
              <a:t>• MQ-135: Toxic gas (CO, Smoke, Methane) mapping.</a:t>
            </a:r>
          </a:p>
          <a:p>
            <a:r>
              <a:rPr lang="en-IN" sz="950">
                <a:solidFill>
                  <a:srgbClr val="D4E0ED"/>
                </a:solidFill>
              </a:rPr>
              <a:t>• DHT11 + BMP280: Micro-climate &amp; barometric depth.</a:t>
            </a:r>
          </a:p>
          <a:p>
            <a:r>
              <a:rPr lang="en-IN" sz="950">
                <a:solidFill>
                  <a:srgbClr val="D4E0ED"/>
                </a:solidFill>
              </a:rPr>
              <a:t>• FLIR Thermal Core: Sees through zero-visibility smoke.</a:t>
            </a:r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5213544A-A45F-D6D8-AE3F-FE383C54AA87}"/>
              </a:ext>
            </a:extLst>
          </p:cNvPr>
          <p:cNvSpPr/>
          <p:nvPr/>
        </p:nvSpPr>
        <p:spPr>
          <a:xfrm>
            <a:off x="7962900" y="1905000"/>
            <a:ext cx="254000" cy="190500"/>
          </a:xfrm>
          <a:prstGeom prst="can">
            <a:avLst/>
          </a:prstGeom>
          <a:solidFill>
            <a:srgbClr val="FF57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BB346F-44B4-1037-C893-8B5D1360F8D2}"/>
              </a:ext>
            </a:extLst>
          </p:cNvPr>
          <p:cNvSpPr/>
          <p:nvPr/>
        </p:nvSpPr>
        <p:spPr>
          <a:xfrm>
            <a:off x="8280400" y="91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BAC76C-C133-8DE2-AF67-4D25F6C7BF62}"/>
              </a:ext>
            </a:extLst>
          </p:cNvPr>
          <p:cNvSpPr/>
          <p:nvPr/>
        </p:nvSpPr>
        <p:spPr>
          <a:xfrm>
            <a:off x="8407400" y="990600"/>
            <a:ext cx="8636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STEP 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F16E27-B5E0-F1F8-7435-28598FDBAAE8}"/>
              </a:ext>
            </a:extLst>
          </p:cNvPr>
          <p:cNvSpPr txBox="1"/>
          <p:nvPr/>
        </p:nvSpPr>
        <p:spPr>
          <a:xfrm>
            <a:off x="8382000" y="129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💓 Survivor Vitals &amp; Heat Localization</a:t>
            </a:r>
          </a:p>
          <a:p>
            <a:r>
              <a:rPr lang="en-IN" sz="950">
                <a:solidFill>
                  <a:srgbClr val="D4E0ED"/>
                </a:solidFill>
              </a:rPr>
              <a:t>• 37°C body-heat spotting in trapped void spaces.</a:t>
            </a:r>
          </a:p>
          <a:p>
            <a:r>
              <a:rPr lang="en-IN" sz="950">
                <a:solidFill>
                  <a:srgbClr val="D4E0ED"/>
                </a:solidFill>
              </a:rPr>
              <a:t>• MAX30102 Vitals: Heartbeat (BPM) &amp; SpO2 proximity.</a:t>
            </a:r>
          </a:p>
          <a:p>
            <a:r>
              <a:rPr lang="en-IN" sz="950">
                <a:solidFill>
                  <a:srgbClr val="D4E0ED"/>
                </a:solidFill>
              </a:rPr>
              <a:t>• Thermal-Gas Fusion: Assesses survivor surroundings.</a:t>
            </a: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8110870A-3221-2194-78F0-98B0E604B1A4}"/>
              </a:ext>
            </a:extLst>
          </p:cNvPr>
          <p:cNvSpPr/>
          <p:nvPr/>
        </p:nvSpPr>
        <p:spPr>
          <a:xfrm rot="5400000">
            <a:off x="10058400" y="3149600"/>
            <a:ext cx="190500" cy="254000"/>
          </a:xfrm>
          <a:prstGeom prst="can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5F9B95-A3A7-7683-E7FB-0957428243E2}"/>
              </a:ext>
            </a:extLst>
          </p:cNvPr>
          <p:cNvSpPr txBox="1"/>
          <p:nvPr/>
        </p:nvSpPr>
        <p:spPr>
          <a:xfrm>
            <a:off x="254000" y="3200400"/>
            <a:ext cx="6350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50" b="1">
                <a:solidFill>
                  <a:srgbClr val="00E5FF"/>
                </a:solidFill>
              </a:rPr>
              <a:t>LAYER 2: EDGE INTELLIGENCE, RESILIENT COMMS &amp; NDRF RESCUE</a:t>
            </a:r>
            <a:endParaRPr lang="en-IN" sz="950" b="1">
              <a:solidFill>
                <a:srgbClr val="00E5FF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C07F10-13B5-0042-8400-B10837778543}"/>
              </a:ext>
            </a:extLst>
          </p:cNvPr>
          <p:cNvSpPr/>
          <p:nvPr/>
        </p:nvSpPr>
        <p:spPr>
          <a:xfrm>
            <a:off x="254000" y="345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4EC3C7E-68BC-39F3-B40A-DAD70487CE62}"/>
              </a:ext>
            </a:extLst>
          </p:cNvPr>
          <p:cNvSpPr/>
          <p:nvPr/>
        </p:nvSpPr>
        <p:spPr>
          <a:xfrm>
            <a:off x="381000" y="3530600"/>
            <a:ext cx="8636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STEP 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B36A73-440F-D5DC-6BE0-E328907C9230}"/>
              </a:ext>
            </a:extLst>
          </p:cNvPr>
          <p:cNvSpPr txBox="1"/>
          <p:nvPr/>
        </p:nvSpPr>
        <p:spPr>
          <a:xfrm>
            <a:off x="355600" y="383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🎯 NDRF Triage &amp; Extraction</a:t>
            </a:r>
          </a:p>
          <a:p>
            <a:r>
              <a:rPr lang="en-US" sz="950">
                <a:solidFill>
                  <a:srgbClr val="D4E0ED"/>
                </a:solidFill>
              </a:rPr>
              <a:t>• Mission Hub 3D map &amp; live telemetry overlay.</a:t>
            </a:r>
          </a:p>
          <a:p>
            <a:r>
              <a:rPr lang="en-US" sz="950">
                <a:solidFill>
                  <a:srgbClr val="D4E0ED"/>
                </a:solidFill>
              </a:rPr>
              <a:t>• Targeted extrication team dispatched directly.</a:t>
            </a:r>
          </a:p>
          <a:p>
            <a:r>
              <a:rPr lang="en-US" sz="950">
                <a:solidFill>
                  <a:srgbClr val="D4E0ED"/>
                </a:solidFill>
              </a:rPr>
              <a:t>• Saves responders, prevents secondary casualties.</a:t>
            </a:r>
            <a:endParaRPr lang="en-IN" sz="950">
              <a:solidFill>
                <a:srgbClr val="D4E0ED"/>
              </a:solidFill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836AA10F-C4FE-61C6-D413-DE2A386BF5AC}"/>
              </a:ext>
            </a:extLst>
          </p:cNvPr>
          <p:cNvSpPr/>
          <p:nvPr/>
        </p:nvSpPr>
        <p:spPr>
          <a:xfrm rot="10800000">
            <a:off x="3949700" y="4445000"/>
            <a:ext cx="254000" cy="190500"/>
          </a:xfrm>
          <a:prstGeom prst="can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B2AD79C-323B-D0CE-09EB-A4EDD9CC7327}"/>
              </a:ext>
            </a:extLst>
          </p:cNvPr>
          <p:cNvSpPr/>
          <p:nvPr/>
        </p:nvSpPr>
        <p:spPr>
          <a:xfrm>
            <a:off x="4267200" y="345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019B941-7C0F-116F-07AF-5DC56A61D6FB}"/>
              </a:ext>
            </a:extLst>
          </p:cNvPr>
          <p:cNvSpPr/>
          <p:nvPr/>
        </p:nvSpPr>
        <p:spPr>
          <a:xfrm>
            <a:off x="4394200" y="3530600"/>
            <a:ext cx="8636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218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STEP 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AAE937-60EE-D759-8B36-4245E566BC3B}"/>
              </a:ext>
            </a:extLst>
          </p:cNvPr>
          <p:cNvSpPr txBox="1"/>
          <p:nvPr/>
        </p:nvSpPr>
        <p:spPr>
          <a:xfrm>
            <a:off x="4368800" y="383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📡 5 km Deep-Rubble LoRa Mesh</a:t>
            </a:r>
          </a:p>
          <a:p>
            <a:r>
              <a:rPr lang="en-IN" sz="950">
                <a:solidFill>
                  <a:srgbClr val="D4E0ED"/>
                </a:solidFill>
              </a:rPr>
              <a:t>• 868/915 MHz penetrates concrete where Wi-Fi fails.</a:t>
            </a:r>
          </a:p>
          <a:p>
            <a:r>
              <a:rPr lang="en-IN" sz="950">
                <a:solidFill>
                  <a:srgbClr val="D4E0ED"/>
                </a:solidFill>
              </a:rPr>
              <a:t>• Local Wi-Fi / Bluetooth for low-latency tele-op.</a:t>
            </a:r>
          </a:p>
          <a:p>
            <a:r>
              <a:rPr lang="en-IN" sz="950">
                <a:solidFill>
                  <a:srgbClr val="D4E0ED"/>
                </a:solidFill>
              </a:rPr>
              <a:t>• SIM800L GSM Fallback: Automated SMS SOS beacon.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FA00B23D-FC87-BB6E-333E-67521AFD1FC1}"/>
              </a:ext>
            </a:extLst>
          </p:cNvPr>
          <p:cNvSpPr/>
          <p:nvPr/>
        </p:nvSpPr>
        <p:spPr>
          <a:xfrm rot="10800000">
            <a:off x="7962900" y="4445000"/>
            <a:ext cx="254000" cy="190500"/>
          </a:xfrm>
          <a:prstGeom prst="can">
            <a:avLst/>
          </a:prstGeom>
          <a:solidFill>
            <a:srgbClr val="00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AA15C6-8292-49B4-8348-A2FA93382B3F}"/>
              </a:ext>
            </a:extLst>
          </p:cNvPr>
          <p:cNvSpPr/>
          <p:nvPr/>
        </p:nvSpPr>
        <p:spPr>
          <a:xfrm>
            <a:off x="8280400" y="3454400"/>
            <a:ext cx="3632200" cy="2184400"/>
          </a:xfrm>
          <a:prstGeom prst="roundRect">
            <a:avLst/>
          </a:prstGeom>
          <a:solidFill>
            <a:srgbClr val="141D2A"/>
          </a:solidFill>
          <a:ln w="1905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6634672-093C-A83A-0055-D50F1F3F01FD}"/>
              </a:ext>
            </a:extLst>
          </p:cNvPr>
          <p:cNvSpPr/>
          <p:nvPr/>
        </p:nvSpPr>
        <p:spPr>
          <a:xfrm>
            <a:off x="8407400" y="3530600"/>
            <a:ext cx="863600" cy="254000"/>
          </a:xfrm>
          <a:prstGeom prst="roundRect">
            <a:avLst/>
          </a:prstGeom>
          <a:solidFill>
            <a:srgbClr val="0F1520"/>
          </a:solidFill>
          <a:ln w="12700"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FFB300"/>
                </a:solidFill>
              </a:rPr>
              <a:t>STEP 04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9FEA86-2DF2-D180-D946-8C63594313C2}"/>
              </a:ext>
            </a:extLst>
          </p:cNvPr>
          <p:cNvSpPr txBox="1"/>
          <p:nvPr/>
        </p:nvSpPr>
        <p:spPr>
          <a:xfrm>
            <a:off x="8382000" y="3835400"/>
            <a:ext cx="3429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>
                <a:solidFill>
                  <a:srgbClr val="FFFFFF"/>
                </a:solidFill>
              </a:rPr>
              <a:t>🧠 Human-in-the-Loop AI Verification</a:t>
            </a:r>
          </a:p>
          <a:p>
            <a:r>
              <a:rPr lang="en-IN" sz="950">
                <a:solidFill>
                  <a:srgbClr val="D4E0ED"/>
                </a:solidFill>
              </a:rPr>
              <a:t>• Edge AI model flags survivor with confidence score.</a:t>
            </a:r>
          </a:p>
          <a:p>
            <a:r>
              <a:rPr lang="en-IN" sz="950">
                <a:solidFill>
                  <a:srgbClr val="D4E0ED"/>
                </a:solidFill>
              </a:rPr>
              <a:t>• Incident Commander visual confirmation via HUD.</a:t>
            </a:r>
          </a:p>
          <a:p>
            <a:r>
              <a:rPr lang="en-IN" sz="950">
                <a:solidFill>
                  <a:srgbClr val="D4E0ED"/>
                </a:solidFill>
              </a:rPr>
              <a:t>• Zero False-Alarm Guarantee before SOS dispatch.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7269EC7-5F96-7D21-AFBE-01DA1756F23F}"/>
              </a:ext>
            </a:extLst>
          </p:cNvPr>
          <p:cNvSpPr/>
          <p:nvPr/>
        </p:nvSpPr>
        <p:spPr>
          <a:xfrm>
            <a:off x="254000" y="5765800"/>
            <a:ext cx="11684000" cy="965200"/>
          </a:xfrm>
          <a:prstGeom prst="roundRect">
            <a:avLst/>
          </a:prstGeom>
          <a:solidFill>
            <a:srgbClr val="0F1520"/>
          </a:solidFill>
          <a:ln w="19050">
            <a:solidFill>
              <a:srgbClr val="FF57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F9BA19-9EEA-A99C-5246-C6955376C71E}"/>
              </a:ext>
            </a:extLst>
          </p:cNvPr>
          <p:cNvSpPr txBox="1"/>
          <p:nvPr/>
        </p:nvSpPr>
        <p:spPr>
          <a:xfrm>
            <a:off x="381000" y="5791200"/>
            <a:ext cx="11430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50" b="1">
                <a:solidFill>
                  <a:srgbClr val="FFB300"/>
                </a:solidFill>
              </a:rPr>
              <a:t>CORE INNOVATIONS &amp; COMPETITIVE ADVANTAGES (PS: SIH26223):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F45D82D-FCAD-C6EF-07FC-076D34EA62DD}"/>
              </a:ext>
            </a:extLst>
          </p:cNvPr>
          <p:cNvSpPr/>
          <p:nvPr/>
        </p:nvSpPr>
        <p:spPr>
          <a:xfrm>
            <a:off x="3810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00E5FF"/>
                </a:solidFill>
              </a:rPr>
              <a:t>🛡️ Zero-Human-Risk</a:t>
            </a:r>
          </a:p>
          <a:p>
            <a:pPr algn="ctr"/>
            <a:r>
              <a:rPr lang="en-US" sz="800">
                <a:solidFill>
                  <a:srgbClr val="D4E0ED"/>
                </a:solidFill>
              </a:rPr>
              <a:t>Pioneering first-look scout in Golden Hour</a:t>
            </a:r>
            <a:endParaRPr lang="en-IN" sz="800">
              <a:solidFill>
                <a:srgbClr val="D4E0ED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6BA44D6-74CB-026A-96DC-AB7C2429FA2B}"/>
              </a:ext>
            </a:extLst>
          </p:cNvPr>
          <p:cNvSpPr/>
          <p:nvPr/>
        </p:nvSpPr>
        <p:spPr>
          <a:xfrm>
            <a:off x="32766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00E5FF"/>
                </a:solidFill>
              </a:rPr>
              <a:t>🔥 Thermal-Gas Fusion</a:t>
            </a:r>
          </a:p>
          <a:p>
            <a:pPr algn="ctr"/>
            <a:r>
              <a:rPr lang="en-US" sz="800">
                <a:solidFill>
                  <a:srgbClr val="D4E0ED"/>
                </a:solidFill>
              </a:rPr>
              <a:t>Concurrent toxic PPM + survivor heat mapping</a:t>
            </a:r>
            <a:endParaRPr lang="en-IN" sz="800">
              <a:solidFill>
                <a:srgbClr val="D4E0ED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3F46C01-0EC3-FF9E-40AF-5B832B425294}"/>
              </a:ext>
            </a:extLst>
          </p:cNvPr>
          <p:cNvSpPr/>
          <p:nvPr/>
        </p:nvSpPr>
        <p:spPr>
          <a:xfrm>
            <a:off x="61722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00E5FF"/>
                </a:solidFill>
              </a:rPr>
              <a:t>💓 MAX30102 Vitals (BPM+SpO2)</a:t>
            </a:r>
          </a:p>
          <a:p>
            <a:pPr algn="ctr"/>
            <a:r>
              <a:rPr lang="en-US" sz="800">
                <a:solidFill>
                  <a:srgbClr val="D4E0ED"/>
                </a:solidFill>
              </a:rPr>
              <a:t>World-first non-contact survivor life signs</a:t>
            </a:r>
            <a:endParaRPr lang="en-IN" sz="800">
              <a:solidFill>
                <a:srgbClr val="D4E0ED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89E2DA6-4A37-AA4C-CBF1-3F4454AE64D7}"/>
              </a:ext>
            </a:extLst>
          </p:cNvPr>
          <p:cNvSpPr/>
          <p:nvPr/>
        </p:nvSpPr>
        <p:spPr>
          <a:xfrm>
            <a:off x="9067800" y="6070600"/>
            <a:ext cx="2692400" cy="55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0" b="1">
                <a:solidFill>
                  <a:srgbClr val="00E5FF"/>
                </a:solidFill>
              </a:rPr>
              <a:t>💰 10x Cost Disruption</a:t>
            </a:r>
          </a:p>
          <a:p>
            <a:pPr algn="ctr"/>
            <a:r>
              <a:rPr lang="en-US" sz="800">
                <a:solidFill>
                  <a:srgbClr val="D4E0ED"/>
                </a:solidFill>
              </a:rPr>
              <a:t>Military recon under ₹50,000 vs ₹25 Lakhs</a:t>
            </a:r>
            <a:endParaRPr lang="en-IN" sz="800">
              <a:solidFill>
                <a:srgbClr val="D4E0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07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nandiastram.1201hs@gmail.com</dc:creator>
  <cp:lastModifiedBy>nandiastram.1201hs@gmail.com</cp:lastModifiedBy>
  <cp:revision>1</cp:revision>
  <dcterms:created xsi:type="dcterms:W3CDTF">2026-09-18T09:57:26Z</dcterms:created>
  <dcterms:modified xsi:type="dcterms:W3CDTF">2026-09-18T09:57:26Z</dcterms:modified>
</cp:coreProperties>
</file>